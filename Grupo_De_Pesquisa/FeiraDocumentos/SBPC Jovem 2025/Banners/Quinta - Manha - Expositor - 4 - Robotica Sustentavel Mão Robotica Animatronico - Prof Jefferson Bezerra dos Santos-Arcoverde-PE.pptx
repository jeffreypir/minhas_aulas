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9080163" cy="34199513"/>
  <p:notesSz cx="6858000" cy="9144000"/>
  <p:embeddedFontLst>
    <p:embeddedFont>
      <p:font typeface="Oswald" panose="020B0604020202020204" charset="0"/>
      <p:regular r:id="rId3"/>
      <p:bold r:id="rId4"/>
    </p:embeddedFont>
    <p:embeddedFont>
      <p:font typeface="Oswald Bold" panose="020B0604020202020204" charset="0"/>
      <p:regular r:id="rId5"/>
      <p:bold r:id="rId6"/>
    </p:embeddedFont>
    <p:embeddedFont>
      <p:font typeface="Calibri" panose="020F0502020204030204" pitchFamily="34" charset="0"/>
      <p:regular r:id="rId7"/>
      <p:bold r:id="rId8"/>
      <p:italic r:id="rId9"/>
      <p:boldItalic r:id="rId10"/>
    </p:embeddedFont>
  </p:embeddedFontLst>
  <p:defaultTextStyle>
    <a:defPPr>
      <a:defRPr lang="en-US"/>
    </a:defPPr>
    <a:lvl1pPr marL="0" algn="l" defTabSz="716067" rtl="0" eaLnBrk="1" latinLnBrk="0" hangingPunct="1">
      <a:defRPr sz="1410" kern="1200">
        <a:solidFill>
          <a:schemeClr val="tx1"/>
        </a:solidFill>
        <a:latin typeface="+mn-lt"/>
        <a:ea typeface="+mn-ea"/>
        <a:cs typeface="+mn-cs"/>
      </a:defRPr>
    </a:lvl1pPr>
    <a:lvl2pPr marL="358033" algn="l" defTabSz="716067" rtl="0" eaLnBrk="1" latinLnBrk="0" hangingPunct="1">
      <a:defRPr sz="1410" kern="1200">
        <a:solidFill>
          <a:schemeClr val="tx1"/>
        </a:solidFill>
        <a:latin typeface="+mn-lt"/>
        <a:ea typeface="+mn-ea"/>
        <a:cs typeface="+mn-cs"/>
      </a:defRPr>
    </a:lvl2pPr>
    <a:lvl3pPr marL="716067" algn="l" defTabSz="716067" rtl="0" eaLnBrk="1" latinLnBrk="0" hangingPunct="1">
      <a:defRPr sz="1410" kern="1200">
        <a:solidFill>
          <a:schemeClr val="tx1"/>
        </a:solidFill>
        <a:latin typeface="+mn-lt"/>
        <a:ea typeface="+mn-ea"/>
        <a:cs typeface="+mn-cs"/>
      </a:defRPr>
    </a:lvl3pPr>
    <a:lvl4pPr marL="1074100" algn="l" defTabSz="716067" rtl="0" eaLnBrk="1" latinLnBrk="0" hangingPunct="1">
      <a:defRPr sz="1410" kern="1200">
        <a:solidFill>
          <a:schemeClr val="tx1"/>
        </a:solidFill>
        <a:latin typeface="+mn-lt"/>
        <a:ea typeface="+mn-ea"/>
        <a:cs typeface="+mn-cs"/>
      </a:defRPr>
    </a:lvl4pPr>
    <a:lvl5pPr marL="1432133" algn="l" defTabSz="716067" rtl="0" eaLnBrk="1" latinLnBrk="0" hangingPunct="1">
      <a:defRPr sz="1410" kern="1200">
        <a:solidFill>
          <a:schemeClr val="tx1"/>
        </a:solidFill>
        <a:latin typeface="+mn-lt"/>
        <a:ea typeface="+mn-ea"/>
        <a:cs typeface="+mn-cs"/>
      </a:defRPr>
    </a:lvl5pPr>
    <a:lvl6pPr marL="1790167" algn="l" defTabSz="716067" rtl="0" eaLnBrk="1" latinLnBrk="0" hangingPunct="1">
      <a:defRPr sz="1410" kern="1200">
        <a:solidFill>
          <a:schemeClr val="tx1"/>
        </a:solidFill>
        <a:latin typeface="+mn-lt"/>
        <a:ea typeface="+mn-ea"/>
        <a:cs typeface="+mn-cs"/>
      </a:defRPr>
    </a:lvl6pPr>
    <a:lvl7pPr marL="2148200" algn="l" defTabSz="716067" rtl="0" eaLnBrk="1" latinLnBrk="0" hangingPunct="1">
      <a:defRPr sz="1410" kern="1200">
        <a:solidFill>
          <a:schemeClr val="tx1"/>
        </a:solidFill>
        <a:latin typeface="+mn-lt"/>
        <a:ea typeface="+mn-ea"/>
        <a:cs typeface="+mn-cs"/>
      </a:defRPr>
    </a:lvl7pPr>
    <a:lvl8pPr marL="2506233" algn="l" defTabSz="716067" rtl="0" eaLnBrk="1" latinLnBrk="0" hangingPunct="1">
      <a:defRPr sz="1410" kern="1200">
        <a:solidFill>
          <a:schemeClr val="tx1"/>
        </a:solidFill>
        <a:latin typeface="+mn-lt"/>
        <a:ea typeface="+mn-ea"/>
        <a:cs typeface="+mn-cs"/>
      </a:defRPr>
    </a:lvl8pPr>
    <a:lvl9pPr marL="2864267" algn="l" defTabSz="716067" rtl="0" eaLnBrk="1" latinLnBrk="0" hangingPunct="1">
      <a:defRPr sz="141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6" userDrawn="1">
          <p15:clr>
            <a:srgbClr val="A4A3A4"/>
          </p15:clr>
        </p15:guide>
        <p15:guide id="2" pos="24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 autoAdjust="0"/>
    <p:restoredTop sz="94607" autoAdjust="0"/>
  </p:normalViewPr>
  <p:slideViewPr>
    <p:cSldViewPr>
      <p:cViewPr>
        <p:scale>
          <a:sx n="36" d="100"/>
          <a:sy n="36" d="100"/>
        </p:scale>
        <p:origin x="984" y="-1544"/>
      </p:cViewPr>
      <p:guideLst>
        <p:guide orient="horz" pos="1616"/>
        <p:guide pos="24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presProps" Target="presProps.xml"/><Relationship Id="rId5" Type="http://schemas.openxmlformats.org/officeDocument/2006/relationships/font" Target="fonts/font3.fntdata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414" y="1593603"/>
            <a:ext cx="6646021" cy="109960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2827" y="2906959"/>
            <a:ext cx="5473194" cy="131098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19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39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59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679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099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1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38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358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635" y="3296454"/>
            <a:ext cx="6646021" cy="1018860"/>
          </a:xfrm>
        </p:spPr>
        <p:txBody>
          <a:bodyPr anchor="t"/>
          <a:lstStyle>
            <a:lvl1pPr algn="l">
              <a:defRPr sz="2992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635" y="2174282"/>
            <a:ext cx="6646021" cy="1122171"/>
          </a:xfrm>
        </p:spPr>
        <p:txBody>
          <a:bodyPr anchor="b"/>
          <a:lstStyle>
            <a:lvl1pPr marL="0" indent="0">
              <a:buNone/>
              <a:defRPr sz="1496">
                <a:solidFill>
                  <a:schemeClr val="tx1">
                    <a:tint val="75000"/>
                  </a:schemeClr>
                </a:solidFill>
              </a:defRPr>
            </a:lvl1pPr>
            <a:lvl2pPr marL="341986" indent="0">
              <a:buNone/>
              <a:defRPr sz="1346">
                <a:solidFill>
                  <a:schemeClr val="tx1">
                    <a:tint val="75000"/>
                  </a:schemeClr>
                </a:solidFill>
              </a:defRPr>
            </a:lvl2pPr>
            <a:lvl3pPr marL="683971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3pPr>
            <a:lvl4pPr marL="1025957" indent="0">
              <a:buNone/>
              <a:defRPr sz="1047">
                <a:solidFill>
                  <a:schemeClr val="tx1">
                    <a:tint val="75000"/>
                  </a:schemeClr>
                </a:solidFill>
              </a:defRPr>
            </a:lvl4pPr>
            <a:lvl5pPr marL="1367942" indent="0">
              <a:buNone/>
              <a:defRPr sz="1047">
                <a:solidFill>
                  <a:schemeClr val="tx1">
                    <a:tint val="75000"/>
                  </a:schemeClr>
                </a:solidFill>
              </a:defRPr>
            </a:lvl5pPr>
            <a:lvl6pPr marL="1709928" indent="0">
              <a:buNone/>
              <a:defRPr sz="1047">
                <a:solidFill>
                  <a:schemeClr val="tx1">
                    <a:tint val="75000"/>
                  </a:schemeClr>
                </a:solidFill>
              </a:defRPr>
            </a:lvl6pPr>
            <a:lvl7pPr marL="2051914" indent="0">
              <a:buNone/>
              <a:defRPr sz="1047">
                <a:solidFill>
                  <a:schemeClr val="tx1">
                    <a:tint val="75000"/>
                  </a:schemeClr>
                </a:solidFill>
              </a:defRPr>
            </a:lvl7pPr>
            <a:lvl8pPr marL="2393899" indent="0">
              <a:buNone/>
              <a:defRPr sz="1047">
                <a:solidFill>
                  <a:schemeClr val="tx1">
                    <a:tint val="75000"/>
                  </a:schemeClr>
                </a:solidFill>
              </a:defRPr>
            </a:lvl8pPr>
            <a:lvl9pPr marL="2735885" indent="0">
              <a:buNone/>
              <a:defRPr sz="104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0942" y="1196983"/>
            <a:ext cx="3453325" cy="3385515"/>
          </a:xfrm>
        </p:spPr>
        <p:txBody>
          <a:bodyPr/>
          <a:lstStyle>
            <a:lvl1pPr>
              <a:defRPr sz="2094"/>
            </a:lvl1pPr>
            <a:lvl2pPr>
              <a:defRPr sz="1795"/>
            </a:lvl2pPr>
            <a:lvl3pPr>
              <a:defRPr sz="1496"/>
            </a:lvl3pPr>
            <a:lvl4pPr>
              <a:defRPr sz="1346"/>
            </a:lvl4pPr>
            <a:lvl5pPr>
              <a:defRPr sz="1346"/>
            </a:lvl5pPr>
            <a:lvl6pPr>
              <a:defRPr sz="1346"/>
            </a:lvl6pPr>
            <a:lvl7pPr>
              <a:defRPr sz="1346"/>
            </a:lvl7pPr>
            <a:lvl8pPr>
              <a:defRPr sz="1346"/>
            </a:lvl8pPr>
            <a:lvl9pPr>
              <a:defRPr sz="134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74581" y="1196983"/>
            <a:ext cx="3453325" cy="3385515"/>
          </a:xfrm>
        </p:spPr>
        <p:txBody>
          <a:bodyPr/>
          <a:lstStyle>
            <a:lvl1pPr>
              <a:defRPr sz="2094"/>
            </a:lvl1pPr>
            <a:lvl2pPr>
              <a:defRPr sz="1795"/>
            </a:lvl2pPr>
            <a:lvl3pPr>
              <a:defRPr sz="1496"/>
            </a:lvl3pPr>
            <a:lvl4pPr>
              <a:defRPr sz="1346"/>
            </a:lvl4pPr>
            <a:lvl5pPr>
              <a:defRPr sz="1346"/>
            </a:lvl5pPr>
            <a:lvl6pPr>
              <a:defRPr sz="1346"/>
            </a:lvl6pPr>
            <a:lvl7pPr>
              <a:defRPr sz="1346"/>
            </a:lvl7pPr>
            <a:lvl8pPr>
              <a:defRPr sz="1346"/>
            </a:lvl8pPr>
            <a:lvl9pPr>
              <a:defRPr sz="134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42" y="1148297"/>
            <a:ext cx="3454683" cy="478555"/>
          </a:xfrm>
        </p:spPr>
        <p:txBody>
          <a:bodyPr anchor="b"/>
          <a:lstStyle>
            <a:lvl1pPr marL="0" indent="0">
              <a:buNone/>
              <a:defRPr sz="1795" b="1"/>
            </a:lvl1pPr>
            <a:lvl2pPr marL="341986" indent="0">
              <a:buNone/>
              <a:defRPr sz="1496" b="1"/>
            </a:lvl2pPr>
            <a:lvl3pPr marL="683971" indent="0">
              <a:buNone/>
              <a:defRPr sz="1346" b="1"/>
            </a:lvl3pPr>
            <a:lvl4pPr marL="1025957" indent="0">
              <a:buNone/>
              <a:defRPr sz="1197" b="1"/>
            </a:lvl4pPr>
            <a:lvl5pPr marL="1367942" indent="0">
              <a:buNone/>
              <a:defRPr sz="1197" b="1"/>
            </a:lvl5pPr>
            <a:lvl6pPr marL="1709928" indent="0">
              <a:buNone/>
              <a:defRPr sz="1197" b="1"/>
            </a:lvl6pPr>
            <a:lvl7pPr marL="2051914" indent="0">
              <a:buNone/>
              <a:defRPr sz="1197" b="1"/>
            </a:lvl7pPr>
            <a:lvl8pPr marL="2393899" indent="0">
              <a:buNone/>
              <a:defRPr sz="1197" b="1"/>
            </a:lvl8pPr>
            <a:lvl9pPr marL="2735885" indent="0">
              <a:buNone/>
              <a:defRPr sz="11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942" y="1626852"/>
            <a:ext cx="3454683" cy="2955646"/>
          </a:xfrm>
        </p:spPr>
        <p:txBody>
          <a:bodyPr/>
          <a:lstStyle>
            <a:lvl1pPr>
              <a:defRPr sz="1795"/>
            </a:lvl1pPr>
            <a:lvl2pPr>
              <a:defRPr sz="1496"/>
            </a:lvl2pPr>
            <a:lvl3pPr>
              <a:defRPr sz="1346"/>
            </a:lvl3pPr>
            <a:lvl4pPr>
              <a:defRPr sz="1197"/>
            </a:lvl4pPr>
            <a:lvl5pPr>
              <a:defRPr sz="1197"/>
            </a:lvl5pPr>
            <a:lvl6pPr>
              <a:defRPr sz="1197"/>
            </a:lvl6pPr>
            <a:lvl7pPr>
              <a:defRPr sz="1197"/>
            </a:lvl7pPr>
            <a:lvl8pPr>
              <a:defRPr sz="1197"/>
            </a:lvl8pPr>
            <a:lvl9pPr>
              <a:defRPr sz="119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71867" y="1148297"/>
            <a:ext cx="3456040" cy="478555"/>
          </a:xfrm>
        </p:spPr>
        <p:txBody>
          <a:bodyPr anchor="b"/>
          <a:lstStyle>
            <a:lvl1pPr marL="0" indent="0">
              <a:buNone/>
              <a:defRPr sz="1795" b="1"/>
            </a:lvl1pPr>
            <a:lvl2pPr marL="341986" indent="0">
              <a:buNone/>
              <a:defRPr sz="1496" b="1"/>
            </a:lvl2pPr>
            <a:lvl3pPr marL="683971" indent="0">
              <a:buNone/>
              <a:defRPr sz="1346" b="1"/>
            </a:lvl3pPr>
            <a:lvl4pPr marL="1025957" indent="0">
              <a:buNone/>
              <a:defRPr sz="1197" b="1"/>
            </a:lvl4pPr>
            <a:lvl5pPr marL="1367942" indent="0">
              <a:buNone/>
              <a:defRPr sz="1197" b="1"/>
            </a:lvl5pPr>
            <a:lvl6pPr marL="1709928" indent="0">
              <a:buNone/>
              <a:defRPr sz="1197" b="1"/>
            </a:lvl6pPr>
            <a:lvl7pPr marL="2051914" indent="0">
              <a:buNone/>
              <a:defRPr sz="1197" b="1"/>
            </a:lvl7pPr>
            <a:lvl8pPr marL="2393899" indent="0">
              <a:buNone/>
              <a:defRPr sz="1197" b="1"/>
            </a:lvl8pPr>
            <a:lvl9pPr marL="2735885" indent="0">
              <a:buNone/>
              <a:defRPr sz="11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71867" y="1626852"/>
            <a:ext cx="3456040" cy="2955646"/>
          </a:xfrm>
        </p:spPr>
        <p:txBody>
          <a:bodyPr/>
          <a:lstStyle>
            <a:lvl1pPr>
              <a:defRPr sz="1795"/>
            </a:lvl1pPr>
            <a:lvl2pPr>
              <a:defRPr sz="1496"/>
            </a:lvl2pPr>
            <a:lvl3pPr>
              <a:defRPr sz="1346"/>
            </a:lvl3pPr>
            <a:lvl4pPr>
              <a:defRPr sz="1197"/>
            </a:lvl4pPr>
            <a:lvl5pPr>
              <a:defRPr sz="1197"/>
            </a:lvl5pPr>
            <a:lvl6pPr>
              <a:defRPr sz="1197"/>
            </a:lvl6pPr>
            <a:lvl7pPr>
              <a:defRPr sz="1197"/>
            </a:lvl7pPr>
            <a:lvl8pPr>
              <a:defRPr sz="1197"/>
            </a:lvl8pPr>
            <a:lvl9pPr>
              <a:defRPr sz="119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43" y="204247"/>
            <a:ext cx="2572347" cy="869238"/>
          </a:xfrm>
        </p:spPr>
        <p:txBody>
          <a:bodyPr anchor="b"/>
          <a:lstStyle>
            <a:lvl1pPr algn="l">
              <a:defRPr sz="149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6953" y="204247"/>
            <a:ext cx="4370954" cy="4378251"/>
          </a:xfrm>
        </p:spPr>
        <p:txBody>
          <a:bodyPr/>
          <a:lstStyle>
            <a:lvl1pPr>
              <a:defRPr sz="2394"/>
            </a:lvl1pPr>
            <a:lvl2pPr>
              <a:defRPr sz="2094"/>
            </a:lvl2pPr>
            <a:lvl3pPr>
              <a:defRPr sz="1795"/>
            </a:lvl3pPr>
            <a:lvl4pPr>
              <a:defRPr sz="1496"/>
            </a:lvl4pPr>
            <a:lvl5pPr>
              <a:defRPr sz="1496"/>
            </a:lvl5pPr>
            <a:lvl6pPr>
              <a:defRPr sz="1496"/>
            </a:lvl6pPr>
            <a:lvl7pPr>
              <a:defRPr sz="1496"/>
            </a:lvl7pPr>
            <a:lvl8pPr>
              <a:defRPr sz="1496"/>
            </a:lvl8pPr>
            <a:lvl9pPr>
              <a:defRPr sz="149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943" y="1073485"/>
            <a:ext cx="2572347" cy="3509013"/>
          </a:xfrm>
        </p:spPr>
        <p:txBody>
          <a:bodyPr/>
          <a:lstStyle>
            <a:lvl1pPr marL="0" indent="0">
              <a:buNone/>
              <a:defRPr sz="1047"/>
            </a:lvl1pPr>
            <a:lvl2pPr marL="341986" indent="0">
              <a:buNone/>
              <a:defRPr sz="898"/>
            </a:lvl2pPr>
            <a:lvl3pPr marL="683971" indent="0">
              <a:buNone/>
              <a:defRPr sz="748"/>
            </a:lvl3pPr>
            <a:lvl4pPr marL="1025957" indent="0">
              <a:buNone/>
              <a:defRPr sz="673"/>
            </a:lvl4pPr>
            <a:lvl5pPr marL="1367942" indent="0">
              <a:buNone/>
              <a:defRPr sz="673"/>
            </a:lvl5pPr>
            <a:lvl6pPr marL="1709928" indent="0">
              <a:buNone/>
              <a:defRPr sz="673"/>
            </a:lvl6pPr>
            <a:lvl7pPr marL="2051914" indent="0">
              <a:buNone/>
              <a:defRPr sz="673"/>
            </a:lvl7pPr>
            <a:lvl8pPr marL="2393899" indent="0">
              <a:buNone/>
              <a:defRPr sz="673"/>
            </a:lvl8pPr>
            <a:lvl9pPr marL="2735885" indent="0">
              <a:buNone/>
              <a:defRPr sz="67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2549" y="3590949"/>
            <a:ext cx="4691309" cy="423932"/>
          </a:xfrm>
        </p:spPr>
        <p:txBody>
          <a:bodyPr anchor="b"/>
          <a:lstStyle>
            <a:lvl1pPr algn="l">
              <a:defRPr sz="149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32549" y="458369"/>
            <a:ext cx="4691309" cy="3077956"/>
          </a:xfrm>
        </p:spPr>
        <p:txBody>
          <a:bodyPr/>
          <a:lstStyle>
            <a:lvl1pPr marL="0" indent="0">
              <a:buNone/>
              <a:defRPr sz="2394"/>
            </a:lvl1pPr>
            <a:lvl2pPr marL="341986" indent="0">
              <a:buNone/>
              <a:defRPr sz="2094"/>
            </a:lvl2pPr>
            <a:lvl3pPr marL="683971" indent="0">
              <a:buNone/>
              <a:defRPr sz="1795"/>
            </a:lvl3pPr>
            <a:lvl4pPr marL="1025957" indent="0">
              <a:buNone/>
              <a:defRPr sz="1496"/>
            </a:lvl4pPr>
            <a:lvl5pPr marL="1367942" indent="0">
              <a:buNone/>
              <a:defRPr sz="1496"/>
            </a:lvl5pPr>
            <a:lvl6pPr marL="1709928" indent="0">
              <a:buNone/>
              <a:defRPr sz="1496"/>
            </a:lvl6pPr>
            <a:lvl7pPr marL="2051914" indent="0">
              <a:buNone/>
              <a:defRPr sz="1496"/>
            </a:lvl7pPr>
            <a:lvl8pPr marL="2393899" indent="0">
              <a:buNone/>
              <a:defRPr sz="1496"/>
            </a:lvl8pPr>
            <a:lvl9pPr marL="2735885" indent="0">
              <a:buNone/>
              <a:defRPr sz="1496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2549" y="4014880"/>
            <a:ext cx="4691309" cy="602054"/>
          </a:xfrm>
        </p:spPr>
        <p:txBody>
          <a:bodyPr/>
          <a:lstStyle>
            <a:lvl1pPr marL="0" indent="0">
              <a:buNone/>
              <a:defRPr sz="1047"/>
            </a:lvl1pPr>
            <a:lvl2pPr marL="341986" indent="0">
              <a:buNone/>
              <a:defRPr sz="898"/>
            </a:lvl2pPr>
            <a:lvl3pPr marL="683971" indent="0">
              <a:buNone/>
              <a:defRPr sz="748"/>
            </a:lvl3pPr>
            <a:lvl4pPr marL="1025957" indent="0">
              <a:buNone/>
              <a:defRPr sz="673"/>
            </a:lvl4pPr>
            <a:lvl5pPr marL="1367942" indent="0">
              <a:buNone/>
              <a:defRPr sz="673"/>
            </a:lvl5pPr>
            <a:lvl6pPr marL="1709928" indent="0">
              <a:buNone/>
              <a:defRPr sz="673"/>
            </a:lvl6pPr>
            <a:lvl7pPr marL="2051914" indent="0">
              <a:buNone/>
              <a:defRPr sz="673"/>
            </a:lvl7pPr>
            <a:lvl8pPr marL="2393899" indent="0">
              <a:buNone/>
              <a:defRPr sz="673"/>
            </a:lvl8pPr>
            <a:lvl9pPr marL="2735885" indent="0">
              <a:buNone/>
              <a:defRPr sz="67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8665" y="205435"/>
            <a:ext cx="1759241" cy="43770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0942" y="205435"/>
            <a:ext cx="5147409" cy="43770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0942" y="205435"/>
            <a:ext cx="7036964" cy="8549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42" y="1196983"/>
            <a:ext cx="7036964" cy="33855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0942" y="4754683"/>
            <a:ext cx="1824398" cy="273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71440" y="4754683"/>
            <a:ext cx="2475969" cy="273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03508" y="4754683"/>
            <a:ext cx="1824398" cy="273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3971" rtl="0" eaLnBrk="1" latinLnBrk="0" hangingPunct="1">
        <a:spcBef>
          <a:spcPct val="0"/>
        </a:spcBef>
        <a:buNone/>
        <a:defRPr sz="329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6489" indent="-256489" algn="l" defTabSz="683971" rtl="0" eaLnBrk="1" latinLnBrk="0" hangingPunct="1">
        <a:spcBef>
          <a:spcPct val="20000"/>
        </a:spcBef>
        <a:buFont typeface="Arial" pitchFamily="34" charset="0"/>
        <a:buChar char="•"/>
        <a:defRPr sz="2394" kern="1200">
          <a:solidFill>
            <a:schemeClr val="tx1"/>
          </a:solidFill>
          <a:latin typeface="+mn-lt"/>
          <a:ea typeface="+mn-ea"/>
          <a:cs typeface="+mn-cs"/>
        </a:defRPr>
      </a:lvl1pPr>
      <a:lvl2pPr marL="555727" indent="-213741" algn="l" defTabSz="683971" rtl="0" eaLnBrk="1" latinLnBrk="0" hangingPunct="1">
        <a:spcBef>
          <a:spcPct val="20000"/>
        </a:spcBef>
        <a:buFont typeface="Arial" pitchFamily="34" charset="0"/>
        <a:buChar char="–"/>
        <a:defRPr sz="2094" kern="1200">
          <a:solidFill>
            <a:schemeClr val="tx1"/>
          </a:solidFill>
          <a:latin typeface="+mn-lt"/>
          <a:ea typeface="+mn-ea"/>
          <a:cs typeface="+mn-cs"/>
        </a:defRPr>
      </a:lvl2pPr>
      <a:lvl3pPr marL="854964" indent="-170993" algn="l" defTabSz="683971" rtl="0" eaLnBrk="1" latinLnBrk="0" hangingPunct="1">
        <a:spcBef>
          <a:spcPct val="20000"/>
        </a:spcBef>
        <a:buFont typeface="Arial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3pPr>
      <a:lvl4pPr marL="1196950" indent="-170993" algn="l" defTabSz="683971" rtl="0" eaLnBrk="1" latinLnBrk="0" hangingPunct="1">
        <a:spcBef>
          <a:spcPct val="20000"/>
        </a:spcBef>
        <a:buFont typeface="Arial" pitchFamily="34" charset="0"/>
        <a:buChar char="–"/>
        <a:defRPr sz="1496" kern="1200">
          <a:solidFill>
            <a:schemeClr val="tx1"/>
          </a:solidFill>
          <a:latin typeface="+mn-lt"/>
          <a:ea typeface="+mn-ea"/>
          <a:cs typeface="+mn-cs"/>
        </a:defRPr>
      </a:lvl4pPr>
      <a:lvl5pPr marL="1538935" indent="-170993" algn="l" defTabSz="683971" rtl="0" eaLnBrk="1" latinLnBrk="0" hangingPunct="1">
        <a:spcBef>
          <a:spcPct val="20000"/>
        </a:spcBef>
        <a:buFont typeface="Arial" pitchFamily="34" charset="0"/>
        <a:buChar char="»"/>
        <a:defRPr sz="1496" kern="1200">
          <a:solidFill>
            <a:schemeClr val="tx1"/>
          </a:solidFill>
          <a:latin typeface="+mn-lt"/>
          <a:ea typeface="+mn-ea"/>
          <a:cs typeface="+mn-cs"/>
        </a:defRPr>
      </a:lvl5pPr>
      <a:lvl6pPr marL="1880921" indent="-170993" algn="l" defTabSz="683971" rtl="0" eaLnBrk="1" latinLnBrk="0" hangingPunct="1">
        <a:spcBef>
          <a:spcPct val="20000"/>
        </a:spcBef>
        <a:buFont typeface="Arial" pitchFamily="34" charset="0"/>
        <a:buChar char="•"/>
        <a:defRPr sz="1496" kern="1200">
          <a:solidFill>
            <a:schemeClr val="tx1"/>
          </a:solidFill>
          <a:latin typeface="+mn-lt"/>
          <a:ea typeface="+mn-ea"/>
          <a:cs typeface="+mn-cs"/>
        </a:defRPr>
      </a:lvl6pPr>
      <a:lvl7pPr marL="2222906" indent="-170993" algn="l" defTabSz="683971" rtl="0" eaLnBrk="1" latinLnBrk="0" hangingPunct="1">
        <a:spcBef>
          <a:spcPct val="20000"/>
        </a:spcBef>
        <a:buFont typeface="Arial" pitchFamily="34" charset="0"/>
        <a:buChar char="•"/>
        <a:defRPr sz="1496" kern="1200">
          <a:solidFill>
            <a:schemeClr val="tx1"/>
          </a:solidFill>
          <a:latin typeface="+mn-lt"/>
          <a:ea typeface="+mn-ea"/>
          <a:cs typeface="+mn-cs"/>
        </a:defRPr>
      </a:lvl7pPr>
      <a:lvl8pPr marL="2564892" indent="-170993" algn="l" defTabSz="683971" rtl="0" eaLnBrk="1" latinLnBrk="0" hangingPunct="1">
        <a:spcBef>
          <a:spcPct val="20000"/>
        </a:spcBef>
        <a:buFont typeface="Arial" pitchFamily="34" charset="0"/>
        <a:buChar char="•"/>
        <a:defRPr sz="1496" kern="1200">
          <a:solidFill>
            <a:schemeClr val="tx1"/>
          </a:solidFill>
          <a:latin typeface="+mn-lt"/>
          <a:ea typeface="+mn-ea"/>
          <a:cs typeface="+mn-cs"/>
        </a:defRPr>
      </a:lvl8pPr>
      <a:lvl9pPr marL="2906878" indent="-170993" algn="l" defTabSz="683971" rtl="0" eaLnBrk="1" latinLnBrk="0" hangingPunct="1">
        <a:spcBef>
          <a:spcPct val="20000"/>
        </a:spcBef>
        <a:buFont typeface="Arial" pitchFamily="34" charset="0"/>
        <a:buChar char="•"/>
        <a:defRPr sz="14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3971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1pPr>
      <a:lvl2pPr marL="341986" algn="l" defTabSz="683971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2pPr>
      <a:lvl3pPr marL="683971" algn="l" defTabSz="683971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3pPr>
      <a:lvl4pPr marL="1025957" algn="l" defTabSz="683971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4pPr>
      <a:lvl5pPr marL="1367942" algn="l" defTabSz="683971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algn="l" defTabSz="683971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6pPr>
      <a:lvl7pPr marL="2051914" algn="l" defTabSz="683971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7pPr>
      <a:lvl8pPr marL="2393899" algn="l" defTabSz="683971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8pPr>
      <a:lvl9pPr marL="2735885" algn="l" defTabSz="683971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17" Type="http://schemas.openxmlformats.org/officeDocument/2006/relationships/image" Target="../media/image11.jpeg"/><Relationship Id="rId2" Type="http://schemas.openxmlformats.org/officeDocument/2006/relationships/image" Target="../media/image1.png"/><Relationship Id="rId16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9.jpe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847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63785" y="31451904"/>
            <a:ext cx="2747608" cy="2747608"/>
          </a:xfrm>
          <a:custGeom>
            <a:avLst/>
            <a:gdLst/>
            <a:ahLst/>
            <a:cxnLst/>
            <a:rect l="l" t="t" r="r" b="b"/>
            <a:pathLst>
              <a:path w="3673171" h="3673171">
                <a:moveTo>
                  <a:pt x="0" y="0"/>
                </a:moveTo>
                <a:lnTo>
                  <a:pt x="3673171" y="0"/>
                </a:lnTo>
                <a:lnTo>
                  <a:pt x="3673171" y="3673171"/>
                </a:lnTo>
                <a:lnTo>
                  <a:pt x="0" y="36731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1055"/>
          </a:p>
        </p:txBody>
      </p:sp>
      <p:grpSp>
        <p:nvGrpSpPr>
          <p:cNvPr id="3" name="Group 3"/>
          <p:cNvGrpSpPr/>
          <p:nvPr/>
        </p:nvGrpSpPr>
        <p:grpSpPr>
          <a:xfrm>
            <a:off x="1234449" y="5210845"/>
            <a:ext cx="16726533" cy="26060199"/>
            <a:chOff x="0" y="0"/>
            <a:chExt cx="2966458" cy="42289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66458" cy="4228947"/>
            </a:xfrm>
            <a:custGeom>
              <a:avLst/>
              <a:gdLst/>
              <a:ahLst/>
              <a:cxnLst/>
              <a:rect l="l" t="t" r="r" b="b"/>
              <a:pathLst>
                <a:path w="2966458" h="4228947">
                  <a:moveTo>
                    <a:pt x="0" y="0"/>
                  </a:moveTo>
                  <a:lnTo>
                    <a:pt x="2966458" y="0"/>
                  </a:lnTo>
                  <a:lnTo>
                    <a:pt x="2966458" y="4228947"/>
                  </a:lnTo>
                  <a:lnTo>
                    <a:pt x="0" y="4228947"/>
                  </a:lnTo>
                  <a:close/>
                </a:path>
              </a:pathLst>
            </a:custGeom>
            <a:solidFill>
              <a:srgbClr val="FF914D"/>
            </a:solidFill>
          </p:spPr>
          <p:txBody>
            <a:bodyPr/>
            <a:lstStyle/>
            <a:p>
              <a:endParaRPr lang="pt-BR" sz="1055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0"/>
              <a:ext cx="2966458" cy="4324197"/>
            </a:xfrm>
            <a:prstGeom prst="rect">
              <a:avLst/>
            </a:prstGeom>
          </p:spPr>
          <p:txBody>
            <a:bodyPr lIns="37999" tIns="37999" rIns="37999" bIns="37999" rtlCol="0" anchor="ctr"/>
            <a:lstStyle/>
            <a:p>
              <a:pPr algn="ctr">
                <a:lnSpc>
                  <a:spcPts val="4317"/>
                </a:lnSpc>
              </a:pPr>
              <a:endParaRPr sz="1055"/>
            </a:p>
          </p:txBody>
        </p:sp>
      </p:grpSp>
      <p:sp>
        <p:nvSpPr>
          <p:cNvPr id="6" name="Freeform 6"/>
          <p:cNvSpPr/>
          <p:nvPr/>
        </p:nvSpPr>
        <p:spPr>
          <a:xfrm>
            <a:off x="12716177" y="31604839"/>
            <a:ext cx="2747608" cy="2747608"/>
          </a:xfrm>
          <a:custGeom>
            <a:avLst/>
            <a:gdLst/>
            <a:ahLst/>
            <a:cxnLst/>
            <a:rect l="l" t="t" r="r" b="b"/>
            <a:pathLst>
              <a:path w="3673171" h="3673171">
                <a:moveTo>
                  <a:pt x="0" y="0"/>
                </a:moveTo>
                <a:lnTo>
                  <a:pt x="3673171" y="0"/>
                </a:lnTo>
                <a:lnTo>
                  <a:pt x="3673171" y="3673170"/>
                </a:lnTo>
                <a:lnTo>
                  <a:pt x="0" y="3673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1055"/>
          </a:p>
        </p:txBody>
      </p:sp>
      <p:sp>
        <p:nvSpPr>
          <p:cNvPr id="7" name="Freeform 7"/>
          <p:cNvSpPr/>
          <p:nvPr/>
        </p:nvSpPr>
        <p:spPr>
          <a:xfrm>
            <a:off x="7220960" y="31604839"/>
            <a:ext cx="2747608" cy="2747608"/>
          </a:xfrm>
          <a:custGeom>
            <a:avLst/>
            <a:gdLst/>
            <a:ahLst/>
            <a:cxnLst/>
            <a:rect l="l" t="t" r="r" b="b"/>
            <a:pathLst>
              <a:path w="3673171" h="3673171">
                <a:moveTo>
                  <a:pt x="0" y="0"/>
                </a:moveTo>
                <a:lnTo>
                  <a:pt x="3673171" y="0"/>
                </a:lnTo>
                <a:lnTo>
                  <a:pt x="3673171" y="3673170"/>
                </a:lnTo>
                <a:lnTo>
                  <a:pt x="0" y="3673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1055"/>
          </a:p>
        </p:txBody>
      </p:sp>
      <p:sp>
        <p:nvSpPr>
          <p:cNvPr id="8" name="Freeform 8"/>
          <p:cNvSpPr/>
          <p:nvPr/>
        </p:nvSpPr>
        <p:spPr>
          <a:xfrm>
            <a:off x="9968569" y="31604839"/>
            <a:ext cx="2747608" cy="2747608"/>
          </a:xfrm>
          <a:custGeom>
            <a:avLst/>
            <a:gdLst/>
            <a:ahLst/>
            <a:cxnLst/>
            <a:rect l="l" t="t" r="r" b="b"/>
            <a:pathLst>
              <a:path w="3673171" h="3673171">
                <a:moveTo>
                  <a:pt x="0" y="0"/>
                </a:moveTo>
                <a:lnTo>
                  <a:pt x="3673170" y="0"/>
                </a:lnTo>
                <a:lnTo>
                  <a:pt x="3673170" y="3673170"/>
                </a:lnTo>
                <a:lnTo>
                  <a:pt x="0" y="3673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1055"/>
          </a:p>
        </p:txBody>
      </p:sp>
      <p:grpSp>
        <p:nvGrpSpPr>
          <p:cNvPr id="10" name="Group 10"/>
          <p:cNvGrpSpPr/>
          <p:nvPr/>
        </p:nvGrpSpPr>
        <p:grpSpPr>
          <a:xfrm>
            <a:off x="10171969" y="30585511"/>
            <a:ext cx="6951676" cy="2389544"/>
            <a:chOff x="0" y="0"/>
            <a:chExt cx="1328068" cy="45650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28068" cy="456505"/>
            </a:xfrm>
            <a:custGeom>
              <a:avLst/>
              <a:gdLst/>
              <a:ahLst/>
              <a:cxnLst/>
              <a:rect l="l" t="t" r="r" b="b"/>
              <a:pathLst>
                <a:path w="1328068" h="456505">
                  <a:moveTo>
                    <a:pt x="0" y="0"/>
                  </a:moveTo>
                  <a:lnTo>
                    <a:pt x="1328068" y="0"/>
                  </a:lnTo>
                  <a:lnTo>
                    <a:pt x="1328068" y="456505"/>
                  </a:lnTo>
                  <a:lnTo>
                    <a:pt x="0" y="456505"/>
                  </a:lnTo>
                  <a:close/>
                </a:path>
              </a:pathLst>
            </a:custGeom>
            <a:solidFill>
              <a:srgbClr val="099594"/>
            </a:solidFill>
          </p:spPr>
          <p:txBody>
            <a:bodyPr/>
            <a:lstStyle/>
            <a:p>
              <a:endParaRPr lang="pt-BR" sz="1055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0"/>
              <a:ext cx="1328068" cy="551755"/>
            </a:xfrm>
            <a:prstGeom prst="rect">
              <a:avLst/>
            </a:prstGeom>
          </p:spPr>
          <p:txBody>
            <a:bodyPr lIns="82448" tIns="82448" rIns="82448" bIns="82448" rtlCol="0" anchor="ctr"/>
            <a:lstStyle/>
            <a:p>
              <a:pPr algn="ctr">
                <a:lnSpc>
                  <a:spcPts val="4317"/>
                </a:lnSpc>
              </a:pPr>
              <a:endParaRPr sz="1055"/>
            </a:p>
          </p:txBody>
        </p:sp>
      </p:grpSp>
      <p:sp>
        <p:nvSpPr>
          <p:cNvPr id="13" name="Freeform 13"/>
          <p:cNvSpPr/>
          <p:nvPr/>
        </p:nvSpPr>
        <p:spPr>
          <a:xfrm>
            <a:off x="10742011" y="30937249"/>
            <a:ext cx="4320137" cy="1697627"/>
          </a:xfrm>
          <a:custGeom>
            <a:avLst/>
            <a:gdLst/>
            <a:ahLst/>
            <a:cxnLst/>
            <a:rect l="l" t="t" r="r" b="b"/>
            <a:pathLst>
              <a:path w="5775423" h="2269491">
                <a:moveTo>
                  <a:pt x="0" y="0"/>
                </a:moveTo>
                <a:lnTo>
                  <a:pt x="5775423" y="0"/>
                </a:lnTo>
                <a:lnTo>
                  <a:pt x="5775423" y="2269491"/>
                </a:lnTo>
                <a:lnTo>
                  <a:pt x="0" y="22694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1055"/>
          </a:p>
        </p:txBody>
      </p:sp>
      <p:sp>
        <p:nvSpPr>
          <p:cNvPr id="14" name="Freeform 14"/>
          <p:cNvSpPr/>
          <p:nvPr/>
        </p:nvSpPr>
        <p:spPr>
          <a:xfrm>
            <a:off x="15062147" y="30585511"/>
            <a:ext cx="1491458" cy="2280348"/>
          </a:xfrm>
          <a:custGeom>
            <a:avLst/>
            <a:gdLst/>
            <a:ahLst/>
            <a:cxnLst/>
            <a:rect l="l" t="t" r="r" b="b"/>
            <a:pathLst>
              <a:path w="1993872" h="3048509">
                <a:moveTo>
                  <a:pt x="0" y="0"/>
                </a:moveTo>
                <a:lnTo>
                  <a:pt x="1993872" y="0"/>
                </a:lnTo>
                <a:lnTo>
                  <a:pt x="1993872" y="3048509"/>
                </a:lnTo>
                <a:lnTo>
                  <a:pt x="0" y="30485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1055"/>
          </a:p>
        </p:txBody>
      </p:sp>
      <p:sp>
        <p:nvSpPr>
          <p:cNvPr id="15" name="Freeform 15"/>
          <p:cNvSpPr/>
          <p:nvPr/>
        </p:nvSpPr>
        <p:spPr>
          <a:xfrm>
            <a:off x="4473352" y="31573965"/>
            <a:ext cx="2747608" cy="2747608"/>
          </a:xfrm>
          <a:custGeom>
            <a:avLst/>
            <a:gdLst/>
            <a:ahLst/>
            <a:cxnLst/>
            <a:rect l="l" t="t" r="r" b="b"/>
            <a:pathLst>
              <a:path w="3673171" h="3673171">
                <a:moveTo>
                  <a:pt x="0" y="0"/>
                </a:moveTo>
                <a:lnTo>
                  <a:pt x="3673171" y="0"/>
                </a:lnTo>
                <a:lnTo>
                  <a:pt x="3673171" y="3673170"/>
                </a:lnTo>
                <a:lnTo>
                  <a:pt x="0" y="3673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1055"/>
          </a:p>
        </p:txBody>
      </p:sp>
      <p:sp>
        <p:nvSpPr>
          <p:cNvPr id="16" name="Freeform 16"/>
          <p:cNvSpPr/>
          <p:nvPr/>
        </p:nvSpPr>
        <p:spPr>
          <a:xfrm>
            <a:off x="-1021864" y="31548306"/>
            <a:ext cx="2771357" cy="2747608"/>
          </a:xfrm>
          <a:custGeom>
            <a:avLst/>
            <a:gdLst/>
            <a:ahLst/>
            <a:cxnLst/>
            <a:rect l="l" t="t" r="r" b="b"/>
            <a:pathLst>
              <a:path w="3673171" h="3673171">
                <a:moveTo>
                  <a:pt x="0" y="0"/>
                </a:moveTo>
                <a:lnTo>
                  <a:pt x="3673171" y="0"/>
                </a:lnTo>
                <a:lnTo>
                  <a:pt x="3673171" y="3673170"/>
                </a:lnTo>
                <a:lnTo>
                  <a:pt x="0" y="3673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1055"/>
          </a:p>
        </p:txBody>
      </p:sp>
      <p:sp>
        <p:nvSpPr>
          <p:cNvPr id="17" name="Freeform 17"/>
          <p:cNvSpPr/>
          <p:nvPr/>
        </p:nvSpPr>
        <p:spPr>
          <a:xfrm>
            <a:off x="1725744" y="31573965"/>
            <a:ext cx="2747608" cy="2747608"/>
          </a:xfrm>
          <a:custGeom>
            <a:avLst/>
            <a:gdLst/>
            <a:ahLst/>
            <a:cxnLst/>
            <a:rect l="l" t="t" r="r" b="b"/>
            <a:pathLst>
              <a:path w="3673171" h="3673171">
                <a:moveTo>
                  <a:pt x="0" y="0"/>
                </a:moveTo>
                <a:lnTo>
                  <a:pt x="3673170" y="0"/>
                </a:lnTo>
                <a:lnTo>
                  <a:pt x="3673170" y="3673170"/>
                </a:lnTo>
                <a:lnTo>
                  <a:pt x="0" y="3673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1055"/>
          </a:p>
        </p:txBody>
      </p:sp>
      <p:grpSp>
        <p:nvGrpSpPr>
          <p:cNvPr id="18" name="Group 18"/>
          <p:cNvGrpSpPr/>
          <p:nvPr/>
        </p:nvGrpSpPr>
        <p:grpSpPr>
          <a:xfrm>
            <a:off x="1158779" y="5514459"/>
            <a:ext cx="16668631" cy="2291744"/>
            <a:chOff x="0" y="0"/>
            <a:chExt cx="2704920" cy="37189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704920" cy="371895"/>
            </a:xfrm>
            <a:custGeom>
              <a:avLst/>
              <a:gdLst/>
              <a:ahLst/>
              <a:cxnLst/>
              <a:rect l="l" t="t" r="r" b="b"/>
              <a:pathLst>
                <a:path w="2704920" h="371895">
                  <a:moveTo>
                    <a:pt x="0" y="0"/>
                  </a:moveTo>
                  <a:lnTo>
                    <a:pt x="2704920" y="0"/>
                  </a:lnTo>
                  <a:lnTo>
                    <a:pt x="2704920" y="371895"/>
                  </a:lnTo>
                  <a:lnTo>
                    <a:pt x="0" y="371895"/>
                  </a:lnTo>
                  <a:close/>
                </a:path>
              </a:pathLst>
            </a:custGeom>
            <a:solidFill>
              <a:srgbClr val="099594"/>
            </a:solidFill>
          </p:spPr>
          <p:txBody>
            <a:bodyPr/>
            <a:lstStyle/>
            <a:p>
              <a:endParaRPr lang="pt-BR" sz="1055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95250"/>
              <a:ext cx="2704920" cy="467145"/>
            </a:xfrm>
            <a:prstGeom prst="rect">
              <a:avLst/>
            </a:prstGeom>
          </p:spPr>
          <p:txBody>
            <a:bodyPr lIns="37999" tIns="37999" rIns="37999" bIns="37999" rtlCol="0" anchor="ctr"/>
            <a:lstStyle/>
            <a:p>
              <a:pPr algn="ctr">
                <a:lnSpc>
                  <a:spcPts val="4317"/>
                </a:lnSpc>
              </a:pPr>
              <a:endParaRPr sz="1055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46435" y="7454384"/>
            <a:ext cx="16632960" cy="1424017"/>
            <a:chOff x="0" y="0"/>
            <a:chExt cx="2734121" cy="23108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734121" cy="231084"/>
            </a:xfrm>
            <a:custGeom>
              <a:avLst/>
              <a:gdLst/>
              <a:ahLst/>
              <a:cxnLst/>
              <a:rect l="l" t="t" r="r" b="b"/>
              <a:pathLst>
                <a:path w="2734121" h="231084">
                  <a:moveTo>
                    <a:pt x="0" y="0"/>
                  </a:moveTo>
                  <a:lnTo>
                    <a:pt x="2734121" y="0"/>
                  </a:lnTo>
                  <a:lnTo>
                    <a:pt x="2734121" y="231084"/>
                  </a:lnTo>
                  <a:lnTo>
                    <a:pt x="0" y="231084"/>
                  </a:lnTo>
                  <a:close/>
                </a:path>
              </a:pathLst>
            </a:custGeom>
            <a:solidFill>
              <a:srgbClr val="E3D9D1"/>
            </a:solidFill>
          </p:spPr>
          <p:txBody>
            <a:bodyPr/>
            <a:lstStyle/>
            <a:p>
              <a:endParaRPr lang="pt-BR" sz="1055" dirty="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95250"/>
              <a:ext cx="2734121" cy="326334"/>
            </a:xfrm>
            <a:prstGeom prst="rect">
              <a:avLst/>
            </a:prstGeom>
          </p:spPr>
          <p:txBody>
            <a:bodyPr lIns="37999" tIns="37999" rIns="37999" bIns="37999" rtlCol="0" anchor="ctr"/>
            <a:lstStyle/>
            <a:p>
              <a:pPr algn="ctr">
                <a:lnSpc>
                  <a:spcPts val="4317"/>
                </a:lnSpc>
              </a:pPr>
              <a:endParaRPr sz="1055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523462" y="11763559"/>
            <a:ext cx="7997122" cy="7951338"/>
            <a:chOff x="-36038" y="-95250"/>
            <a:chExt cx="1424743" cy="1416586"/>
          </a:xfrm>
        </p:grpSpPr>
        <p:sp>
          <p:nvSpPr>
            <p:cNvPr id="27" name="Freeform 27"/>
            <p:cNvSpPr/>
            <p:nvPr/>
          </p:nvSpPr>
          <p:spPr>
            <a:xfrm>
              <a:off x="-36038" y="70395"/>
              <a:ext cx="1424743" cy="1250941"/>
            </a:xfrm>
            <a:custGeom>
              <a:avLst/>
              <a:gdLst/>
              <a:ahLst/>
              <a:cxnLst/>
              <a:rect l="l" t="t" r="r" b="b"/>
              <a:pathLst>
                <a:path w="1364871" h="1277299">
                  <a:moveTo>
                    <a:pt x="0" y="0"/>
                  </a:moveTo>
                  <a:lnTo>
                    <a:pt x="1364871" y="0"/>
                  </a:lnTo>
                  <a:lnTo>
                    <a:pt x="1364871" y="1277299"/>
                  </a:lnTo>
                  <a:lnTo>
                    <a:pt x="0" y="1277299"/>
                  </a:lnTo>
                  <a:close/>
                </a:path>
              </a:pathLst>
            </a:custGeom>
            <a:solidFill>
              <a:srgbClr val="E3D9D1">
                <a:alpha val="54902"/>
              </a:srgbClr>
            </a:solidFill>
          </p:spPr>
          <p:txBody>
            <a:bodyPr/>
            <a:lstStyle/>
            <a:p>
              <a:pPr algn="just"/>
              <a:endParaRPr lang="pt-BR" sz="1945" dirty="0">
                <a:latin typeface="Oswald" panose="020B0604020202020204" charset="0"/>
              </a:endParaRPr>
            </a:p>
            <a:p>
              <a:pPr algn="just"/>
              <a:endParaRPr lang="pt-BR" sz="1945" dirty="0">
                <a:latin typeface="Oswald" panose="020B0604020202020204" charset="0"/>
              </a:endParaRPr>
            </a:p>
            <a:p>
              <a:pPr algn="just"/>
              <a:r>
                <a:rPr lang="pt-BR" sz="2094" dirty="0">
                  <a:latin typeface="Oswald" panose="020B0604020202020204" charset="0"/>
                </a:rPr>
                <a:t>A crescente preocupação com os impactos ambientais causados pelo descarte inadequado de resíduos tem impulsionado o desenvolvimento de soluções que integrem tecnologia e sustentabilidade. Nesse contexto, a robótica educacional de baixo custo surge como uma alternativa viável para promover a aprendizagem interdisciplinar, aliando inovação técnica à conscientização ecológica</a:t>
              </a:r>
              <a:r>
                <a:rPr lang="pt-BR" sz="2094" dirty="0">
                  <a:latin typeface="Oswald" panose="020B0604020202020204" charset="0"/>
                </a:rPr>
                <a:t>.</a:t>
              </a:r>
            </a:p>
            <a:p>
              <a:pPr algn="just"/>
              <a:endParaRPr lang="pt-BR" sz="2094" dirty="0">
                <a:latin typeface="Oswald" panose="020B0604020202020204" charset="0"/>
              </a:endParaRPr>
            </a:p>
            <a:p>
              <a:pPr algn="just"/>
              <a:r>
                <a:rPr lang="pt-BR" sz="2094" dirty="0">
                  <a:latin typeface="Oswald" panose="020B0604020202020204" charset="0"/>
                </a:rPr>
                <a:t>Este trabalho apresenta dois protótipos de robótica sustentável construídos com materiais recicláveis. O primeiro é uma mão robótica controlada por visão computacional, capaz de replicar movimentos humanos em tempo real. O segundo é um </a:t>
              </a:r>
              <a:r>
                <a:rPr lang="pt-BR" sz="2094" dirty="0" err="1">
                  <a:latin typeface="Oswald" panose="020B0604020202020204" charset="0"/>
                </a:rPr>
                <a:t>animatrônico</a:t>
              </a:r>
              <a:r>
                <a:rPr lang="pt-BR" sz="2094" dirty="0">
                  <a:latin typeface="Oswald" panose="020B0604020202020204" charset="0"/>
                </a:rPr>
                <a:t> </a:t>
              </a:r>
              <a:r>
                <a:rPr lang="pt-BR" sz="2094" dirty="0">
                  <a:latin typeface="Oswald" panose="020B0604020202020204" charset="0"/>
                </a:rPr>
                <a:t>temático feito </a:t>
              </a:r>
              <a:r>
                <a:rPr lang="pt-BR" sz="2094" dirty="0">
                  <a:latin typeface="Oswald" panose="020B0604020202020204" charset="0"/>
                </a:rPr>
                <a:t>com resíduos diversos e controlado por </a:t>
              </a:r>
              <a:r>
                <a:rPr lang="pt-BR" sz="2094" dirty="0" err="1">
                  <a:latin typeface="Oswald" panose="020B0604020202020204" charset="0"/>
                </a:rPr>
                <a:t>Arduino</a:t>
              </a:r>
              <a:r>
                <a:rPr lang="pt-BR" sz="2094" dirty="0">
                  <a:latin typeface="Oswald" panose="020B0604020202020204" charset="0"/>
                </a:rPr>
                <a:t> e </a:t>
              </a:r>
              <a:r>
                <a:rPr lang="pt-BR" sz="2094" dirty="0" err="1">
                  <a:latin typeface="Oswald" panose="020B0604020202020204" charset="0"/>
                </a:rPr>
                <a:t>servomotores</a:t>
              </a:r>
              <a:r>
                <a:rPr lang="pt-BR" sz="2094" dirty="0">
                  <a:latin typeface="Oswald" panose="020B0604020202020204" charset="0"/>
                </a:rPr>
                <a:t>. Ambos os sistemas demonstram a viabilidade de aliar eficiência técnica, baixo custo e reaproveitamento de materiais, reforçando o papel da robótica como ferramenta educacional e de sensibilização ambiental.</a:t>
              </a:r>
            </a:p>
            <a:p>
              <a:pPr algn="just"/>
              <a:endParaRPr lang="pt-BR" sz="1945" dirty="0">
                <a:latin typeface="Oswald" panose="020B0604020202020204" charset="0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95250"/>
              <a:ext cx="1364871" cy="1372549"/>
            </a:xfrm>
            <a:prstGeom prst="rect">
              <a:avLst/>
            </a:prstGeom>
          </p:spPr>
          <p:txBody>
            <a:bodyPr lIns="37999" tIns="37999" rIns="37999" bIns="37999" rtlCol="0" anchor="ctr"/>
            <a:lstStyle/>
            <a:p>
              <a:pPr algn="ctr">
                <a:lnSpc>
                  <a:spcPts val="4317"/>
                </a:lnSpc>
              </a:pPr>
              <a:endParaRPr sz="1055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605216" y="11752843"/>
            <a:ext cx="6332203" cy="1203919"/>
            <a:chOff x="0" y="0"/>
            <a:chExt cx="1128126" cy="21448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128126" cy="214486"/>
            </a:xfrm>
            <a:custGeom>
              <a:avLst/>
              <a:gdLst/>
              <a:ahLst/>
              <a:cxnLst/>
              <a:rect l="l" t="t" r="r" b="b"/>
              <a:pathLst>
                <a:path w="1128126" h="214486">
                  <a:moveTo>
                    <a:pt x="0" y="0"/>
                  </a:moveTo>
                  <a:lnTo>
                    <a:pt x="1128126" y="0"/>
                  </a:lnTo>
                  <a:lnTo>
                    <a:pt x="1128126" y="214486"/>
                  </a:lnTo>
                  <a:lnTo>
                    <a:pt x="0" y="214486"/>
                  </a:lnTo>
                  <a:close/>
                </a:path>
              </a:pathLst>
            </a:custGeom>
            <a:solidFill>
              <a:srgbClr val="099594"/>
            </a:solidFill>
          </p:spPr>
          <p:txBody>
            <a:bodyPr/>
            <a:lstStyle/>
            <a:p>
              <a:endParaRPr lang="pt-BR" sz="1055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95250"/>
              <a:ext cx="1128126" cy="309736"/>
            </a:xfrm>
            <a:prstGeom prst="rect">
              <a:avLst/>
            </a:prstGeom>
          </p:spPr>
          <p:txBody>
            <a:bodyPr lIns="37999" tIns="37999" rIns="37999" bIns="37999" rtlCol="0" anchor="ctr"/>
            <a:lstStyle/>
            <a:p>
              <a:pPr algn="ctr">
                <a:lnSpc>
                  <a:spcPts val="4317"/>
                </a:lnSpc>
              </a:pPr>
              <a:endParaRPr sz="1055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2483648" y="11689382"/>
            <a:ext cx="6111116" cy="1047632"/>
            <a:chOff x="0" y="0"/>
            <a:chExt cx="1088738" cy="18664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88738" cy="186643"/>
            </a:xfrm>
            <a:custGeom>
              <a:avLst/>
              <a:gdLst/>
              <a:ahLst/>
              <a:cxnLst/>
              <a:rect l="l" t="t" r="r" b="b"/>
              <a:pathLst>
                <a:path w="1088738" h="186643">
                  <a:moveTo>
                    <a:pt x="0" y="0"/>
                  </a:moveTo>
                  <a:lnTo>
                    <a:pt x="1088738" y="0"/>
                  </a:lnTo>
                  <a:lnTo>
                    <a:pt x="1088738" y="186643"/>
                  </a:lnTo>
                  <a:lnTo>
                    <a:pt x="0" y="186643"/>
                  </a:lnTo>
                  <a:close/>
                </a:path>
              </a:pathLst>
            </a:custGeom>
            <a:solidFill>
              <a:srgbClr val="684769"/>
            </a:solidFill>
          </p:spPr>
          <p:txBody>
            <a:bodyPr/>
            <a:lstStyle/>
            <a:p>
              <a:endParaRPr lang="pt-BR" sz="1055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95250"/>
              <a:ext cx="1088738" cy="281893"/>
            </a:xfrm>
            <a:prstGeom prst="rect">
              <a:avLst/>
            </a:prstGeom>
          </p:spPr>
          <p:txBody>
            <a:bodyPr lIns="37999" tIns="37999" rIns="37999" bIns="37999" rtlCol="0" anchor="ctr"/>
            <a:lstStyle/>
            <a:p>
              <a:pPr algn="ctr">
                <a:lnSpc>
                  <a:spcPts val="4317"/>
                </a:lnSpc>
              </a:pPr>
              <a:endParaRPr sz="1055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604391" y="19835574"/>
            <a:ext cx="8114152" cy="4323499"/>
            <a:chOff x="-21853" y="-47625"/>
            <a:chExt cx="1429300" cy="861818"/>
          </a:xfrm>
        </p:grpSpPr>
        <p:sp>
          <p:nvSpPr>
            <p:cNvPr id="36" name="Freeform 36"/>
            <p:cNvSpPr/>
            <p:nvPr/>
          </p:nvSpPr>
          <p:spPr>
            <a:xfrm>
              <a:off x="-21853" y="60190"/>
              <a:ext cx="1429300" cy="754003"/>
            </a:xfrm>
            <a:custGeom>
              <a:avLst/>
              <a:gdLst/>
              <a:ahLst/>
              <a:cxnLst/>
              <a:rect l="l" t="t" r="r" b="b"/>
              <a:pathLst>
                <a:path w="1364871" h="539256">
                  <a:moveTo>
                    <a:pt x="0" y="0"/>
                  </a:moveTo>
                  <a:lnTo>
                    <a:pt x="1364871" y="0"/>
                  </a:lnTo>
                  <a:lnTo>
                    <a:pt x="1364871" y="539256"/>
                  </a:lnTo>
                  <a:lnTo>
                    <a:pt x="0" y="539256"/>
                  </a:lnTo>
                  <a:close/>
                </a:path>
              </a:pathLst>
            </a:custGeom>
            <a:solidFill>
              <a:srgbClr val="E9E6D7">
                <a:alpha val="54902"/>
              </a:srgbClr>
            </a:solidFill>
          </p:spPr>
          <p:txBody>
            <a:bodyPr/>
            <a:lstStyle/>
            <a:p>
              <a:endParaRPr lang="pt-BR" sz="1055" dirty="0"/>
            </a:p>
            <a:p>
              <a:endParaRPr lang="pt-BR" sz="1055" dirty="0"/>
            </a:p>
            <a:p>
              <a:endParaRPr lang="pt-BR" sz="1055" dirty="0"/>
            </a:p>
            <a:p>
              <a:pPr marL="213741" indent="-213741">
                <a:buFont typeface="Arial" panose="020B0604020202020204" pitchFamily="34" charset="0"/>
                <a:buChar char="•"/>
              </a:pPr>
              <a:r>
                <a:rPr lang="pt-BR" sz="2094" dirty="0">
                  <a:latin typeface="Oswald" panose="020B0604020202020204" charset="0"/>
                </a:rPr>
                <a:t>Desenvolver </a:t>
              </a:r>
              <a:r>
                <a:rPr lang="pt-BR" sz="2094" dirty="0">
                  <a:latin typeface="Oswald" panose="020B0604020202020204" charset="0"/>
                </a:rPr>
                <a:t>dois protótipos de robótica sustentável utilizando materiais reutilizáveis e tecnologia acessível</a:t>
              </a:r>
              <a:r>
                <a:rPr lang="pt-BR" sz="2094" dirty="0">
                  <a:latin typeface="Oswald" panose="020B0604020202020204" charset="0"/>
                </a:rPr>
                <a:t>.</a:t>
              </a:r>
              <a:endParaRPr lang="pt-BR" sz="2094" dirty="0">
                <a:latin typeface="Oswald" panose="020B0604020202020204" charset="0"/>
              </a:endParaRPr>
            </a:p>
            <a:p>
              <a:pPr marL="213741" indent="-213741">
                <a:buFont typeface="Arial" panose="020B0604020202020204" pitchFamily="34" charset="0"/>
                <a:buChar char="•"/>
              </a:pPr>
              <a:r>
                <a:rPr lang="pt-BR" sz="2094" dirty="0">
                  <a:latin typeface="Oswald" panose="020B0604020202020204" charset="0"/>
                </a:rPr>
                <a:t>Integrar conceitos de visão </a:t>
              </a:r>
              <a:r>
                <a:rPr lang="pt-BR" sz="2094" dirty="0">
                  <a:latin typeface="Oswald" panose="020B0604020202020204" charset="0"/>
                </a:rPr>
                <a:t>computacional e automação em sistemas </a:t>
              </a:r>
              <a:r>
                <a:rPr lang="pt-BR" sz="2094" dirty="0">
                  <a:latin typeface="Oswald" panose="020B0604020202020204" charset="0"/>
                </a:rPr>
                <a:t>robóticos com fins educativos</a:t>
              </a:r>
              <a:r>
                <a:rPr lang="pt-BR" sz="2094" dirty="0">
                  <a:latin typeface="Oswald" panose="020B0604020202020204" charset="0"/>
                </a:rPr>
                <a:t>.</a:t>
              </a:r>
              <a:endParaRPr lang="pt-BR" sz="2094" dirty="0">
                <a:latin typeface="Oswald" panose="020B0604020202020204" charset="0"/>
              </a:endParaRPr>
            </a:p>
            <a:p>
              <a:pPr marL="213741" indent="-213741">
                <a:buFont typeface="Arial" panose="020B0604020202020204" pitchFamily="34" charset="0"/>
                <a:buChar char="•"/>
              </a:pPr>
              <a:r>
                <a:rPr lang="pt-BR" sz="2094" dirty="0">
                  <a:latin typeface="Oswald" panose="020B0604020202020204" charset="0"/>
                </a:rPr>
                <a:t>Avaliar a eficiência dos protótipos quanto à funcionalidade mecânica, precisão de movimentos e potencial didático</a:t>
              </a:r>
              <a:r>
                <a:rPr lang="pt-BR" sz="2094" dirty="0">
                  <a:latin typeface="Oswald" panose="020B0604020202020204" charset="0"/>
                </a:rPr>
                <a:t>.</a:t>
              </a:r>
              <a:endParaRPr lang="pt-BR" sz="2094" dirty="0">
                <a:latin typeface="Oswald" panose="020B0604020202020204" charset="0"/>
              </a:endParaRPr>
            </a:p>
            <a:p>
              <a:pPr marL="213741" indent="-213741">
                <a:buFont typeface="Arial" panose="020B0604020202020204" pitchFamily="34" charset="0"/>
                <a:buChar char="•"/>
              </a:pPr>
              <a:r>
                <a:rPr lang="pt-BR" sz="2094" dirty="0">
                  <a:latin typeface="Oswald" panose="020B0604020202020204" charset="0"/>
                </a:rPr>
                <a:t>Promover a conscientização sobre a importância da reciclagem e da preservação ambiental por meio de soluções tecnológicas criativas.</a:t>
              </a:r>
              <a:endParaRPr lang="pt-BR" sz="2094" dirty="0">
                <a:latin typeface="Oswald" panose="020B0604020202020204" charset="0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1364871" cy="586881"/>
            </a:xfrm>
            <a:prstGeom prst="rect">
              <a:avLst/>
            </a:prstGeom>
          </p:spPr>
          <p:txBody>
            <a:bodyPr lIns="37999" tIns="37999" rIns="37999" bIns="37999" rtlCol="0" anchor="ctr"/>
            <a:lstStyle/>
            <a:p>
              <a:pPr algn="just">
                <a:lnSpc>
                  <a:spcPts val="2723"/>
                </a:lnSpc>
              </a:pPr>
              <a:endParaRPr sz="1055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2547943" y="19763841"/>
            <a:ext cx="6332203" cy="1226085"/>
            <a:chOff x="0" y="0"/>
            <a:chExt cx="1128126" cy="21843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128126" cy="218436"/>
            </a:xfrm>
            <a:custGeom>
              <a:avLst/>
              <a:gdLst/>
              <a:ahLst/>
              <a:cxnLst/>
              <a:rect l="l" t="t" r="r" b="b"/>
              <a:pathLst>
                <a:path w="1128126" h="218436">
                  <a:moveTo>
                    <a:pt x="0" y="0"/>
                  </a:moveTo>
                  <a:lnTo>
                    <a:pt x="1128126" y="0"/>
                  </a:lnTo>
                  <a:lnTo>
                    <a:pt x="1128126" y="218436"/>
                  </a:lnTo>
                  <a:lnTo>
                    <a:pt x="0" y="218436"/>
                  </a:lnTo>
                  <a:close/>
                </a:path>
              </a:pathLst>
            </a:custGeom>
            <a:solidFill>
              <a:srgbClr val="099594"/>
            </a:solidFill>
          </p:spPr>
          <p:txBody>
            <a:bodyPr/>
            <a:lstStyle/>
            <a:p>
              <a:endParaRPr lang="pt-BR" sz="1055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95250"/>
              <a:ext cx="1128126" cy="313686"/>
            </a:xfrm>
            <a:prstGeom prst="rect">
              <a:avLst/>
            </a:prstGeom>
          </p:spPr>
          <p:txBody>
            <a:bodyPr lIns="37999" tIns="37999" rIns="37999" bIns="37999" rtlCol="0" anchor="ctr"/>
            <a:lstStyle/>
            <a:p>
              <a:pPr algn="ctr">
                <a:lnSpc>
                  <a:spcPts val="4317"/>
                </a:lnSpc>
              </a:pPr>
              <a:endParaRPr sz="1055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2483647" y="19603158"/>
            <a:ext cx="6156526" cy="1090712"/>
            <a:chOff x="0" y="0"/>
            <a:chExt cx="1096828" cy="19431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096828" cy="194318"/>
            </a:xfrm>
            <a:custGeom>
              <a:avLst/>
              <a:gdLst/>
              <a:ahLst/>
              <a:cxnLst/>
              <a:rect l="l" t="t" r="r" b="b"/>
              <a:pathLst>
                <a:path w="1096828" h="194318">
                  <a:moveTo>
                    <a:pt x="0" y="0"/>
                  </a:moveTo>
                  <a:lnTo>
                    <a:pt x="1096828" y="0"/>
                  </a:lnTo>
                  <a:lnTo>
                    <a:pt x="1096828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684769"/>
            </a:solidFill>
          </p:spPr>
          <p:txBody>
            <a:bodyPr/>
            <a:lstStyle/>
            <a:p>
              <a:endParaRPr lang="pt-BR" sz="1055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95250"/>
              <a:ext cx="1096828" cy="289568"/>
            </a:xfrm>
            <a:prstGeom prst="rect">
              <a:avLst/>
            </a:prstGeom>
          </p:spPr>
          <p:txBody>
            <a:bodyPr lIns="37999" tIns="37999" rIns="37999" bIns="37999" rtlCol="0" anchor="ctr"/>
            <a:lstStyle/>
            <a:p>
              <a:pPr algn="ctr">
                <a:lnSpc>
                  <a:spcPts val="4317"/>
                </a:lnSpc>
              </a:pPr>
              <a:endParaRPr sz="1055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111187" y="11943501"/>
            <a:ext cx="7375431" cy="6496723"/>
            <a:chOff x="-5929" y="-95250"/>
            <a:chExt cx="1304584" cy="1142297"/>
          </a:xfrm>
        </p:grpSpPr>
        <p:sp>
          <p:nvSpPr>
            <p:cNvPr id="45" name="Freeform 45"/>
            <p:cNvSpPr/>
            <p:nvPr/>
          </p:nvSpPr>
          <p:spPr>
            <a:xfrm>
              <a:off x="-5929" y="34361"/>
              <a:ext cx="1271319" cy="1012686"/>
            </a:xfrm>
            <a:custGeom>
              <a:avLst/>
              <a:gdLst/>
              <a:ahLst/>
              <a:cxnLst/>
              <a:rect l="l" t="t" r="r" b="b"/>
              <a:pathLst>
                <a:path w="1298655" h="974486">
                  <a:moveTo>
                    <a:pt x="0" y="0"/>
                  </a:moveTo>
                  <a:lnTo>
                    <a:pt x="1298655" y="0"/>
                  </a:lnTo>
                  <a:lnTo>
                    <a:pt x="1298655" y="974486"/>
                  </a:lnTo>
                  <a:lnTo>
                    <a:pt x="0" y="974486"/>
                  </a:lnTo>
                  <a:close/>
                </a:path>
              </a:pathLst>
            </a:custGeom>
            <a:solidFill>
              <a:srgbClr val="E9E6D7">
                <a:alpha val="54902"/>
              </a:srgbClr>
            </a:solidFill>
          </p:spPr>
          <p:txBody>
            <a:bodyPr/>
            <a:lstStyle/>
            <a:p>
              <a:pPr algn="just"/>
              <a:endParaRPr lang="pt-BR" sz="2094" dirty="0">
                <a:latin typeface="Oswald" panose="020B0604020202020204" charset="0"/>
              </a:endParaRPr>
            </a:p>
            <a:p>
              <a:pPr algn="just"/>
              <a:endParaRPr lang="pt-BR" sz="2094" dirty="0">
                <a:latin typeface="Oswald" panose="020B0604020202020204" charset="0"/>
              </a:endParaRPr>
            </a:p>
            <a:p>
              <a:pPr algn="just"/>
              <a:endParaRPr lang="pt-BR" sz="2094" dirty="0">
                <a:latin typeface="Oswald" panose="020B0604020202020204" charset="0"/>
              </a:endParaRPr>
            </a:p>
            <a:p>
              <a:pPr algn="just"/>
              <a:r>
                <a:rPr lang="pt-BR" sz="2094" dirty="0">
                  <a:latin typeface="Oswald" panose="020B0604020202020204" charset="0"/>
                </a:rPr>
                <a:t>Os testes realizados demonstraram que a mão robótica foi capaz de replicar gestos humanos simples com precisão satisfatória, validando a aplicação de visão computacional em estruturas recicláveis. O </a:t>
              </a:r>
              <a:r>
                <a:rPr lang="pt-BR" sz="2094" dirty="0" err="1">
                  <a:latin typeface="Oswald" panose="020B0604020202020204" charset="0"/>
                </a:rPr>
                <a:t>animatrônico</a:t>
              </a:r>
              <a:r>
                <a:rPr lang="pt-BR" sz="2094" dirty="0">
                  <a:latin typeface="Oswald" panose="020B0604020202020204" charset="0"/>
                </a:rPr>
                <a:t>, por sua vez, apresentou movimentos coordenados e responsivos, evidenciando a viabilidade da integração entre materiais reutilizados e componentes eletrônicos. Ambos os projetos destacaram-se não apenas pela funcionalidade, mas também pelo potencial pedagógico em disciplinas como programação, automação, robótica e educação ambiental. </a:t>
              </a:r>
              <a:endParaRPr lang="pt-BR" sz="1496" dirty="0">
                <a:latin typeface="Oswald" panose="020B0604020202020204" charset="0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95250"/>
              <a:ext cx="1298655" cy="1069736"/>
            </a:xfrm>
            <a:prstGeom prst="rect">
              <a:avLst/>
            </a:prstGeom>
          </p:spPr>
          <p:txBody>
            <a:bodyPr lIns="37999" tIns="37999" rIns="37999" bIns="37999" rtlCol="0" anchor="ctr"/>
            <a:lstStyle/>
            <a:p>
              <a:pPr>
                <a:lnSpc>
                  <a:spcPts val="4317"/>
                </a:lnSpc>
              </a:pPr>
              <a:endParaRPr sz="1055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0703035" y="11932786"/>
            <a:ext cx="6367852" cy="1360626"/>
            <a:chOff x="0" y="0"/>
            <a:chExt cx="1134477" cy="242405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134477" cy="242405"/>
            </a:xfrm>
            <a:custGeom>
              <a:avLst/>
              <a:gdLst/>
              <a:ahLst/>
              <a:cxnLst/>
              <a:rect l="l" t="t" r="r" b="b"/>
              <a:pathLst>
                <a:path w="1134477" h="242405">
                  <a:moveTo>
                    <a:pt x="0" y="0"/>
                  </a:moveTo>
                  <a:lnTo>
                    <a:pt x="1134477" y="0"/>
                  </a:lnTo>
                  <a:lnTo>
                    <a:pt x="1134477" y="242405"/>
                  </a:lnTo>
                  <a:lnTo>
                    <a:pt x="0" y="242405"/>
                  </a:lnTo>
                  <a:close/>
                </a:path>
              </a:pathLst>
            </a:custGeom>
            <a:solidFill>
              <a:srgbClr val="099594"/>
            </a:solidFill>
          </p:spPr>
          <p:txBody>
            <a:bodyPr/>
            <a:lstStyle/>
            <a:p>
              <a:endParaRPr lang="pt-BR" sz="1055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95250"/>
              <a:ext cx="1134477" cy="337655"/>
            </a:xfrm>
            <a:prstGeom prst="rect">
              <a:avLst/>
            </a:prstGeom>
          </p:spPr>
          <p:txBody>
            <a:bodyPr lIns="37999" tIns="37999" rIns="37999" bIns="37999" rtlCol="0" anchor="ctr"/>
            <a:lstStyle/>
            <a:p>
              <a:pPr algn="ctr">
                <a:lnSpc>
                  <a:spcPts val="4317"/>
                </a:lnSpc>
              </a:pPr>
              <a:endParaRPr sz="1055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581466" y="11828950"/>
            <a:ext cx="6278094" cy="1227543"/>
            <a:chOff x="0" y="0"/>
            <a:chExt cx="1118486" cy="218695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118486" cy="218695"/>
            </a:xfrm>
            <a:custGeom>
              <a:avLst/>
              <a:gdLst/>
              <a:ahLst/>
              <a:cxnLst/>
              <a:rect l="l" t="t" r="r" b="b"/>
              <a:pathLst>
                <a:path w="1118486" h="218695">
                  <a:moveTo>
                    <a:pt x="0" y="0"/>
                  </a:moveTo>
                  <a:lnTo>
                    <a:pt x="1118486" y="0"/>
                  </a:lnTo>
                  <a:lnTo>
                    <a:pt x="1118486" y="218695"/>
                  </a:lnTo>
                  <a:lnTo>
                    <a:pt x="0" y="218695"/>
                  </a:lnTo>
                  <a:close/>
                </a:path>
              </a:pathLst>
            </a:custGeom>
            <a:solidFill>
              <a:srgbClr val="684769"/>
            </a:solidFill>
          </p:spPr>
          <p:txBody>
            <a:bodyPr/>
            <a:lstStyle/>
            <a:p>
              <a:endParaRPr lang="pt-BR" sz="1055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95250"/>
              <a:ext cx="1118486" cy="313945"/>
            </a:xfrm>
            <a:prstGeom prst="rect">
              <a:avLst/>
            </a:prstGeom>
          </p:spPr>
          <p:txBody>
            <a:bodyPr lIns="37999" tIns="37999" rIns="37999" bIns="37999" rtlCol="0" anchor="ctr"/>
            <a:lstStyle/>
            <a:p>
              <a:pPr algn="ctr">
                <a:lnSpc>
                  <a:spcPts val="4317"/>
                </a:lnSpc>
              </a:pPr>
              <a:endParaRPr sz="1055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0136986" y="18227288"/>
            <a:ext cx="7289390" cy="12376166"/>
            <a:chOff x="0" y="-95250"/>
            <a:chExt cx="1298655" cy="2204900"/>
          </a:xfrm>
        </p:grpSpPr>
        <p:sp>
          <p:nvSpPr>
            <p:cNvPr id="54" name="Freeform 54"/>
            <p:cNvSpPr/>
            <p:nvPr/>
          </p:nvSpPr>
          <p:spPr>
            <a:xfrm>
              <a:off x="0" y="62450"/>
              <a:ext cx="1298655" cy="2047200"/>
            </a:xfrm>
            <a:custGeom>
              <a:avLst/>
              <a:gdLst/>
              <a:ahLst/>
              <a:cxnLst/>
              <a:rect l="l" t="t" r="r" b="b"/>
              <a:pathLst>
                <a:path w="1298655" h="2010220">
                  <a:moveTo>
                    <a:pt x="0" y="0"/>
                  </a:moveTo>
                  <a:lnTo>
                    <a:pt x="1298655" y="0"/>
                  </a:lnTo>
                  <a:lnTo>
                    <a:pt x="1298655" y="2010220"/>
                  </a:lnTo>
                  <a:lnTo>
                    <a:pt x="0" y="2010220"/>
                  </a:lnTo>
                  <a:close/>
                </a:path>
              </a:pathLst>
            </a:custGeom>
            <a:solidFill>
              <a:srgbClr val="E9E6D7">
                <a:alpha val="54902"/>
              </a:srgbClr>
            </a:solidFill>
          </p:spPr>
          <p:txBody>
            <a:bodyPr/>
            <a:lstStyle/>
            <a:p>
              <a:pPr algn="just"/>
              <a:endParaRPr lang="pt-BR" sz="2094" dirty="0">
                <a:latin typeface="Oswald" panose="020B0604020202020204" charset="0"/>
              </a:endParaRPr>
            </a:p>
            <a:p>
              <a:pPr algn="just"/>
              <a:endParaRPr lang="pt-BR" sz="2094" dirty="0">
                <a:latin typeface="Oswald" panose="020B0604020202020204" charset="0"/>
              </a:endParaRPr>
            </a:p>
            <a:p>
              <a:pPr algn="just"/>
              <a:r>
                <a:rPr lang="pt-BR" sz="2094" dirty="0">
                  <a:latin typeface="Oswald" panose="020B0604020202020204" charset="0"/>
                </a:rPr>
                <a:t>Os resultados obtidos com o desenvolvimento dos dois protótipos de robótica sustentável demonstram que é possível aliar inovação tecnológica, reutilização de materiais e acessibilidade em soluções práticas e educativas. A utilização de resíduos como papelão, arame, MDF e outros materiais recicláveis não comprometeu a funcionalidade dos sistemas, revelando-se uma estratégia eficiente tanto do ponto de vista técnico quanto ambiental</a:t>
              </a:r>
              <a:r>
                <a:rPr lang="pt-BR" sz="2094" dirty="0">
                  <a:latin typeface="Oswald" panose="020B0604020202020204" charset="0"/>
                </a:rPr>
                <a:t>.</a:t>
              </a:r>
            </a:p>
            <a:p>
              <a:pPr algn="just"/>
              <a:endParaRPr lang="pt-BR" sz="2094" dirty="0">
                <a:latin typeface="Oswald" panose="020B0604020202020204" charset="0"/>
              </a:endParaRPr>
            </a:p>
            <a:p>
              <a:pPr algn="just"/>
              <a:r>
                <a:rPr lang="pt-BR" sz="2094" dirty="0">
                  <a:latin typeface="Oswald" panose="020B0604020202020204" charset="0"/>
                </a:rPr>
                <a:t>A mão robótica, controlada por visão computacional, apresentou desempenho satisfatório na reprodução de gestos simples em tempo real, evidenciando o potencial do uso de algoritmos de mapeamento aplicados a estruturas físicas de baixo custo. Já o </a:t>
              </a:r>
              <a:r>
                <a:rPr lang="pt-BR" sz="2094" dirty="0" err="1">
                  <a:latin typeface="Oswald" panose="020B0604020202020204" charset="0"/>
                </a:rPr>
                <a:t>animatrônico</a:t>
              </a:r>
              <a:r>
                <a:rPr lang="pt-BR" sz="2094" dirty="0">
                  <a:latin typeface="Oswald" panose="020B0604020202020204" charset="0"/>
                </a:rPr>
                <a:t> interativo, apesar de sua construção com resíduos reutilizados, demonstrou boa integração mecânica e eletrônica, reforçando a viabilidade da robótica sustentável em contextos educacionais</a:t>
              </a:r>
              <a:r>
                <a:rPr lang="pt-BR" sz="2094" dirty="0">
                  <a:latin typeface="Oswald" panose="020B0604020202020204" charset="0"/>
                </a:rPr>
                <a:t>.</a:t>
              </a:r>
            </a:p>
            <a:p>
              <a:pPr algn="just"/>
              <a:endParaRPr lang="pt-BR" sz="2094" dirty="0">
                <a:latin typeface="Oswald" panose="020B0604020202020204" charset="0"/>
              </a:endParaRPr>
            </a:p>
            <a:p>
              <a:pPr algn="just"/>
              <a:r>
                <a:rPr lang="pt-BR" sz="2094" dirty="0">
                  <a:latin typeface="Oswald" panose="020B0604020202020204" charset="0"/>
                </a:rPr>
                <a:t>Além dos aspectos funcionais, ambos os protótipos destacaram-se como ferramentas didáticas eficazes, promovendo a interdisciplinaridade entre áreas como ciência, tecnologia, engenharia, artes e matemática (STEAM), ao mesmo tempo em que incentivam uma postura crítica e consciente sobre o reaproveitamento de materiais. A abordagem prática e criativa possibilita maior engajamento de estudantes, estimula o pensamento computacional e contribui para a formação cidadã com responsabilidade socioambiental</a:t>
              </a:r>
              <a:r>
                <a:rPr lang="pt-BR" sz="2094" dirty="0">
                  <a:latin typeface="Oswald" panose="020B0604020202020204" charset="0"/>
                </a:rPr>
                <a:t>.</a:t>
              </a:r>
            </a:p>
            <a:p>
              <a:pPr algn="just"/>
              <a:endParaRPr lang="pt-BR" sz="2094" dirty="0">
                <a:latin typeface="Oswald" panose="020B0604020202020204" charset="0"/>
              </a:endParaRPr>
            </a:p>
            <a:p>
              <a:pPr algn="just"/>
              <a:r>
                <a:rPr lang="pt-BR" sz="2094" dirty="0">
                  <a:latin typeface="Oswald" panose="020B0604020202020204" charset="0"/>
                </a:rPr>
                <a:t>Como encaminhamento futuro, propõe-se o aprimoramento da precisão dos movimentos, especialmente no caso da mão robótica, bem como a adaptação dos dispositivos para outras finalidades, como próteses acessíveis ou instalações interativas em ambientes educativos e culturais. Conclui-se que a robótica sustentável é uma alternativa viável e promissora para integrar ensino, tecnologia e sustentabilidade, contribuindo para uma educação mais crítica, inclusiva e alinhada aos desafios contemporâneos.</a:t>
              </a:r>
            </a:p>
            <a:p>
              <a:pPr algn="just"/>
              <a:endParaRPr lang="pt-BR" sz="2094" dirty="0">
                <a:latin typeface="Oswald" panose="020B0604020202020204" charset="0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95250"/>
              <a:ext cx="1298655" cy="2105470"/>
            </a:xfrm>
            <a:prstGeom prst="rect">
              <a:avLst/>
            </a:prstGeom>
          </p:spPr>
          <p:txBody>
            <a:bodyPr lIns="37999" tIns="37999" rIns="37999" bIns="37999" rtlCol="0" anchor="ctr"/>
            <a:lstStyle/>
            <a:p>
              <a:pPr algn="ctr">
                <a:lnSpc>
                  <a:spcPts val="4317"/>
                </a:lnSpc>
              </a:pPr>
              <a:endParaRPr sz="1055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0703035" y="18198950"/>
            <a:ext cx="6546069" cy="1404208"/>
            <a:chOff x="0" y="0"/>
            <a:chExt cx="1166227" cy="250169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166227" cy="250169"/>
            </a:xfrm>
            <a:custGeom>
              <a:avLst/>
              <a:gdLst/>
              <a:ahLst/>
              <a:cxnLst/>
              <a:rect l="l" t="t" r="r" b="b"/>
              <a:pathLst>
                <a:path w="1166227" h="250169">
                  <a:moveTo>
                    <a:pt x="0" y="0"/>
                  </a:moveTo>
                  <a:lnTo>
                    <a:pt x="1166227" y="0"/>
                  </a:lnTo>
                  <a:lnTo>
                    <a:pt x="1166227" y="250169"/>
                  </a:lnTo>
                  <a:lnTo>
                    <a:pt x="0" y="250169"/>
                  </a:lnTo>
                  <a:close/>
                </a:path>
              </a:pathLst>
            </a:custGeom>
            <a:solidFill>
              <a:srgbClr val="099594"/>
            </a:solidFill>
          </p:spPr>
          <p:txBody>
            <a:bodyPr/>
            <a:lstStyle/>
            <a:p>
              <a:endParaRPr lang="pt-BR" sz="1055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95250"/>
              <a:ext cx="1166227" cy="345419"/>
            </a:xfrm>
            <a:prstGeom prst="rect">
              <a:avLst/>
            </a:prstGeom>
          </p:spPr>
          <p:txBody>
            <a:bodyPr lIns="37999" tIns="37999" rIns="37999" bIns="37999" rtlCol="0" anchor="ctr"/>
            <a:lstStyle/>
            <a:p>
              <a:pPr algn="ctr">
                <a:lnSpc>
                  <a:spcPts val="4317"/>
                </a:lnSpc>
              </a:pPr>
              <a:endParaRPr sz="1055"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0581466" y="18235748"/>
            <a:ext cx="6335788" cy="1155537"/>
            <a:chOff x="0" y="0"/>
            <a:chExt cx="1128765" cy="205867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128765" cy="205867"/>
            </a:xfrm>
            <a:custGeom>
              <a:avLst/>
              <a:gdLst/>
              <a:ahLst/>
              <a:cxnLst/>
              <a:rect l="l" t="t" r="r" b="b"/>
              <a:pathLst>
                <a:path w="1128765" h="205867">
                  <a:moveTo>
                    <a:pt x="0" y="0"/>
                  </a:moveTo>
                  <a:lnTo>
                    <a:pt x="1128765" y="0"/>
                  </a:lnTo>
                  <a:lnTo>
                    <a:pt x="1128765" y="205867"/>
                  </a:lnTo>
                  <a:lnTo>
                    <a:pt x="0" y="205867"/>
                  </a:lnTo>
                  <a:close/>
                </a:path>
              </a:pathLst>
            </a:custGeom>
            <a:solidFill>
              <a:srgbClr val="684769"/>
            </a:solidFill>
          </p:spPr>
          <p:txBody>
            <a:bodyPr/>
            <a:lstStyle/>
            <a:p>
              <a:endParaRPr lang="pt-BR" sz="1055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76200"/>
              <a:ext cx="1128765" cy="282067"/>
            </a:xfrm>
            <a:prstGeom prst="rect">
              <a:avLst/>
            </a:prstGeom>
          </p:spPr>
          <p:txBody>
            <a:bodyPr lIns="37999" tIns="37999" rIns="37999" bIns="37999" rtlCol="0" anchor="ctr"/>
            <a:lstStyle/>
            <a:p>
              <a:pPr algn="ctr">
                <a:lnSpc>
                  <a:spcPts val="4317"/>
                </a:lnSpc>
              </a:pPr>
              <a:endParaRPr sz="1055"/>
            </a:p>
          </p:txBody>
        </p:sp>
      </p:grpSp>
      <p:sp>
        <p:nvSpPr>
          <p:cNvPr id="62" name="Freeform 62"/>
          <p:cNvSpPr/>
          <p:nvPr/>
        </p:nvSpPr>
        <p:spPr>
          <a:xfrm rot="-10800000">
            <a:off x="1012635" y="-2476770"/>
            <a:ext cx="17250407" cy="7915791"/>
          </a:xfrm>
          <a:custGeom>
            <a:avLst/>
            <a:gdLst/>
            <a:ahLst/>
            <a:cxnLst/>
            <a:rect l="l" t="t" r="r" b="b"/>
            <a:pathLst>
              <a:path w="23061399" h="10582314">
                <a:moveTo>
                  <a:pt x="0" y="0"/>
                </a:moveTo>
                <a:lnTo>
                  <a:pt x="23061399" y="0"/>
                </a:lnTo>
                <a:lnTo>
                  <a:pt x="23061399" y="10582313"/>
                </a:lnTo>
                <a:lnTo>
                  <a:pt x="0" y="105823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 l="-1182" t="-46909"/>
            </a:stretch>
          </a:blipFill>
        </p:spPr>
        <p:txBody>
          <a:bodyPr/>
          <a:lstStyle/>
          <a:p>
            <a:endParaRPr lang="pt-BR" sz="1055"/>
          </a:p>
        </p:txBody>
      </p:sp>
      <p:sp>
        <p:nvSpPr>
          <p:cNvPr id="63" name="Freeform 63"/>
          <p:cNvSpPr/>
          <p:nvPr/>
        </p:nvSpPr>
        <p:spPr>
          <a:xfrm rot="-5400000" flipH="1" flipV="1">
            <a:off x="1400489" y="-3429859"/>
            <a:ext cx="6678330" cy="7161748"/>
          </a:xfrm>
          <a:custGeom>
            <a:avLst/>
            <a:gdLst/>
            <a:ahLst/>
            <a:cxnLst/>
            <a:rect l="l" t="t" r="r" b="b"/>
            <a:pathLst>
              <a:path w="8928000" h="9574263">
                <a:moveTo>
                  <a:pt x="8928000" y="9574262"/>
                </a:moveTo>
                <a:lnTo>
                  <a:pt x="0" y="9574262"/>
                </a:lnTo>
                <a:lnTo>
                  <a:pt x="0" y="0"/>
                </a:lnTo>
                <a:lnTo>
                  <a:pt x="8928000" y="0"/>
                </a:lnTo>
                <a:lnTo>
                  <a:pt x="8928000" y="9574262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1055" dirty="0"/>
          </a:p>
        </p:txBody>
      </p:sp>
      <p:sp>
        <p:nvSpPr>
          <p:cNvPr id="64" name="Freeform 64"/>
          <p:cNvSpPr/>
          <p:nvPr/>
        </p:nvSpPr>
        <p:spPr>
          <a:xfrm rot="-5400000">
            <a:off x="12831749" y="425273"/>
            <a:ext cx="2963822" cy="7143301"/>
          </a:xfrm>
          <a:custGeom>
            <a:avLst/>
            <a:gdLst/>
            <a:ahLst/>
            <a:cxnLst/>
            <a:rect l="l" t="t" r="r" b="b"/>
            <a:pathLst>
              <a:path w="3727401" h="9472195">
                <a:moveTo>
                  <a:pt x="0" y="0"/>
                </a:moveTo>
                <a:lnTo>
                  <a:pt x="3727402" y="0"/>
                </a:lnTo>
                <a:lnTo>
                  <a:pt x="3727402" y="9472195"/>
                </a:lnTo>
                <a:lnTo>
                  <a:pt x="0" y="947219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 l="-139523" b="-1077"/>
            </a:stretch>
          </a:blipFill>
        </p:spPr>
        <p:txBody>
          <a:bodyPr/>
          <a:lstStyle/>
          <a:p>
            <a:endParaRPr lang="pt-BR" sz="1055"/>
          </a:p>
        </p:txBody>
      </p:sp>
      <p:sp>
        <p:nvSpPr>
          <p:cNvPr id="65" name="Freeform 65"/>
          <p:cNvSpPr/>
          <p:nvPr/>
        </p:nvSpPr>
        <p:spPr>
          <a:xfrm>
            <a:off x="3403622" y="1023509"/>
            <a:ext cx="9698847" cy="2355666"/>
          </a:xfrm>
          <a:custGeom>
            <a:avLst/>
            <a:gdLst/>
            <a:ahLst/>
            <a:cxnLst/>
            <a:rect l="l" t="t" r="r" b="b"/>
            <a:pathLst>
              <a:path w="12966012" h="3149199">
                <a:moveTo>
                  <a:pt x="0" y="0"/>
                </a:moveTo>
                <a:lnTo>
                  <a:pt x="12966011" y="0"/>
                </a:lnTo>
                <a:lnTo>
                  <a:pt x="12966011" y="3149198"/>
                </a:lnTo>
                <a:lnTo>
                  <a:pt x="0" y="314919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pt-BR" sz="1055"/>
          </a:p>
        </p:txBody>
      </p:sp>
      <p:sp>
        <p:nvSpPr>
          <p:cNvPr id="66" name="Freeform 66"/>
          <p:cNvSpPr/>
          <p:nvPr/>
        </p:nvSpPr>
        <p:spPr>
          <a:xfrm>
            <a:off x="7100495" y="3417093"/>
            <a:ext cx="6193468" cy="1647803"/>
          </a:xfrm>
          <a:custGeom>
            <a:avLst/>
            <a:gdLst/>
            <a:ahLst/>
            <a:cxnLst/>
            <a:rect l="l" t="t" r="r" b="b"/>
            <a:pathLst>
              <a:path w="8279807" h="2202884">
                <a:moveTo>
                  <a:pt x="0" y="0"/>
                </a:moveTo>
                <a:lnTo>
                  <a:pt x="8279807" y="0"/>
                </a:lnTo>
                <a:lnTo>
                  <a:pt x="8279807" y="2202884"/>
                </a:lnTo>
                <a:lnTo>
                  <a:pt x="0" y="220288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pt-BR" sz="1055"/>
          </a:p>
        </p:txBody>
      </p:sp>
      <p:sp>
        <p:nvSpPr>
          <p:cNvPr id="67" name="TextBox 67"/>
          <p:cNvSpPr txBox="1"/>
          <p:nvPr/>
        </p:nvSpPr>
        <p:spPr>
          <a:xfrm>
            <a:off x="1308166" y="9026724"/>
            <a:ext cx="16626875" cy="28084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88"/>
              </a:lnSpc>
            </a:pPr>
            <a:r>
              <a:rPr lang="pt-BR" sz="2991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Daniel Kennedy Domingos da </a:t>
            </a:r>
            <a:r>
              <a:rPr lang="pt-BR" sz="2991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Silva</a:t>
            </a:r>
            <a:r>
              <a:rPr lang="en-US" sz="2991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¹</a:t>
            </a:r>
            <a:r>
              <a:rPr lang="en-US" sz="2991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Alberto Ferreira da </a:t>
            </a:r>
            <a:r>
              <a:rPr lang="en-US" sz="2991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Silva² e Jefferson </a:t>
            </a:r>
            <a:r>
              <a:rPr lang="en-US" sz="2991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Bezerra</a:t>
            </a:r>
            <a:r>
              <a:rPr lang="en-US" sz="2991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dos Santos</a:t>
            </a:r>
            <a:r>
              <a:rPr lang="en-US" sz="2991" baseline="300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3</a:t>
            </a:r>
            <a:endParaRPr lang="en-US" sz="2991" baseline="30000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algn="ctr">
              <a:lnSpc>
                <a:spcPts val="4188"/>
              </a:lnSpc>
            </a:pPr>
            <a:r>
              <a:rPr lang="en-US" sz="2244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     ¹ </a:t>
            </a:r>
            <a:r>
              <a:rPr lang="en-US" sz="2244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Discente</a:t>
            </a:r>
            <a:r>
              <a:rPr lang="en-US" sz="2244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da EREFEM </a:t>
            </a:r>
            <a:r>
              <a:rPr lang="en-US" sz="2244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Monsehor</a:t>
            </a:r>
            <a:r>
              <a:rPr lang="en-US" sz="2244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José </a:t>
            </a:r>
            <a:r>
              <a:rPr lang="en-US" sz="2244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Kerhle</a:t>
            </a:r>
            <a:r>
              <a:rPr lang="en-US" sz="2244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danielkennedi121@gmail.com</a:t>
            </a:r>
            <a:r>
              <a:rPr lang="en-US" sz="2244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</a:t>
            </a:r>
            <a:r>
              <a:rPr lang="en-US" sz="2244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Arcoverde</a:t>
            </a:r>
            <a:r>
              <a:rPr lang="en-US" sz="2244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Pernambuco</a:t>
            </a:r>
          </a:p>
          <a:p>
            <a:pPr algn="ctr">
              <a:lnSpc>
                <a:spcPts val="4188"/>
              </a:lnSpc>
            </a:pPr>
            <a:r>
              <a:rPr lang="en-US" sz="2244" baseline="300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  2 </a:t>
            </a:r>
            <a:r>
              <a:rPr lang="en-US" sz="2244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Discente</a:t>
            </a:r>
            <a:r>
              <a:rPr lang="en-US" sz="2244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da EREFEM </a:t>
            </a:r>
            <a:r>
              <a:rPr lang="en-US" sz="2244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Monsehor</a:t>
            </a:r>
            <a:r>
              <a:rPr lang="en-US" sz="2244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José </a:t>
            </a:r>
            <a:r>
              <a:rPr lang="en-US" sz="2244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Kerhle</a:t>
            </a:r>
            <a:r>
              <a:rPr lang="en-US" sz="2244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</a:t>
            </a:r>
            <a:r>
              <a:rPr lang="en-US" sz="2244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bettoosilva000@gmail.com, </a:t>
            </a:r>
            <a:r>
              <a:rPr lang="en-US" sz="2244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Arcoverde</a:t>
            </a:r>
            <a:r>
              <a:rPr lang="en-US" sz="2244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Pernambuco</a:t>
            </a:r>
          </a:p>
          <a:p>
            <a:pPr algn="ctr">
              <a:lnSpc>
                <a:spcPts val="3142"/>
              </a:lnSpc>
              <a:spcBef>
                <a:spcPct val="0"/>
              </a:spcBef>
            </a:pPr>
            <a:r>
              <a:rPr lang="en-US" sz="2244" baseline="300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 </a:t>
            </a:r>
            <a:r>
              <a:rPr lang="en-US" sz="2244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                                      </a:t>
            </a:r>
            <a:r>
              <a:rPr lang="en-US" sz="2244" baseline="300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3</a:t>
            </a:r>
            <a:r>
              <a:rPr lang="en-US" sz="2244" baseline="300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2244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Professor </a:t>
            </a:r>
            <a:r>
              <a:rPr lang="en-US" sz="2244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da EREFEM </a:t>
            </a:r>
            <a:r>
              <a:rPr lang="en-US" sz="2244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Monsehor</a:t>
            </a:r>
            <a:r>
              <a:rPr lang="en-US" sz="2244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José </a:t>
            </a:r>
            <a:r>
              <a:rPr lang="en-US" sz="2244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Kerhle</a:t>
            </a:r>
            <a:r>
              <a:rPr lang="en-US" sz="2244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</a:t>
            </a:r>
            <a:r>
              <a:rPr lang="en-US" sz="2244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jefferson.bsantos42@professor.educacao.pe.gov.br, </a:t>
            </a:r>
            <a:r>
              <a:rPr lang="en-US" sz="2244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Arcoverde</a:t>
            </a:r>
            <a:r>
              <a:rPr lang="en-US" sz="2244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</a:t>
            </a:r>
            <a:r>
              <a:rPr lang="en-US" sz="2244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Pernambuco</a:t>
            </a:r>
          </a:p>
          <a:p>
            <a:pPr algn="ctr">
              <a:lnSpc>
                <a:spcPts val="3142"/>
              </a:lnSpc>
              <a:spcBef>
                <a:spcPct val="0"/>
              </a:spcBef>
            </a:pPr>
            <a:endParaRPr lang="en-US" sz="2244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algn="ctr">
              <a:lnSpc>
                <a:spcPts val="3142"/>
              </a:lnSpc>
              <a:spcBef>
                <a:spcPct val="0"/>
              </a:spcBef>
            </a:pPr>
            <a:endParaRPr lang="en-US" sz="2244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8" name="TextBox 68"/>
          <p:cNvSpPr txBox="1"/>
          <p:nvPr/>
        </p:nvSpPr>
        <p:spPr>
          <a:xfrm>
            <a:off x="1639214" y="5889161"/>
            <a:ext cx="15847404" cy="1897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49"/>
              </a:lnSpc>
            </a:pPr>
            <a:r>
              <a:rPr lang="en-US" sz="13498" b="1" dirty="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FEIRA DE CIÊNCIAS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224105" y="7384445"/>
            <a:ext cx="16592959" cy="16927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582"/>
              </a:lnSpc>
            </a:pPr>
            <a:r>
              <a:rPr lang="pt-BR" sz="3740" dirty="0">
                <a:latin typeface="Oswald" panose="020B0604020202020204" charset="0"/>
              </a:rPr>
              <a:t>ROBÓTICA SUSTENTÁVEL: INTEGRAÇÃO DE MÃO ROBÓTICA COM VISÃO COMPUTACIONAL E ANIMATRÔNICO COM MATERIAIS RECICLÁVEIS</a:t>
            </a:r>
            <a:r>
              <a:rPr lang="en-US" sz="2693" dirty="0">
                <a:solidFill>
                  <a:srgbClr val="684769"/>
                </a:solidFill>
                <a:latin typeface="Oswald" panose="020B0604020202020204" charset="0"/>
                <a:ea typeface="Oswald"/>
                <a:cs typeface="Oswald"/>
                <a:sym typeface="Oswald"/>
              </a:rPr>
              <a:t> </a:t>
            </a:r>
            <a:endParaRPr lang="en-US" sz="2693" dirty="0">
              <a:solidFill>
                <a:srgbClr val="684769"/>
              </a:solidFill>
              <a:latin typeface="Oswald" panose="020B0604020202020204" charset="0"/>
              <a:ea typeface="Oswald"/>
              <a:cs typeface="Oswald"/>
              <a:sym typeface="Oswald"/>
            </a:endParaRPr>
          </a:p>
        </p:txBody>
      </p:sp>
      <p:sp>
        <p:nvSpPr>
          <p:cNvPr id="70" name="TextBox 70"/>
          <p:cNvSpPr txBox="1"/>
          <p:nvPr/>
        </p:nvSpPr>
        <p:spPr>
          <a:xfrm>
            <a:off x="2691582" y="11809843"/>
            <a:ext cx="5674909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2"/>
              </a:lnSpc>
            </a:pPr>
            <a:r>
              <a:rPr lang="en-US" sz="5984" b="1" dirty="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INTRODUÇÃO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943500" y="19660157"/>
            <a:ext cx="9098551" cy="859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65"/>
              </a:lnSpc>
            </a:pPr>
            <a:r>
              <a:rPr lang="en-US" sz="6059" b="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OBJETIVOS</a:t>
            </a:r>
          </a:p>
        </p:txBody>
      </p:sp>
      <p:grpSp>
        <p:nvGrpSpPr>
          <p:cNvPr id="72" name="Group 72"/>
          <p:cNvGrpSpPr/>
          <p:nvPr/>
        </p:nvGrpSpPr>
        <p:grpSpPr>
          <a:xfrm>
            <a:off x="2202554" y="23918343"/>
            <a:ext cx="6961757" cy="1867961"/>
            <a:chOff x="0" y="0"/>
            <a:chExt cx="1269336" cy="340585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269336" cy="340585"/>
            </a:xfrm>
            <a:custGeom>
              <a:avLst/>
              <a:gdLst/>
              <a:ahLst/>
              <a:cxnLst/>
              <a:rect l="l" t="t" r="r" b="b"/>
              <a:pathLst>
                <a:path w="1269336" h="340585">
                  <a:moveTo>
                    <a:pt x="0" y="0"/>
                  </a:moveTo>
                  <a:lnTo>
                    <a:pt x="1269336" y="0"/>
                  </a:lnTo>
                  <a:lnTo>
                    <a:pt x="1269336" y="340585"/>
                  </a:lnTo>
                  <a:lnTo>
                    <a:pt x="0" y="340585"/>
                  </a:lnTo>
                  <a:close/>
                </a:path>
              </a:pathLst>
            </a:custGeom>
            <a:solidFill>
              <a:srgbClr val="099594"/>
            </a:solidFill>
          </p:spPr>
          <p:txBody>
            <a:bodyPr/>
            <a:lstStyle/>
            <a:p>
              <a:endParaRPr lang="pt-BR" sz="1055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0" y="-95250"/>
              <a:ext cx="1269336" cy="435835"/>
            </a:xfrm>
            <a:prstGeom prst="rect">
              <a:avLst/>
            </a:prstGeom>
          </p:spPr>
          <p:txBody>
            <a:bodyPr lIns="37130" tIns="37130" rIns="37130" bIns="37130" rtlCol="0" anchor="ctr"/>
            <a:lstStyle/>
            <a:p>
              <a:pPr algn="ctr">
                <a:lnSpc>
                  <a:spcPts val="4317"/>
                </a:lnSpc>
              </a:pPr>
              <a:endParaRPr sz="1055"/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2045265" y="23878333"/>
            <a:ext cx="6882453" cy="1573019"/>
            <a:chOff x="0" y="0"/>
            <a:chExt cx="1254876" cy="286808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1254876" cy="286808"/>
            </a:xfrm>
            <a:custGeom>
              <a:avLst/>
              <a:gdLst/>
              <a:ahLst/>
              <a:cxnLst/>
              <a:rect l="l" t="t" r="r" b="b"/>
              <a:pathLst>
                <a:path w="1254876" h="286808">
                  <a:moveTo>
                    <a:pt x="0" y="0"/>
                  </a:moveTo>
                  <a:lnTo>
                    <a:pt x="1254876" y="0"/>
                  </a:lnTo>
                  <a:lnTo>
                    <a:pt x="1254876" y="286808"/>
                  </a:lnTo>
                  <a:lnTo>
                    <a:pt x="0" y="286808"/>
                  </a:lnTo>
                  <a:close/>
                </a:path>
              </a:pathLst>
            </a:custGeom>
            <a:solidFill>
              <a:srgbClr val="684769"/>
            </a:solidFill>
          </p:spPr>
          <p:txBody>
            <a:bodyPr/>
            <a:lstStyle/>
            <a:p>
              <a:endParaRPr lang="pt-BR" sz="1055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0" y="-95250"/>
              <a:ext cx="1254876" cy="382058"/>
            </a:xfrm>
            <a:prstGeom prst="rect">
              <a:avLst/>
            </a:prstGeom>
          </p:spPr>
          <p:txBody>
            <a:bodyPr lIns="37130" tIns="37130" rIns="37130" bIns="37130" rtlCol="0" anchor="ctr"/>
            <a:lstStyle/>
            <a:p>
              <a:pPr algn="ctr">
                <a:lnSpc>
                  <a:spcPts val="4317"/>
                </a:lnSpc>
              </a:pPr>
              <a:endParaRPr sz="1055"/>
            </a:p>
          </p:txBody>
        </p:sp>
      </p:grpSp>
      <p:sp>
        <p:nvSpPr>
          <p:cNvPr id="78" name="TextBox 78"/>
          <p:cNvSpPr txBox="1"/>
          <p:nvPr/>
        </p:nvSpPr>
        <p:spPr>
          <a:xfrm>
            <a:off x="565195" y="24184733"/>
            <a:ext cx="9993431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1"/>
              </a:lnSpc>
            </a:pPr>
            <a:r>
              <a:rPr lang="en-US" sz="5846" b="1" dirty="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MATERIAL E MÉTODOS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0111186" y="11990943"/>
            <a:ext cx="7178749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2"/>
              </a:lnSpc>
            </a:pPr>
            <a:r>
              <a:rPr lang="en-US" sz="5984" b="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RESULTADOS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1498061" y="18396831"/>
            <a:ext cx="4722632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2"/>
              </a:lnSpc>
            </a:pPr>
            <a:r>
              <a:rPr lang="en-US" sz="5984" b="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CONCLUSÃO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0320667" y="19474910"/>
            <a:ext cx="6596587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3"/>
              </a:lnSpc>
              <a:spcBef>
                <a:spcPct val="0"/>
              </a:spcBef>
            </a:pPr>
            <a:endParaRPr lang="en-US" sz="1945" dirty="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2" name="TextBox 82"/>
          <p:cNvSpPr txBox="1"/>
          <p:nvPr/>
        </p:nvSpPr>
        <p:spPr>
          <a:xfrm>
            <a:off x="1827003" y="13183777"/>
            <a:ext cx="7419889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141"/>
              </a:lnSpc>
              <a:spcBef>
                <a:spcPct val="0"/>
              </a:spcBef>
            </a:pPr>
            <a:endParaRPr lang="en-US" sz="2243" dirty="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3" name="TextBox 83"/>
          <p:cNvSpPr txBox="1"/>
          <p:nvPr/>
        </p:nvSpPr>
        <p:spPr>
          <a:xfrm>
            <a:off x="1737619" y="20741775"/>
            <a:ext cx="7637309" cy="6445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endParaRPr lang="pt-BR" sz="2094" dirty="0">
              <a:latin typeface="Oswald" panose="020B0604020202020204" charset="0"/>
            </a:endParaRPr>
          </a:p>
          <a:p>
            <a:endParaRPr lang="pt-BR" sz="2094" dirty="0">
              <a:latin typeface="Oswald" panose="020B0604020202020204" charset="0"/>
            </a:endParaRPr>
          </a:p>
        </p:txBody>
      </p:sp>
      <p:grpSp>
        <p:nvGrpSpPr>
          <p:cNvPr id="84" name="Group 84"/>
          <p:cNvGrpSpPr/>
          <p:nvPr/>
        </p:nvGrpSpPr>
        <p:grpSpPr>
          <a:xfrm>
            <a:off x="1512012" y="25593116"/>
            <a:ext cx="8206531" cy="5344133"/>
            <a:chOff x="-40113" y="-147236"/>
            <a:chExt cx="1462050" cy="1180773"/>
          </a:xfrm>
        </p:grpSpPr>
        <p:sp>
          <p:nvSpPr>
            <p:cNvPr id="85" name="Freeform 85"/>
            <p:cNvSpPr/>
            <p:nvPr/>
          </p:nvSpPr>
          <p:spPr>
            <a:xfrm>
              <a:off x="-40113" y="-147236"/>
              <a:ext cx="1462050" cy="1180773"/>
            </a:xfrm>
            <a:custGeom>
              <a:avLst/>
              <a:gdLst/>
              <a:ahLst/>
              <a:cxnLst/>
              <a:rect l="l" t="t" r="r" b="b"/>
              <a:pathLst>
                <a:path w="1328790" h="1025882">
                  <a:moveTo>
                    <a:pt x="0" y="0"/>
                  </a:moveTo>
                  <a:lnTo>
                    <a:pt x="1328790" y="0"/>
                  </a:lnTo>
                  <a:lnTo>
                    <a:pt x="1328790" y="1025882"/>
                  </a:lnTo>
                  <a:lnTo>
                    <a:pt x="0" y="1025882"/>
                  </a:lnTo>
                  <a:close/>
                </a:path>
              </a:pathLst>
            </a:custGeom>
            <a:solidFill>
              <a:srgbClr val="E3D9D1">
                <a:alpha val="63922"/>
              </a:srgbClr>
            </a:solidFill>
          </p:spPr>
          <p:txBody>
            <a:bodyPr/>
            <a:lstStyle/>
            <a:p>
              <a:pPr algn="just"/>
              <a:endParaRPr lang="pt-BR" sz="2094" dirty="0">
                <a:latin typeface="Oswald" panose="020B0604020202020204" charset="0"/>
              </a:endParaRPr>
            </a:p>
            <a:p>
              <a:pPr algn="just"/>
              <a:r>
                <a:rPr lang="pt-BR" sz="2094" dirty="0">
                  <a:latin typeface="Oswald" panose="020B0604020202020204" charset="0"/>
                </a:rPr>
                <a:t>A metodologia adotada baseou-se na construção de dois sistemas robóticos com enfoque sustentável. O primeiro, uma mão robótica, foi confeccionado com materiais recicláveis e equipado com um sistema de visão computacional para replicar movimentos humanos em tempo real, a partir de algoritmos de mapeamento de pontos de referência. O segundo, um </a:t>
              </a:r>
              <a:r>
                <a:rPr lang="pt-BR" sz="2094" dirty="0" err="1">
                  <a:latin typeface="Oswald" panose="020B0604020202020204" charset="0"/>
                </a:rPr>
                <a:t>animatrônico</a:t>
              </a:r>
              <a:r>
                <a:rPr lang="pt-BR" sz="2094" dirty="0">
                  <a:latin typeface="Oswald" panose="020B0604020202020204" charset="0"/>
                </a:rPr>
                <a:t>, </a:t>
              </a:r>
              <a:r>
                <a:rPr lang="pt-BR" sz="2094" dirty="0">
                  <a:latin typeface="Oswald" panose="020B0604020202020204" charset="0"/>
                </a:rPr>
                <a:t>foi desenvolvido a partir de resíduos como papelão, arame, palitos e MDF, sendo controlado por </a:t>
              </a:r>
              <a:r>
                <a:rPr lang="pt-BR" sz="2094" dirty="0" err="1">
                  <a:latin typeface="Oswald" panose="020B0604020202020204" charset="0"/>
                </a:rPr>
                <a:t>microcontrolador</a:t>
              </a:r>
              <a:r>
                <a:rPr lang="pt-BR" sz="2094" dirty="0">
                  <a:latin typeface="Oswald" panose="020B0604020202020204" charset="0"/>
                </a:rPr>
                <a:t> </a:t>
              </a:r>
              <a:r>
                <a:rPr lang="pt-BR" sz="2094" dirty="0" err="1">
                  <a:latin typeface="Oswald" panose="020B0604020202020204" charset="0"/>
                </a:rPr>
                <a:t>Arduino</a:t>
              </a:r>
              <a:r>
                <a:rPr lang="pt-BR" sz="2094" dirty="0">
                  <a:latin typeface="Oswald" panose="020B0604020202020204" charset="0"/>
                </a:rPr>
                <a:t> e </a:t>
              </a:r>
              <a:r>
                <a:rPr lang="pt-BR" sz="2094" dirty="0" err="1">
                  <a:latin typeface="Oswald" panose="020B0604020202020204" charset="0"/>
                </a:rPr>
                <a:t>servomotores</a:t>
              </a:r>
              <a:r>
                <a:rPr lang="pt-BR" sz="2094" dirty="0">
                  <a:latin typeface="Oswald" panose="020B0604020202020204" charset="0"/>
                </a:rPr>
                <a:t>. 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0" y="-95250"/>
              <a:ext cx="1328790" cy="1121132"/>
            </a:xfrm>
            <a:prstGeom prst="rect">
              <a:avLst/>
            </a:prstGeom>
          </p:spPr>
          <p:txBody>
            <a:bodyPr lIns="37999" tIns="37999" rIns="37999" bIns="37999" rtlCol="0" anchor="ctr"/>
            <a:lstStyle/>
            <a:p>
              <a:pPr algn="ctr">
                <a:lnSpc>
                  <a:spcPts val="4317"/>
                </a:lnSpc>
              </a:pPr>
              <a:endParaRPr sz="1055"/>
            </a:p>
          </p:txBody>
        </p:sp>
      </p:grpSp>
      <p:pic>
        <p:nvPicPr>
          <p:cNvPr id="25" name="Imagem 24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1688995" y="28660510"/>
            <a:ext cx="1516959" cy="1644777"/>
          </a:xfrm>
          <a:prstGeom prst="rect">
            <a:avLst/>
          </a:prstGeom>
        </p:spPr>
      </p:pic>
      <p:sp>
        <p:nvSpPr>
          <p:cNvPr id="88" name="CaixaDeTexto 87"/>
          <p:cNvSpPr txBox="1"/>
          <p:nvPr/>
        </p:nvSpPr>
        <p:spPr>
          <a:xfrm>
            <a:off x="1639213" y="28299814"/>
            <a:ext cx="3155574" cy="322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96" b="1" dirty="0">
                <a:latin typeface="Oswald" panose="020B0604020202020204" charset="0"/>
              </a:rPr>
              <a:t>Figura 1: </a:t>
            </a:r>
            <a:r>
              <a:rPr lang="pt-BR" sz="1496" dirty="0">
                <a:latin typeface="Oswald" panose="020B0604020202020204" charset="0"/>
              </a:rPr>
              <a:t>Imagem do circuito da  mão.</a:t>
            </a:r>
            <a:endParaRPr lang="pt-BR" sz="1496" dirty="0">
              <a:latin typeface="Oswald" panose="020B0604020202020204" charset="0"/>
            </a:endParaRPr>
          </a:p>
        </p:txBody>
      </p:sp>
      <p:pic>
        <p:nvPicPr>
          <p:cNvPr id="89" name="Imagem 88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718" y="28624765"/>
            <a:ext cx="1666399" cy="1658951"/>
          </a:xfrm>
          <a:prstGeom prst="rect">
            <a:avLst/>
          </a:prstGeom>
        </p:spPr>
      </p:pic>
      <p:sp>
        <p:nvSpPr>
          <p:cNvPr id="90" name="CaixaDeTexto 89"/>
          <p:cNvSpPr txBox="1"/>
          <p:nvPr/>
        </p:nvSpPr>
        <p:spPr>
          <a:xfrm flipH="1">
            <a:off x="5561910" y="28350028"/>
            <a:ext cx="3144060" cy="254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5" b="1" dirty="0">
                <a:latin typeface="Oswald" panose="020B0604020202020204" charset="0"/>
              </a:rPr>
              <a:t>Figura </a:t>
            </a:r>
            <a:r>
              <a:rPr lang="pt-BR" sz="1055" b="1" dirty="0">
                <a:latin typeface="Oswald" panose="020B0604020202020204" charset="0"/>
              </a:rPr>
              <a:t>2: </a:t>
            </a:r>
            <a:r>
              <a:rPr lang="pt-BR" sz="1055" dirty="0">
                <a:latin typeface="Oswald" panose="020B0604020202020204" charset="0"/>
              </a:rPr>
              <a:t>Imagem do circuito </a:t>
            </a:r>
            <a:r>
              <a:rPr lang="pt-BR" sz="1055" dirty="0">
                <a:latin typeface="Oswald" panose="020B0604020202020204" charset="0"/>
              </a:rPr>
              <a:t>do </a:t>
            </a:r>
            <a:r>
              <a:rPr lang="pt-BR" sz="1055" dirty="0" err="1">
                <a:latin typeface="Oswald" panose="020B0604020202020204" charset="0"/>
              </a:rPr>
              <a:t>animatrônico</a:t>
            </a:r>
            <a:r>
              <a:rPr lang="pt-BR" sz="1055" dirty="0">
                <a:latin typeface="Oswald" panose="020B0604020202020204" charset="0"/>
              </a:rPr>
              <a:t>.</a:t>
            </a:r>
            <a:endParaRPr lang="pt-BR" sz="1055" dirty="0"/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1628" y="28682081"/>
            <a:ext cx="1798866" cy="1601634"/>
          </a:xfrm>
          <a:prstGeom prst="rect">
            <a:avLst/>
          </a:prstGeom>
        </p:spPr>
      </p:pic>
      <p:pic>
        <p:nvPicPr>
          <p:cNvPr id="24" name="Imagem 23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5893" y="28683668"/>
            <a:ext cx="1554155" cy="1600047"/>
          </a:xfrm>
          <a:prstGeom prst="rect">
            <a:avLst/>
          </a:prstGeom>
        </p:spPr>
      </p:pic>
      <p:sp>
        <p:nvSpPr>
          <p:cNvPr id="87" name="CaixaDeTexto 86"/>
          <p:cNvSpPr txBox="1"/>
          <p:nvPr/>
        </p:nvSpPr>
        <p:spPr>
          <a:xfrm>
            <a:off x="1716029" y="30444414"/>
            <a:ext cx="2646349" cy="254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5" b="1" dirty="0">
                <a:latin typeface="Oswald" panose="020B0604020202020204" charset="0"/>
              </a:rPr>
              <a:t>Fonte</a:t>
            </a:r>
            <a:r>
              <a:rPr lang="pt-BR" sz="1055" dirty="0">
                <a:latin typeface="Oswald" panose="020B0604020202020204" charset="0"/>
              </a:rPr>
              <a:t>: Autor </a:t>
            </a:r>
            <a:endParaRPr lang="pt-BR" sz="1055" dirty="0">
              <a:latin typeface="Oswald" panose="020B0604020202020204" charset="0"/>
            </a:endParaRPr>
          </a:p>
        </p:txBody>
      </p:sp>
      <p:sp>
        <p:nvSpPr>
          <p:cNvPr id="91" name="CaixaDeTexto 90"/>
          <p:cNvSpPr txBox="1"/>
          <p:nvPr/>
        </p:nvSpPr>
        <p:spPr>
          <a:xfrm>
            <a:off x="5452940" y="30420749"/>
            <a:ext cx="2646349" cy="254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5" b="1" dirty="0">
                <a:latin typeface="Oswald" panose="020B0604020202020204" charset="0"/>
              </a:rPr>
              <a:t>Fonte</a:t>
            </a:r>
            <a:r>
              <a:rPr lang="pt-BR" sz="1055" dirty="0">
                <a:latin typeface="Oswald" panose="020B0604020202020204" charset="0"/>
              </a:rPr>
              <a:t>: Autor </a:t>
            </a:r>
            <a:endParaRPr lang="pt-BR" sz="1055" dirty="0">
              <a:latin typeface="Oswald" panose="020B06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</TotalTime>
  <Words>746</Words>
  <Application>Microsoft Office PowerPoint</Application>
  <PresentationFormat>Personalizar</PresentationFormat>
  <Paragraphs>42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Oswald</vt:lpstr>
      <vt:lpstr>Oswald Bold</vt:lpstr>
      <vt:lpstr>Calibri</vt:lpstr>
      <vt:lpstr>Arial</vt:lpstr>
      <vt:lpstr>Office Theme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Cópia de Banner Jovem_FEIRA DE CIÊNCIAS</dc:title>
  <dc:creator>Jeffrey24</dc:creator>
  <cp:lastModifiedBy>Jeffrey24</cp:lastModifiedBy>
  <cp:revision>45</cp:revision>
  <dcterms:created xsi:type="dcterms:W3CDTF">2006-08-16T00:00:00Z</dcterms:created>
  <dcterms:modified xsi:type="dcterms:W3CDTF">2025-07-15T16:26:55Z</dcterms:modified>
  <dc:identifier>DAGrraieB0A</dc:identifier>
</cp:coreProperties>
</file>