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9080163" cy="34199513"/>
  <p:notesSz cx="6858000" cy="9144000"/>
  <p:embeddedFontLst>
    <p:embeddedFont>
      <p:font typeface="Oswald" panose="020B0604020202020204" charset="0"/>
      <p:regular r:id="rId3"/>
      <p:bold r:id="rId4"/>
    </p:embeddedFont>
    <p:embeddedFont>
      <p:font typeface="Oswald Bold" panose="020B0604020202020204" charset="0"/>
      <p:regular r:id="rId5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1pPr>
    <a:lvl2pPr marL="358033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2pPr>
    <a:lvl3pPr marL="716067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3pPr>
    <a:lvl4pPr marL="1074100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4pPr>
    <a:lvl5pPr marL="1432133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5pPr>
    <a:lvl6pPr marL="1790167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6pPr>
    <a:lvl7pPr marL="2148200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7pPr>
    <a:lvl8pPr marL="2506233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8pPr>
    <a:lvl9pPr marL="2864267" algn="l" defTabSz="716067" rtl="0" eaLnBrk="1" latinLnBrk="0" hangingPunct="1">
      <a:defRPr sz="141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6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07" autoAdjust="0"/>
  </p:normalViewPr>
  <p:slideViewPr>
    <p:cSldViewPr>
      <p:cViewPr>
        <p:scale>
          <a:sx n="30" d="100"/>
          <a:sy n="30" d="100"/>
        </p:scale>
        <p:origin x="1288" y="-1660"/>
      </p:cViewPr>
      <p:guideLst>
        <p:guide orient="horz" pos="1616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14" y="1593603"/>
            <a:ext cx="6646021" cy="109960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27" y="2906959"/>
            <a:ext cx="5473194" cy="13109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1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39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5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67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099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1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38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358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35" y="3296454"/>
            <a:ext cx="6646021" cy="1018860"/>
          </a:xfrm>
        </p:spPr>
        <p:txBody>
          <a:bodyPr anchor="t"/>
          <a:lstStyle>
            <a:lvl1pPr algn="l">
              <a:defRPr sz="299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35" y="2174282"/>
            <a:ext cx="6646021" cy="1122171"/>
          </a:xfrm>
        </p:spPr>
        <p:txBody>
          <a:bodyPr anchor="b"/>
          <a:lstStyle>
            <a:lvl1pPr marL="0" indent="0">
              <a:buNone/>
              <a:defRPr sz="1496">
                <a:solidFill>
                  <a:schemeClr val="tx1">
                    <a:tint val="75000"/>
                  </a:schemeClr>
                </a:solidFill>
              </a:defRPr>
            </a:lvl1pPr>
            <a:lvl2pPr marL="341986" indent="0">
              <a:buNone/>
              <a:defRPr sz="1346">
                <a:solidFill>
                  <a:schemeClr val="tx1">
                    <a:tint val="75000"/>
                  </a:schemeClr>
                </a:solidFill>
              </a:defRPr>
            </a:lvl2pPr>
            <a:lvl3pPr marL="683971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3pPr>
            <a:lvl4pPr marL="1025957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4pPr>
            <a:lvl5pPr marL="1367942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5pPr>
            <a:lvl6pPr marL="1709928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6pPr>
            <a:lvl7pPr marL="2051914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7pPr>
            <a:lvl8pPr marL="2393899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8pPr>
            <a:lvl9pPr marL="2735885" indent="0">
              <a:buNone/>
              <a:defRPr sz="10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42" y="1196983"/>
            <a:ext cx="3453325" cy="3385515"/>
          </a:xfrm>
        </p:spPr>
        <p:txBody>
          <a:bodyPr/>
          <a:lstStyle>
            <a:lvl1pPr>
              <a:defRPr sz="2094"/>
            </a:lvl1pPr>
            <a:lvl2pPr>
              <a:defRPr sz="1795"/>
            </a:lvl2pPr>
            <a:lvl3pPr>
              <a:defRPr sz="1496"/>
            </a:lvl3pPr>
            <a:lvl4pPr>
              <a:defRPr sz="1346"/>
            </a:lvl4pPr>
            <a:lvl5pPr>
              <a:defRPr sz="1346"/>
            </a:lvl5pPr>
            <a:lvl6pPr>
              <a:defRPr sz="1346"/>
            </a:lvl6pPr>
            <a:lvl7pPr>
              <a:defRPr sz="1346"/>
            </a:lvl7pPr>
            <a:lvl8pPr>
              <a:defRPr sz="1346"/>
            </a:lvl8pPr>
            <a:lvl9pPr>
              <a:defRPr sz="13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581" y="1196983"/>
            <a:ext cx="3453325" cy="3385515"/>
          </a:xfrm>
        </p:spPr>
        <p:txBody>
          <a:bodyPr/>
          <a:lstStyle>
            <a:lvl1pPr>
              <a:defRPr sz="2094"/>
            </a:lvl1pPr>
            <a:lvl2pPr>
              <a:defRPr sz="1795"/>
            </a:lvl2pPr>
            <a:lvl3pPr>
              <a:defRPr sz="1496"/>
            </a:lvl3pPr>
            <a:lvl4pPr>
              <a:defRPr sz="1346"/>
            </a:lvl4pPr>
            <a:lvl5pPr>
              <a:defRPr sz="1346"/>
            </a:lvl5pPr>
            <a:lvl6pPr>
              <a:defRPr sz="1346"/>
            </a:lvl6pPr>
            <a:lvl7pPr>
              <a:defRPr sz="1346"/>
            </a:lvl7pPr>
            <a:lvl8pPr>
              <a:defRPr sz="1346"/>
            </a:lvl8pPr>
            <a:lvl9pPr>
              <a:defRPr sz="134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42" y="1148297"/>
            <a:ext cx="3454683" cy="478555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86" indent="0">
              <a:buNone/>
              <a:defRPr sz="1496" b="1"/>
            </a:lvl2pPr>
            <a:lvl3pPr marL="683971" indent="0">
              <a:buNone/>
              <a:defRPr sz="1346" b="1"/>
            </a:lvl3pPr>
            <a:lvl4pPr marL="1025957" indent="0">
              <a:buNone/>
              <a:defRPr sz="1197" b="1"/>
            </a:lvl4pPr>
            <a:lvl5pPr marL="1367942" indent="0">
              <a:buNone/>
              <a:defRPr sz="1197" b="1"/>
            </a:lvl5pPr>
            <a:lvl6pPr marL="1709928" indent="0">
              <a:buNone/>
              <a:defRPr sz="1197" b="1"/>
            </a:lvl6pPr>
            <a:lvl7pPr marL="2051914" indent="0">
              <a:buNone/>
              <a:defRPr sz="1197" b="1"/>
            </a:lvl7pPr>
            <a:lvl8pPr marL="2393899" indent="0">
              <a:buNone/>
              <a:defRPr sz="1197" b="1"/>
            </a:lvl8pPr>
            <a:lvl9pPr marL="2735885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42" y="1626852"/>
            <a:ext cx="3454683" cy="2955646"/>
          </a:xfrm>
        </p:spPr>
        <p:txBody>
          <a:bodyPr/>
          <a:lstStyle>
            <a:lvl1pPr>
              <a:defRPr sz="1795"/>
            </a:lvl1pPr>
            <a:lvl2pPr>
              <a:defRPr sz="1496"/>
            </a:lvl2pPr>
            <a:lvl3pPr>
              <a:defRPr sz="1346"/>
            </a:lvl3pPr>
            <a:lvl4pPr>
              <a:defRPr sz="1197"/>
            </a:lvl4pPr>
            <a:lvl5pPr>
              <a:defRPr sz="1197"/>
            </a:lvl5pPr>
            <a:lvl6pPr>
              <a:defRPr sz="1197"/>
            </a:lvl6pPr>
            <a:lvl7pPr>
              <a:defRPr sz="1197"/>
            </a:lvl7pPr>
            <a:lvl8pPr>
              <a:defRPr sz="1197"/>
            </a:lvl8pPr>
            <a:lvl9pPr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867" y="1148297"/>
            <a:ext cx="3456040" cy="478555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1986" indent="0">
              <a:buNone/>
              <a:defRPr sz="1496" b="1"/>
            </a:lvl2pPr>
            <a:lvl3pPr marL="683971" indent="0">
              <a:buNone/>
              <a:defRPr sz="1346" b="1"/>
            </a:lvl3pPr>
            <a:lvl4pPr marL="1025957" indent="0">
              <a:buNone/>
              <a:defRPr sz="1197" b="1"/>
            </a:lvl4pPr>
            <a:lvl5pPr marL="1367942" indent="0">
              <a:buNone/>
              <a:defRPr sz="1197" b="1"/>
            </a:lvl5pPr>
            <a:lvl6pPr marL="1709928" indent="0">
              <a:buNone/>
              <a:defRPr sz="1197" b="1"/>
            </a:lvl6pPr>
            <a:lvl7pPr marL="2051914" indent="0">
              <a:buNone/>
              <a:defRPr sz="1197" b="1"/>
            </a:lvl7pPr>
            <a:lvl8pPr marL="2393899" indent="0">
              <a:buNone/>
              <a:defRPr sz="1197" b="1"/>
            </a:lvl8pPr>
            <a:lvl9pPr marL="2735885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867" y="1626852"/>
            <a:ext cx="3456040" cy="2955646"/>
          </a:xfrm>
        </p:spPr>
        <p:txBody>
          <a:bodyPr/>
          <a:lstStyle>
            <a:lvl1pPr>
              <a:defRPr sz="1795"/>
            </a:lvl1pPr>
            <a:lvl2pPr>
              <a:defRPr sz="1496"/>
            </a:lvl2pPr>
            <a:lvl3pPr>
              <a:defRPr sz="1346"/>
            </a:lvl3pPr>
            <a:lvl4pPr>
              <a:defRPr sz="1197"/>
            </a:lvl4pPr>
            <a:lvl5pPr>
              <a:defRPr sz="1197"/>
            </a:lvl5pPr>
            <a:lvl6pPr>
              <a:defRPr sz="1197"/>
            </a:lvl6pPr>
            <a:lvl7pPr>
              <a:defRPr sz="1197"/>
            </a:lvl7pPr>
            <a:lvl8pPr>
              <a:defRPr sz="1197"/>
            </a:lvl8pPr>
            <a:lvl9pPr>
              <a:defRPr sz="119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43" y="204247"/>
            <a:ext cx="2572347" cy="869238"/>
          </a:xfrm>
        </p:spPr>
        <p:txBody>
          <a:bodyPr anchor="b"/>
          <a:lstStyle>
            <a:lvl1pPr algn="l">
              <a:defRPr sz="14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6953" y="204247"/>
            <a:ext cx="4370954" cy="4378251"/>
          </a:xfrm>
        </p:spPr>
        <p:txBody>
          <a:bodyPr/>
          <a:lstStyle>
            <a:lvl1pPr>
              <a:defRPr sz="2394"/>
            </a:lvl1pPr>
            <a:lvl2pPr>
              <a:defRPr sz="2094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43" y="1073485"/>
            <a:ext cx="2572347" cy="3509013"/>
          </a:xfrm>
        </p:spPr>
        <p:txBody>
          <a:bodyPr/>
          <a:lstStyle>
            <a:lvl1pPr marL="0" indent="0">
              <a:buNone/>
              <a:defRPr sz="1047"/>
            </a:lvl1pPr>
            <a:lvl2pPr marL="341986" indent="0">
              <a:buNone/>
              <a:defRPr sz="898"/>
            </a:lvl2pPr>
            <a:lvl3pPr marL="683971" indent="0">
              <a:buNone/>
              <a:defRPr sz="748"/>
            </a:lvl3pPr>
            <a:lvl4pPr marL="1025957" indent="0">
              <a:buNone/>
              <a:defRPr sz="673"/>
            </a:lvl4pPr>
            <a:lvl5pPr marL="1367942" indent="0">
              <a:buNone/>
              <a:defRPr sz="673"/>
            </a:lvl5pPr>
            <a:lvl6pPr marL="1709928" indent="0">
              <a:buNone/>
              <a:defRPr sz="673"/>
            </a:lvl6pPr>
            <a:lvl7pPr marL="2051914" indent="0">
              <a:buNone/>
              <a:defRPr sz="673"/>
            </a:lvl7pPr>
            <a:lvl8pPr marL="2393899" indent="0">
              <a:buNone/>
              <a:defRPr sz="673"/>
            </a:lvl8pPr>
            <a:lvl9pPr marL="2735885" indent="0">
              <a:buNone/>
              <a:defRPr sz="6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49" y="3590949"/>
            <a:ext cx="4691309" cy="423932"/>
          </a:xfrm>
        </p:spPr>
        <p:txBody>
          <a:bodyPr anchor="b"/>
          <a:lstStyle>
            <a:lvl1pPr algn="l">
              <a:defRPr sz="149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49" y="458369"/>
            <a:ext cx="4691309" cy="3077956"/>
          </a:xfrm>
        </p:spPr>
        <p:txBody>
          <a:bodyPr/>
          <a:lstStyle>
            <a:lvl1pPr marL="0" indent="0">
              <a:buNone/>
              <a:defRPr sz="2394"/>
            </a:lvl1pPr>
            <a:lvl2pPr marL="341986" indent="0">
              <a:buNone/>
              <a:defRPr sz="2094"/>
            </a:lvl2pPr>
            <a:lvl3pPr marL="683971" indent="0">
              <a:buNone/>
              <a:defRPr sz="1795"/>
            </a:lvl3pPr>
            <a:lvl4pPr marL="1025957" indent="0">
              <a:buNone/>
              <a:defRPr sz="1496"/>
            </a:lvl4pPr>
            <a:lvl5pPr marL="1367942" indent="0">
              <a:buNone/>
              <a:defRPr sz="1496"/>
            </a:lvl5pPr>
            <a:lvl6pPr marL="1709928" indent="0">
              <a:buNone/>
              <a:defRPr sz="1496"/>
            </a:lvl6pPr>
            <a:lvl7pPr marL="2051914" indent="0">
              <a:buNone/>
              <a:defRPr sz="1496"/>
            </a:lvl7pPr>
            <a:lvl8pPr marL="2393899" indent="0">
              <a:buNone/>
              <a:defRPr sz="1496"/>
            </a:lvl8pPr>
            <a:lvl9pPr marL="2735885" indent="0">
              <a:buNone/>
              <a:defRPr sz="14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49" y="4014880"/>
            <a:ext cx="4691309" cy="602054"/>
          </a:xfrm>
        </p:spPr>
        <p:txBody>
          <a:bodyPr/>
          <a:lstStyle>
            <a:lvl1pPr marL="0" indent="0">
              <a:buNone/>
              <a:defRPr sz="1047"/>
            </a:lvl1pPr>
            <a:lvl2pPr marL="341986" indent="0">
              <a:buNone/>
              <a:defRPr sz="898"/>
            </a:lvl2pPr>
            <a:lvl3pPr marL="683971" indent="0">
              <a:buNone/>
              <a:defRPr sz="748"/>
            </a:lvl3pPr>
            <a:lvl4pPr marL="1025957" indent="0">
              <a:buNone/>
              <a:defRPr sz="673"/>
            </a:lvl4pPr>
            <a:lvl5pPr marL="1367942" indent="0">
              <a:buNone/>
              <a:defRPr sz="673"/>
            </a:lvl5pPr>
            <a:lvl6pPr marL="1709928" indent="0">
              <a:buNone/>
              <a:defRPr sz="673"/>
            </a:lvl6pPr>
            <a:lvl7pPr marL="2051914" indent="0">
              <a:buNone/>
              <a:defRPr sz="673"/>
            </a:lvl7pPr>
            <a:lvl8pPr marL="2393899" indent="0">
              <a:buNone/>
              <a:defRPr sz="673"/>
            </a:lvl8pPr>
            <a:lvl9pPr marL="2735885" indent="0">
              <a:buNone/>
              <a:defRPr sz="6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665" y="205435"/>
            <a:ext cx="1759241" cy="4377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42" y="205435"/>
            <a:ext cx="5147409" cy="43770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42" y="205435"/>
            <a:ext cx="7036964" cy="854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42" y="1196983"/>
            <a:ext cx="7036964" cy="3385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42" y="4754683"/>
            <a:ext cx="1824398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440" y="4754683"/>
            <a:ext cx="2475969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508" y="4754683"/>
            <a:ext cx="1824398" cy="273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3971" rtl="0" eaLnBrk="1" latinLnBrk="0" hangingPunct="1">
        <a:spcBef>
          <a:spcPct val="0"/>
        </a:spcBef>
        <a:buNone/>
        <a:defRPr sz="32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6489" indent="-256489" algn="l" defTabSz="683971" rtl="0" eaLnBrk="1" latinLnBrk="0" hangingPunct="1">
        <a:spcBef>
          <a:spcPct val="20000"/>
        </a:spcBef>
        <a:buFont typeface="Arial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555727" indent="-213741" algn="l" defTabSz="683971" rtl="0" eaLnBrk="1" latinLnBrk="0" hangingPunct="1">
        <a:spcBef>
          <a:spcPct val="20000"/>
        </a:spcBef>
        <a:buFont typeface="Arial" pitchFamily="34" charset="0"/>
        <a:buChar char="–"/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854964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196950" indent="-170993" algn="l" defTabSz="683971" rtl="0" eaLnBrk="1" latinLnBrk="0" hangingPunct="1">
        <a:spcBef>
          <a:spcPct val="20000"/>
        </a:spcBef>
        <a:buFont typeface="Arial" pitchFamily="34" charset="0"/>
        <a:buChar char="–"/>
        <a:defRPr sz="1496" kern="1200">
          <a:solidFill>
            <a:schemeClr val="tx1"/>
          </a:solidFill>
          <a:latin typeface="+mn-lt"/>
          <a:ea typeface="+mn-ea"/>
          <a:cs typeface="+mn-cs"/>
        </a:defRPr>
      </a:lvl4pPr>
      <a:lvl5pPr marL="1538935" indent="-170993" algn="l" defTabSz="683971" rtl="0" eaLnBrk="1" latinLnBrk="0" hangingPunct="1">
        <a:spcBef>
          <a:spcPct val="20000"/>
        </a:spcBef>
        <a:buFont typeface="Arial" pitchFamily="34" charset="0"/>
        <a:buChar char="»"/>
        <a:defRPr sz="1496" kern="1200">
          <a:solidFill>
            <a:schemeClr val="tx1"/>
          </a:solidFill>
          <a:latin typeface="+mn-lt"/>
          <a:ea typeface="+mn-ea"/>
          <a:cs typeface="+mn-cs"/>
        </a:defRPr>
      </a:lvl5pPr>
      <a:lvl6pPr marL="1880921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6pPr>
      <a:lvl7pPr marL="2222906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7pPr>
      <a:lvl8pPr marL="2564892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8pPr>
      <a:lvl9pPr marL="2906878" indent="-170993" algn="l" defTabSz="683971" rtl="0" eaLnBrk="1" latinLnBrk="0" hangingPunct="1">
        <a:spcBef>
          <a:spcPct val="20000"/>
        </a:spcBef>
        <a:buFont typeface="Arial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1pPr>
      <a:lvl2pPr marL="341986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2pPr>
      <a:lvl3pPr marL="683971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3pPr>
      <a:lvl4pPr marL="1025957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4pPr>
      <a:lvl5pPr marL="1367942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6pPr>
      <a:lvl7pPr marL="2051914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7pPr>
      <a:lvl8pPr marL="2393899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8pPr>
      <a:lvl9pPr marL="2735885" algn="l" defTabSz="683971" rtl="0" eaLnBrk="1" latinLnBrk="0" hangingPunct="1">
        <a:defRPr sz="134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1.jpeg"/><Relationship Id="rId2" Type="http://schemas.openxmlformats.org/officeDocument/2006/relationships/image" Target="../media/image1.png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e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4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63785" y="31451904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1"/>
                </a:lnTo>
                <a:lnTo>
                  <a:pt x="0" y="3673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grpSp>
        <p:nvGrpSpPr>
          <p:cNvPr id="3" name="Group 3"/>
          <p:cNvGrpSpPr/>
          <p:nvPr/>
        </p:nvGrpSpPr>
        <p:grpSpPr>
          <a:xfrm>
            <a:off x="1234449" y="5210845"/>
            <a:ext cx="16726533" cy="26060199"/>
            <a:chOff x="0" y="0"/>
            <a:chExt cx="2966458" cy="4228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66458" cy="4228947"/>
            </a:xfrm>
            <a:custGeom>
              <a:avLst/>
              <a:gdLst/>
              <a:ahLst/>
              <a:cxnLst/>
              <a:rect l="l" t="t" r="r" b="b"/>
              <a:pathLst>
                <a:path w="2966458" h="4228947">
                  <a:moveTo>
                    <a:pt x="0" y="0"/>
                  </a:moveTo>
                  <a:lnTo>
                    <a:pt x="2966458" y="0"/>
                  </a:lnTo>
                  <a:lnTo>
                    <a:pt x="2966458" y="4228947"/>
                  </a:lnTo>
                  <a:lnTo>
                    <a:pt x="0" y="4228947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966458" cy="4324197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sp>
        <p:nvSpPr>
          <p:cNvPr id="6" name="Freeform 6"/>
          <p:cNvSpPr/>
          <p:nvPr/>
        </p:nvSpPr>
        <p:spPr>
          <a:xfrm>
            <a:off x="12716177" y="31604839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7" name="Freeform 7"/>
          <p:cNvSpPr/>
          <p:nvPr/>
        </p:nvSpPr>
        <p:spPr>
          <a:xfrm>
            <a:off x="7220960" y="31604839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8" name="Freeform 8"/>
          <p:cNvSpPr/>
          <p:nvPr/>
        </p:nvSpPr>
        <p:spPr>
          <a:xfrm>
            <a:off x="9968569" y="31604839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grpSp>
        <p:nvGrpSpPr>
          <p:cNvPr id="10" name="Group 10"/>
          <p:cNvGrpSpPr/>
          <p:nvPr/>
        </p:nvGrpSpPr>
        <p:grpSpPr>
          <a:xfrm>
            <a:off x="10171969" y="30585511"/>
            <a:ext cx="6951676" cy="2389544"/>
            <a:chOff x="0" y="0"/>
            <a:chExt cx="1328068" cy="456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8068" cy="456505"/>
            </a:xfrm>
            <a:custGeom>
              <a:avLst/>
              <a:gdLst/>
              <a:ahLst/>
              <a:cxnLst/>
              <a:rect l="l" t="t" r="r" b="b"/>
              <a:pathLst>
                <a:path w="1328068" h="456505">
                  <a:moveTo>
                    <a:pt x="0" y="0"/>
                  </a:moveTo>
                  <a:lnTo>
                    <a:pt x="1328068" y="0"/>
                  </a:lnTo>
                  <a:lnTo>
                    <a:pt x="132806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328068" cy="551755"/>
            </a:xfrm>
            <a:prstGeom prst="rect">
              <a:avLst/>
            </a:prstGeom>
          </p:spPr>
          <p:txBody>
            <a:bodyPr lIns="82448" tIns="82448" rIns="82448" bIns="82448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742011" y="30937249"/>
            <a:ext cx="4320137" cy="1697627"/>
          </a:xfrm>
          <a:custGeom>
            <a:avLst/>
            <a:gdLst/>
            <a:ahLst/>
            <a:cxnLst/>
            <a:rect l="l" t="t" r="r" b="b"/>
            <a:pathLst>
              <a:path w="5775423" h="2269491">
                <a:moveTo>
                  <a:pt x="0" y="0"/>
                </a:moveTo>
                <a:lnTo>
                  <a:pt x="5775423" y="0"/>
                </a:lnTo>
                <a:lnTo>
                  <a:pt x="5775423" y="2269491"/>
                </a:lnTo>
                <a:lnTo>
                  <a:pt x="0" y="226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14" name="Freeform 14"/>
          <p:cNvSpPr/>
          <p:nvPr/>
        </p:nvSpPr>
        <p:spPr>
          <a:xfrm>
            <a:off x="15062147" y="30585511"/>
            <a:ext cx="1491458" cy="2280348"/>
          </a:xfrm>
          <a:custGeom>
            <a:avLst/>
            <a:gdLst/>
            <a:ahLst/>
            <a:cxnLst/>
            <a:rect l="l" t="t" r="r" b="b"/>
            <a:pathLst>
              <a:path w="1993872" h="3048509">
                <a:moveTo>
                  <a:pt x="0" y="0"/>
                </a:moveTo>
                <a:lnTo>
                  <a:pt x="1993872" y="0"/>
                </a:lnTo>
                <a:lnTo>
                  <a:pt x="1993872" y="3048509"/>
                </a:lnTo>
                <a:lnTo>
                  <a:pt x="0" y="304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15" name="Freeform 15"/>
          <p:cNvSpPr/>
          <p:nvPr/>
        </p:nvSpPr>
        <p:spPr>
          <a:xfrm>
            <a:off x="4473352" y="31573965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16" name="Freeform 16"/>
          <p:cNvSpPr/>
          <p:nvPr/>
        </p:nvSpPr>
        <p:spPr>
          <a:xfrm>
            <a:off x="-1021864" y="31548306"/>
            <a:ext cx="2771357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17" name="Freeform 17"/>
          <p:cNvSpPr/>
          <p:nvPr/>
        </p:nvSpPr>
        <p:spPr>
          <a:xfrm>
            <a:off x="1725744" y="31573965"/>
            <a:ext cx="2747608" cy="2747608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grpSp>
        <p:nvGrpSpPr>
          <p:cNvPr id="18" name="Group 18"/>
          <p:cNvGrpSpPr/>
          <p:nvPr/>
        </p:nvGrpSpPr>
        <p:grpSpPr>
          <a:xfrm>
            <a:off x="1158779" y="5514459"/>
            <a:ext cx="16668631" cy="2291744"/>
            <a:chOff x="0" y="0"/>
            <a:chExt cx="2704920" cy="3718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4920" cy="371895"/>
            </a:xfrm>
            <a:custGeom>
              <a:avLst/>
              <a:gdLst/>
              <a:ahLst/>
              <a:cxnLst/>
              <a:rect l="l" t="t" r="r" b="b"/>
              <a:pathLst>
                <a:path w="2704920" h="371895">
                  <a:moveTo>
                    <a:pt x="0" y="0"/>
                  </a:moveTo>
                  <a:lnTo>
                    <a:pt x="2704920" y="0"/>
                  </a:lnTo>
                  <a:lnTo>
                    <a:pt x="2704920" y="371895"/>
                  </a:lnTo>
                  <a:lnTo>
                    <a:pt x="0" y="37189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704920" cy="46714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46435" y="7454384"/>
            <a:ext cx="16632960" cy="1424017"/>
            <a:chOff x="0" y="0"/>
            <a:chExt cx="2734121" cy="2310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34121" cy="231084"/>
            </a:xfrm>
            <a:custGeom>
              <a:avLst/>
              <a:gdLst/>
              <a:ahLst/>
              <a:cxnLst/>
              <a:rect l="l" t="t" r="r" b="b"/>
              <a:pathLst>
                <a:path w="2734121" h="231084">
                  <a:moveTo>
                    <a:pt x="0" y="0"/>
                  </a:moveTo>
                  <a:lnTo>
                    <a:pt x="2734121" y="0"/>
                  </a:lnTo>
                  <a:lnTo>
                    <a:pt x="2734121" y="231084"/>
                  </a:lnTo>
                  <a:lnTo>
                    <a:pt x="0" y="231084"/>
                  </a:lnTo>
                  <a:close/>
                </a:path>
              </a:pathLst>
            </a:custGeom>
            <a:solidFill>
              <a:srgbClr val="E3D9D1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734121" cy="326334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38387" y="11763559"/>
            <a:ext cx="7997122" cy="7857056"/>
            <a:chOff x="-33379" y="-95250"/>
            <a:chExt cx="1424743" cy="1399789"/>
          </a:xfrm>
        </p:grpSpPr>
        <p:sp>
          <p:nvSpPr>
            <p:cNvPr id="27" name="Freeform 27"/>
            <p:cNvSpPr/>
            <p:nvPr/>
          </p:nvSpPr>
          <p:spPr>
            <a:xfrm>
              <a:off x="-33379" y="53598"/>
              <a:ext cx="1424743" cy="1250941"/>
            </a:xfrm>
            <a:custGeom>
              <a:avLst/>
              <a:gdLst/>
              <a:ahLst/>
              <a:cxnLst/>
              <a:rect l="l" t="t" r="r" b="b"/>
              <a:pathLst>
                <a:path w="1364871" h="1277299">
                  <a:moveTo>
                    <a:pt x="0" y="0"/>
                  </a:moveTo>
                  <a:lnTo>
                    <a:pt x="1364871" y="0"/>
                  </a:lnTo>
                  <a:lnTo>
                    <a:pt x="1364871" y="1277299"/>
                  </a:lnTo>
                  <a:lnTo>
                    <a:pt x="0" y="1277299"/>
                  </a:lnTo>
                  <a:close/>
                </a:path>
              </a:pathLst>
            </a:custGeom>
            <a:solidFill>
              <a:srgbClr val="E3D9D1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1945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A </a:t>
              </a:r>
              <a:r>
                <a:rPr lang="pt-BR" sz="2094" dirty="0">
                  <a:latin typeface="Oswald" panose="020B0604020202020204" charset="0"/>
                </a:rPr>
                <a:t>necessidade de sistemas de coleta e análise de dados ambientais em tempo real tornou-se fundamental para a tomada de decisões mais eficientes, principalmente em cenários de mudanças climáticas, escassez hídrica e degradação do solo. Nesse cenário, tecnologias de baixo custo e fácil implementação, como o </a:t>
              </a:r>
              <a:r>
                <a:rPr lang="pt-BR" sz="2094" dirty="0" err="1">
                  <a:latin typeface="Oswald" panose="020B0604020202020204" charset="0"/>
                </a:rPr>
                <a:t>Arduino</a:t>
              </a:r>
              <a:r>
                <a:rPr lang="pt-BR" sz="2094" dirty="0">
                  <a:latin typeface="Oswald" panose="020B0604020202020204" charset="0"/>
                </a:rPr>
                <a:t>, despontam como alternativas viáveis e acessíveis para pesquisadores, educadores e pequenos produtores.</a:t>
              </a: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Ao mesmo tempo, a estatística aplicada desempenha um papel central na interpretação de dados, permitindo a identificação de padrões, tendências e anomalias que seriam difíceis de detectar apenas com observações qualitativas. A integração entre sensores ambientais e ferramentas estatísticas, mesmo em sistemas com capacidade computacional limitada, amplia significativamente o potencial de projetos voltados para o monitoramento inteligente de variáveis ambientais.</a:t>
              </a: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Este trabalho propõe uma abordagem prática que une sensores de baixo custo e </a:t>
              </a:r>
              <a:r>
                <a:rPr lang="pt-BR" sz="2094">
                  <a:latin typeface="Oswald" panose="020B0604020202020204" charset="0"/>
                </a:rPr>
                <a:t>algoritmos </a:t>
              </a:r>
              <a:r>
                <a:rPr lang="pt-BR" sz="2094">
                  <a:latin typeface="Oswald" panose="020B0604020202020204" charset="0"/>
                </a:rPr>
                <a:t>estatísticos </a:t>
              </a:r>
              <a:r>
                <a:rPr lang="pt-BR" sz="2094" dirty="0">
                  <a:latin typeface="Oswald" panose="020B0604020202020204" charset="0"/>
                </a:rPr>
                <a:t>em um sistema embarcado autônomo, com o objetivo de registrar, processar e analisar dados como temperatura, umidade do ar e umidade do solo. Através dessa integração, busca-se demonstrar como tecnologias acessíveis podem ser aplicadas de forma eficiente na geração de conhecimento ambiental, contribuindo para soluções replicáveis e adaptáveis em diferentes contextos, especialmente em áreas rurais ou com restrições tecnológicas.</a:t>
              </a:r>
            </a:p>
            <a:p>
              <a:pPr algn="just"/>
              <a:endParaRPr lang="pt-BR" sz="1945" dirty="0">
                <a:latin typeface="Oswald" panose="020B0604020202020204" charset="0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1364871" cy="1372549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605216" y="11752843"/>
            <a:ext cx="6332203" cy="1203919"/>
            <a:chOff x="0" y="0"/>
            <a:chExt cx="1128126" cy="2144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28126" cy="214486"/>
            </a:xfrm>
            <a:custGeom>
              <a:avLst/>
              <a:gdLst/>
              <a:ahLst/>
              <a:cxnLst/>
              <a:rect l="l" t="t" r="r" b="b"/>
              <a:pathLst>
                <a:path w="1128126" h="214486">
                  <a:moveTo>
                    <a:pt x="0" y="0"/>
                  </a:moveTo>
                  <a:lnTo>
                    <a:pt x="1128126" y="0"/>
                  </a:lnTo>
                  <a:lnTo>
                    <a:pt x="1128126" y="214486"/>
                  </a:lnTo>
                  <a:lnTo>
                    <a:pt x="0" y="21448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128126" cy="30973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483648" y="11689382"/>
            <a:ext cx="6111116" cy="1047632"/>
            <a:chOff x="0" y="0"/>
            <a:chExt cx="1088738" cy="1866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8738" cy="186643"/>
            </a:xfrm>
            <a:custGeom>
              <a:avLst/>
              <a:gdLst/>
              <a:ahLst/>
              <a:cxnLst/>
              <a:rect l="l" t="t" r="r" b="b"/>
              <a:pathLst>
                <a:path w="1088738" h="186643">
                  <a:moveTo>
                    <a:pt x="0" y="0"/>
                  </a:moveTo>
                  <a:lnTo>
                    <a:pt x="1088738" y="0"/>
                  </a:lnTo>
                  <a:lnTo>
                    <a:pt x="1088738" y="186643"/>
                  </a:lnTo>
                  <a:lnTo>
                    <a:pt x="0" y="186643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1088738" cy="281893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536494" y="19835574"/>
            <a:ext cx="8114152" cy="4202816"/>
            <a:chOff x="-33813" y="-47625"/>
            <a:chExt cx="1429300" cy="748760"/>
          </a:xfrm>
        </p:grpSpPr>
        <p:sp>
          <p:nvSpPr>
            <p:cNvPr id="36" name="Freeform 36"/>
            <p:cNvSpPr/>
            <p:nvPr/>
          </p:nvSpPr>
          <p:spPr>
            <a:xfrm>
              <a:off x="-33813" y="52785"/>
              <a:ext cx="1429300" cy="648350"/>
            </a:xfrm>
            <a:custGeom>
              <a:avLst/>
              <a:gdLst/>
              <a:ahLst/>
              <a:cxnLst/>
              <a:rect l="l" t="t" r="r" b="b"/>
              <a:pathLst>
                <a:path w="1364871" h="539256">
                  <a:moveTo>
                    <a:pt x="0" y="0"/>
                  </a:moveTo>
                  <a:lnTo>
                    <a:pt x="1364871" y="0"/>
                  </a:lnTo>
                  <a:lnTo>
                    <a:pt x="1364871" y="539256"/>
                  </a:lnTo>
                  <a:lnTo>
                    <a:pt x="0" y="53925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sz="1055" dirty="0"/>
            </a:p>
            <a:p>
              <a:endParaRPr lang="pt-BR" sz="1055" dirty="0"/>
            </a:p>
            <a:p>
              <a:endParaRPr lang="pt-BR" sz="1055" dirty="0"/>
            </a:p>
            <a:p>
              <a:pPr marL="341986" indent="-341986" algn="just">
                <a:buFont typeface="Arial" panose="020B0604020202020204" pitchFamily="34" charset="0"/>
                <a:buChar char="•"/>
              </a:pPr>
              <a:r>
                <a:rPr lang="pt-BR" sz="2094" dirty="0">
                  <a:latin typeface="Oswald" panose="020B0604020202020204" charset="0"/>
                </a:rPr>
                <a:t>Desenvolver </a:t>
              </a:r>
              <a:r>
                <a:rPr lang="pt-BR" sz="2094" dirty="0">
                  <a:latin typeface="Oswald" panose="020B0604020202020204" charset="0"/>
                </a:rPr>
                <a:t>um sistema autônomo de monitoramento ambiental utilizando a plataforma </a:t>
              </a:r>
              <a:r>
                <a:rPr lang="pt-BR" sz="2094" dirty="0" err="1">
                  <a:latin typeface="Oswald" panose="020B0604020202020204" charset="0"/>
                </a:rPr>
                <a:t>Arduino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marL="341986" indent="-341986" algn="just">
                <a:buFont typeface="Arial" panose="020B0604020202020204" pitchFamily="34" charset="0"/>
                <a:buChar char="•"/>
              </a:pPr>
              <a:r>
                <a:rPr lang="pt-BR" sz="2094" dirty="0">
                  <a:latin typeface="Oswald" panose="020B0604020202020204" charset="0"/>
                </a:rPr>
                <a:t>Integrar sensores de temperatura, umidade do ar e umidade do solo à coleta de dados em tempo real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marL="341986" indent="-341986" algn="just">
                <a:buFont typeface="Arial" panose="020B0604020202020204" pitchFamily="34" charset="0"/>
                <a:buChar char="•"/>
              </a:pPr>
              <a:r>
                <a:rPr lang="pt-BR" sz="2094" dirty="0">
                  <a:latin typeface="Oswald" panose="020B0604020202020204" charset="0"/>
                </a:rPr>
                <a:t>Aplicar métodos estatísticos descritivos (média, mediana, desvio-padrão e intervalo interquartil) para o tratamento dos dados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marL="341986" indent="-341986" algn="just">
                <a:buFont typeface="Arial" panose="020B0604020202020204" pitchFamily="34" charset="0"/>
                <a:buChar char="•"/>
              </a:pPr>
              <a:r>
                <a:rPr lang="pt-BR" sz="2094" dirty="0">
                  <a:latin typeface="Oswald" panose="020B0604020202020204" charset="0"/>
                </a:rPr>
                <a:t>Identificar padrões e </a:t>
              </a:r>
              <a:r>
                <a:rPr lang="pt-BR" sz="2094" dirty="0" err="1">
                  <a:latin typeface="Oswald" panose="020B0604020202020204" charset="0"/>
                </a:rPr>
                <a:t>outliers</a:t>
              </a:r>
              <a:r>
                <a:rPr lang="pt-BR" sz="2094" dirty="0">
                  <a:latin typeface="Oswald" panose="020B0604020202020204" charset="0"/>
                </a:rPr>
                <a:t> que contribuam para a compreensão de fenômenos ambientais</a:t>
              </a:r>
              <a:r>
                <a:rPr lang="pt-BR" sz="1055" dirty="0"/>
                <a:t>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364871" cy="586881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just">
                <a:lnSpc>
                  <a:spcPts val="2723"/>
                </a:lnSpc>
              </a:pPr>
              <a:endParaRPr sz="1055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547943" y="19763841"/>
            <a:ext cx="6332203" cy="1226085"/>
            <a:chOff x="0" y="0"/>
            <a:chExt cx="1128126" cy="2184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8126" cy="218436"/>
            </a:xfrm>
            <a:custGeom>
              <a:avLst/>
              <a:gdLst/>
              <a:ahLst/>
              <a:cxnLst/>
              <a:rect l="l" t="t" r="r" b="b"/>
              <a:pathLst>
                <a:path w="1128126" h="218436">
                  <a:moveTo>
                    <a:pt x="0" y="0"/>
                  </a:moveTo>
                  <a:lnTo>
                    <a:pt x="1128126" y="0"/>
                  </a:lnTo>
                  <a:lnTo>
                    <a:pt x="1128126" y="218436"/>
                  </a:lnTo>
                  <a:lnTo>
                    <a:pt x="0" y="21843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128126" cy="31368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483647" y="19603158"/>
            <a:ext cx="6156526" cy="1090712"/>
            <a:chOff x="0" y="0"/>
            <a:chExt cx="1096828" cy="1943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6828" cy="194318"/>
            </a:xfrm>
            <a:custGeom>
              <a:avLst/>
              <a:gdLst/>
              <a:ahLst/>
              <a:cxnLst/>
              <a:rect l="l" t="t" r="r" b="b"/>
              <a:pathLst>
                <a:path w="1096828" h="194318">
                  <a:moveTo>
                    <a:pt x="0" y="0"/>
                  </a:moveTo>
                  <a:lnTo>
                    <a:pt x="1096828" y="0"/>
                  </a:lnTo>
                  <a:lnTo>
                    <a:pt x="1096828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0"/>
              <a:ext cx="1096828" cy="289568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111187" y="11943501"/>
            <a:ext cx="7375431" cy="6496723"/>
            <a:chOff x="-5929" y="-95250"/>
            <a:chExt cx="1304584" cy="1142297"/>
          </a:xfrm>
        </p:grpSpPr>
        <p:sp>
          <p:nvSpPr>
            <p:cNvPr id="45" name="Freeform 45"/>
            <p:cNvSpPr/>
            <p:nvPr/>
          </p:nvSpPr>
          <p:spPr>
            <a:xfrm>
              <a:off x="-5929" y="16573"/>
              <a:ext cx="1271319" cy="1030474"/>
            </a:xfrm>
            <a:custGeom>
              <a:avLst/>
              <a:gdLst/>
              <a:ahLst/>
              <a:cxnLst/>
              <a:rect l="l" t="t" r="r" b="b"/>
              <a:pathLst>
                <a:path w="1298655" h="974486">
                  <a:moveTo>
                    <a:pt x="0" y="0"/>
                  </a:moveTo>
                  <a:lnTo>
                    <a:pt x="1298655" y="0"/>
                  </a:lnTo>
                  <a:lnTo>
                    <a:pt x="1298655" y="974486"/>
                  </a:lnTo>
                  <a:lnTo>
                    <a:pt x="0" y="97448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O </a:t>
              </a:r>
              <a:r>
                <a:rPr lang="pt-BR" sz="2094" dirty="0">
                  <a:latin typeface="Oswald" panose="020B0604020202020204" charset="0"/>
                </a:rPr>
                <a:t>sistema desenvolvido demonstrou eficiência na coleta e armazenamento de dados ambientais em tempo real. A análise estatística dos dados revelou padrões consistentes de variação da temperatura ao longo do dia, evidenciando um comportamento circadiano, com máximas durante o período da tarde e mínimas à noite. A umidade relativa do ar apresentou flutuações moderadas, com tendência de queda nos horários de maior temperatura.</a:t>
              </a: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Em contraste, os dados de umidade do solo mantiveram-se relativamente estáveis, indicando menor variabilidade em curto prazo. O uso de medidas estatísticas como média, mediana, desvio-padrão e intervalo interquartil permitiu identificar </a:t>
              </a:r>
              <a:r>
                <a:rPr lang="pt-BR" sz="2094" dirty="0" err="1">
                  <a:latin typeface="Oswald" panose="020B0604020202020204" charset="0"/>
                </a:rPr>
                <a:t>outliers</a:t>
              </a:r>
              <a:r>
                <a:rPr lang="pt-BR" sz="2094" dirty="0">
                  <a:latin typeface="Oswald" panose="020B0604020202020204" charset="0"/>
                </a:rPr>
                <a:t> e comportamentos atípicos, possivelmente relacionados a variações climáticas abruptas ou interferências no solo.</a:t>
              </a:r>
            </a:p>
            <a:p>
              <a:pPr algn="just"/>
              <a:endParaRPr lang="pt-BR" sz="1496" dirty="0">
                <a:latin typeface="Oswald" panose="020B0604020202020204" charset="0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1298655" cy="1069736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703035" y="11932786"/>
            <a:ext cx="6367852" cy="1360626"/>
            <a:chOff x="0" y="0"/>
            <a:chExt cx="1134477" cy="24240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34477" cy="242405"/>
            </a:xfrm>
            <a:custGeom>
              <a:avLst/>
              <a:gdLst/>
              <a:ahLst/>
              <a:cxnLst/>
              <a:rect l="l" t="t" r="r" b="b"/>
              <a:pathLst>
                <a:path w="1134477" h="242405">
                  <a:moveTo>
                    <a:pt x="0" y="0"/>
                  </a:moveTo>
                  <a:lnTo>
                    <a:pt x="1134477" y="0"/>
                  </a:lnTo>
                  <a:lnTo>
                    <a:pt x="1134477" y="242405"/>
                  </a:lnTo>
                  <a:lnTo>
                    <a:pt x="0" y="2424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1134477" cy="33765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1466" y="11828950"/>
            <a:ext cx="6278094" cy="1227543"/>
            <a:chOff x="0" y="0"/>
            <a:chExt cx="1118486" cy="21869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18486" cy="218695"/>
            </a:xfrm>
            <a:custGeom>
              <a:avLst/>
              <a:gdLst/>
              <a:ahLst/>
              <a:cxnLst/>
              <a:rect l="l" t="t" r="r" b="b"/>
              <a:pathLst>
                <a:path w="1118486" h="218695">
                  <a:moveTo>
                    <a:pt x="0" y="0"/>
                  </a:moveTo>
                  <a:lnTo>
                    <a:pt x="1118486" y="0"/>
                  </a:lnTo>
                  <a:lnTo>
                    <a:pt x="1118486" y="218695"/>
                  </a:lnTo>
                  <a:lnTo>
                    <a:pt x="0" y="218695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1118486" cy="313945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136986" y="18227288"/>
            <a:ext cx="7289390" cy="11818063"/>
            <a:chOff x="0" y="-95250"/>
            <a:chExt cx="1298655" cy="2105470"/>
          </a:xfrm>
        </p:grpSpPr>
        <p:sp>
          <p:nvSpPr>
            <p:cNvPr id="54" name="Freeform 54"/>
            <p:cNvSpPr/>
            <p:nvPr/>
          </p:nvSpPr>
          <p:spPr>
            <a:xfrm>
              <a:off x="0" y="62450"/>
              <a:ext cx="1298655" cy="1947769"/>
            </a:xfrm>
            <a:custGeom>
              <a:avLst/>
              <a:gdLst/>
              <a:ahLst/>
              <a:cxnLst/>
              <a:rect l="l" t="t" r="r" b="b"/>
              <a:pathLst>
                <a:path w="1298655" h="2010220">
                  <a:moveTo>
                    <a:pt x="0" y="0"/>
                  </a:moveTo>
                  <a:lnTo>
                    <a:pt x="1298655" y="0"/>
                  </a:lnTo>
                  <a:lnTo>
                    <a:pt x="1298655" y="2010220"/>
                  </a:lnTo>
                  <a:lnTo>
                    <a:pt x="0" y="2010220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sz="1055" dirty="0"/>
            </a:p>
            <a:p>
              <a:endParaRPr lang="pt-BR" sz="1055" dirty="0"/>
            </a:p>
            <a:p>
              <a:endParaRPr lang="pt-BR" sz="1055" dirty="0"/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A experiência apresentada neste trabalho evidencia que a integração entre sensores ambientais de baixo custo e técnicas estatísticas simples, implementadas em plataformas embarcadas como o </a:t>
              </a:r>
              <a:r>
                <a:rPr lang="pt-BR" sz="2094" dirty="0" err="1">
                  <a:latin typeface="Oswald" panose="020B0604020202020204" charset="0"/>
                </a:rPr>
                <a:t>Arduino</a:t>
              </a:r>
              <a:r>
                <a:rPr lang="pt-BR" sz="2094" dirty="0">
                  <a:latin typeface="Oswald" panose="020B0604020202020204" charset="0"/>
                </a:rPr>
                <a:t>, constitui uma solução eficaz e acessível para o monitoramento ambiental em tempo real. O sistema desenvolvido demonstrou capacidade de coleta contínua e autônoma de dados, além de permitir o tratamento e a interpretação dos mesmos com base em parâmetros estatísticos essenciais, como média, mediana, desvio-padrão e intervalo interquartil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Os resultados obtidos, como a identificação de variações circadianas na temperatura e a estabilidade da umidade do solo, demonstram o potencial do uso da estatística aplicada para extrair informações relevantes, mesmo a partir de sensores com precisão limitada. A utilização de algoritmos para detecção de </a:t>
              </a:r>
              <a:r>
                <a:rPr lang="pt-BR" sz="2094" dirty="0" err="1">
                  <a:latin typeface="Oswald" panose="020B0604020202020204" charset="0"/>
                </a:rPr>
                <a:t>outliers</a:t>
              </a:r>
              <a:r>
                <a:rPr lang="pt-BR" sz="2094" dirty="0">
                  <a:latin typeface="Oswald" panose="020B0604020202020204" charset="0"/>
                </a:rPr>
                <a:t> e análise da variabilidade permitiu maior robustez na leitura dos dados e reforça a importância de incorporar o pensamento estatístico em projetos de engenharia ambiental e agrícola.</a:t>
              </a: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Além disso, o sucesso da implementação reforça a viabilidade de soluções replicáveis em contextos de baixa infraestrutura tecnológica, o que pode beneficiar, por exemplo, comunidades rurais, instituições de ensino e centros de pesquisa com recursos limitados. A modularidade do sistema permite sua expansão com outros sensores, comunicação via rede sem fio e integração com bancos de dados ou plataformas na nuvem</a:t>
              </a:r>
              <a:r>
                <a:rPr lang="pt-BR" sz="2094" dirty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  <a:p>
              <a:pPr algn="just"/>
              <a:r>
                <a:rPr lang="pt-BR" sz="2094" dirty="0">
                  <a:latin typeface="Oswald" panose="020B0604020202020204" charset="0"/>
                </a:rPr>
                <a:t>Dessa forma, conclui-se que a combinação entre hardware acessível, programação eficiente e fundamentos estatísticos representa um caminho promissor para o desenvolvimento de tecnologias sustentáveis, educativas e adaptáveis, alinhadas às necessidades contemporâneas de monitoramento ambiental inteligente e agricultura de precisão.</a:t>
              </a:r>
            </a:p>
            <a:p>
              <a:pPr algn="just"/>
              <a:endParaRPr lang="pt-BR" sz="2094" dirty="0">
                <a:latin typeface="Oswald" panose="020B0604020202020204" charset="0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0"/>
              <a:ext cx="1298655" cy="2105470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703035" y="18198950"/>
            <a:ext cx="6546069" cy="1404208"/>
            <a:chOff x="0" y="0"/>
            <a:chExt cx="1166227" cy="25016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66227" cy="250169"/>
            </a:xfrm>
            <a:custGeom>
              <a:avLst/>
              <a:gdLst/>
              <a:ahLst/>
              <a:cxnLst/>
              <a:rect l="l" t="t" r="r" b="b"/>
              <a:pathLst>
                <a:path w="1166227" h="250169">
                  <a:moveTo>
                    <a:pt x="0" y="0"/>
                  </a:moveTo>
                  <a:lnTo>
                    <a:pt x="1166227" y="0"/>
                  </a:lnTo>
                  <a:lnTo>
                    <a:pt x="1166227" y="250169"/>
                  </a:lnTo>
                  <a:lnTo>
                    <a:pt x="0" y="250169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1166227" cy="345419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581466" y="18235748"/>
            <a:ext cx="6335788" cy="1155537"/>
            <a:chOff x="0" y="0"/>
            <a:chExt cx="1128765" cy="20586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28765" cy="205867"/>
            </a:xfrm>
            <a:custGeom>
              <a:avLst/>
              <a:gdLst/>
              <a:ahLst/>
              <a:cxnLst/>
              <a:rect l="l" t="t" r="r" b="b"/>
              <a:pathLst>
                <a:path w="1128765" h="205867">
                  <a:moveTo>
                    <a:pt x="0" y="0"/>
                  </a:moveTo>
                  <a:lnTo>
                    <a:pt x="1128765" y="0"/>
                  </a:lnTo>
                  <a:lnTo>
                    <a:pt x="1128765" y="205867"/>
                  </a:lnTo>
                  <a:lnTo>
                    <a:pt x="0" y="205867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1128765" cy="282067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sp>
        <p:nvSpPr>
          <p:cNvPr id="62" name="Freeform 62"/>
          <p:cNvSpPr/>
          <p:nvPr/>
        </p:nvSpPr>
        <p:spPr>
          <a:xfrm rot="-10800000">
            <a:off x="1012635" y="-2476770"/>
            <a:ext cx="17250407" cy="7915791"/>
          </a:xfrm>
          <a:custGeom>
            <a:avLst/>
            <a:gdLst/>
            <a:ahLst/>
            <a:cxnLst/>
            <a:rect l="l" t="t" r="r" b="b"/>
            <a:pathLst>
              <a:path w="23061399" h="10582314">
                <a:moveTo>
                  <a:pt x="0" y="0"/>
                </a:moveTo>
                <a:lnTo>
                  <a:pt x="23061399" y="0"/>
                </a:lnTo>
                <a:lnTo>
                  <a:pt x="23061399" y="10582313"/>
                </a:lnTo>
                <a:lnTo>
                  <a:pt x="0" y="10582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 l="-1182" t="-46909"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63" name="Freeform 63"/>
          <p:cNvSpPr/>
          <p:nvPr/>
        </p:nvSpPr>
        <p:spPr>
          <a:xfrm rot="-5400000" flipH="1" flipV="1">
            <a:off x="1400489" y="-3429859"/>
            <a:ext cx="6678330" cy="7161748"/>
          </a:xfrm>
          <a:custGeom>
            <a:avLst/>
            <a:gdLst/>
            <a:ahLst/>
            <a:cxnLst/>
            <a:rect l="l" t="t" r="r" b="b"/>
            <a:pathLst>
              <a:path w="8928000" h="9574263">
                <a:moveTo>
                  <a:pt x="8928000" y="9574262"/>
                </a:moveTo>
                <a:lnTo>
                  <a:pt x="0" y="9574262"/>
                </a:lnTo>
                <a:lnTo>
                  <a:pt x="0" y="0"/>
                </a:lnTo>
                <a:lnTo>
                  <a:pt x="8928000" y="0"/>
                </a:lnTo>
                <a:lnTo>
                  <a:pt x="8928000" y="957426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sz="1055" dirty="0"/>
          </a:p>
        </p:txBody>
      </p:sp>
      <p:sp>
        <p:nvSpPr>
          <p:cNvPr id="64" name="Freeform 64"/>
          <p:cNvSpPr/>
          <p:nvPr/>
        </p:nvSpPr>
        <p:spPr>
          <a:xfrm rot="-5400000">
            <a:off x="12831749" y="425273"/>
            <a:ext cx="2963822" cy="7143301"/>
          </a:xfrm>
          <a:custGeom>
            <a:avLst/>
            <a:gdLst/>
            <a:ahLst/>
            <a:cxnLst/>
            <a:rect l="l" t="t" r="r" b="b"/>
            <a:pathLst>
              <a:path w="3727401" h="9472195">
                <a:moveTo>
                  <a:pt x="0" y="0"/>
                </a:moveTo>
                <a:lnTo>
                  <a:pt x="3727402" y="0"/>
                </a:lnTo>
                <a:lnTo>
                  <a:pt x="3727402" y="9472195"/>
                </a:lnTo>
                <a:lnTo>
                  <a:pt x="0" y="9472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 l="-139523" b="-1077"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65" name="Freeform 65"/>
          <p:cNvSpPr/>
          <p:nvPr/>
        </p:nvSpPr>
        <p:spPr>
          <a:xfrm>
            <a:off x="3403622" y="1023509"/>
            <a:ext cx="9698847" cy="2355666"/>
          </a:xfrm>
          <a:custGeom>
            <a:avLst/>
            <a:gdLst/>
            <a:ahLst/>
            <a:cxnLst/>
            <a:rect l="l" t="t" r="r" b="b"/>
            <a:pathLst>
              <a:path w="12966012" h="3149199">
                <a:moveTo>
                  <a:pt x="0" y="0"/>
                </a:moveTo>
                <a:lnTo>
                  <a:pt x="12966011" y="0"/>
                </a:lnTo>
                <a:lnTo>
                  <a:pt x="12966011" y="3149198"/>
                </a:lnTo>
                <a:lnTo>
                  <a:pt x="0" y="3149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66" name="Freeform 66"/>
          <p:cNvSpPr/>
          <p:nvPr/>
        </p:nvSpPr>
        <p:spPr>
          <a:xfrm>
            <a:off x="7100495" y="3417093"/>
            <a:ext cx="6193468" cy="1647803"/>
          </a:xfrm>
          <a:custGeom>
            <a:avLst/>
            <a:gdLst/>
            <a:ahLst/>
            <a:cxnLst/>
            <a:rect l="l" t="t" r="r" b="b"/>
            <a:pathLst>
              <a:path w="8279807" h="2202884">
                <a:moveTo>
                  <a:pt x="0" y="0"/>
                </a:moveTo>
                <a:lnTo>
                  <a:pt x="8279807" y="0"/>
                </a:lnTo>
                <a:lnTo>
                  <a:pt x="8279807" y="2202884"/>
                </a:lnTo>
                <a:lnTo>
                  <a:pt x="0" y="22028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 sz="1055"/>
          </a:p>
        </p:txBody>
      </p:sp>
      <p:sp>
        <p:nvSpPr>
          <p:cNvPr id="67" name="TextBox 67"/>
          <p:cNvSpPr txBox="1"/>
          <p:nvPr/>
        </p:nvSpPr>
        <p:spPr>
          <a:xfrm>
            <a:off x="1246436" y="8873913"/>
            <a:ext cx="16632960" cy="5103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88"/>
              </a:lnSpc>
            </a:pPr>
            <a:r>
              <a:rPr lang="en-US" sz="2992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Rayssa</a:t>
            </a:r>
            <a:r>
              <a:rPr lang="en-US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Albuquerque Silva¹, </a:t>
            </a:r>
            <a:r>
              <a:rPr lang="pt-BR" sz="2992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Iandra</a:t>
            </a:r>
            <a:r>
              <a:rPr lang="pt-BR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Valéria de Oliveira Viana</a:t>
            </a:r>
            <a:r>
              <a:rPr lang="en-US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², Filipe de Souza Jorge</a:t>
            </a:r>
            <a:r>
              <a:rPr lang="en-US" sz="2992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r>
              <a:rPr lang="en-US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pt-BR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Daniel Kennedy Domingos da Silva</a:t>
            </a:r>
            <a:r>
              <a:rPr lang="pt-BR" sz="2992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  <a:r>
              <a:rPr lang="pt-BR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Alberto Ferreira da Silva</a:t>
            </a:r>
            <a:r>
              <a:rPr lang="pt-BR" sz="2992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  <a:r>
              <a:rPr lang="pt-BR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 Jefferson </a:t>
            </a:r>
            <a:r>
              <a:rPr lang="en-US" sz="2992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2992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dos Santos</a:t>
            </a:r>
            <a:r>
              <a:rPr lang="en-US" sz="2992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</a:p>
          <a:p>
            <a:pPr>
              <a:lnSpc>
                <a:spcPts val="4188"/>
              </a:lnSpc>
            </a:pP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¹Discente da EREFEM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Hannahsudoki@gmail.com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 , </a:t>
            </a:r>
            <a:r>
              <a:rPr lang="en-US" sz="1720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2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 da EREFEM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valeriaiandra1@gmail.com,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Pernambuco, </a:t>
            </a:r>
            <a:r>
              <a:rPr lang="en-US" sz="1720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 da EREFEM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felipesousas383@gmail.com,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Pernambuco, </a:t>
            </a:r>
            <a:r>
              <a:rPr lang="en-US" sz="1720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 da EREFEM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danielkennedi121@gmail.com,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Pernambuco, </a:t>
            </a:r>
            <a:r>
              <a:rPr lang="en-US" sz="1720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 da EREFEM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bettoosilva000@gmail.com,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Pernambuco,  </a:t>
            </a:r>
            <a:r>
              <a:rPr lang="en-US" sz="1720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Professor da EREFEM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jefferson.bsantos42@professor.educacao.pe.gov.br, </a:t>
            </a:r>
            <a:r>
              <a:rPr lang="en-US" sz="172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172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  <a:r>
              <a:rPr lang="en-US" sz="1795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.</a:t>
            </a:r>
          </a:p>
          <a:p>
            <a:pPr>
              <a:lnSpc>
                <a:spcPts val="4188"/>
              </a:lnSpc>
            </a:pPr>
            <a:endParaRPr lang="en-US" sz="2244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>
              <a:lnSpc>
                <a:spcPts val="4188"/>
              </a:lnSpc>
            </a:pPr>
            <a:endParaRPr lang="en-US" sz="2244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>
              <a:lnSpc>
                <a:spcPts val="4188"/>
              </a:lnSpc>
            </a:pPr>
            <a:endParaRPr lang="en-US" sz="2244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>
              <a:lnSpc>
                <a:spcPts val="3142"/>
              </a:lnSpc>
              <a:spcBef>
                <a:spcPct val="0"/>
              </a:spcBef>
            </a:pPr>
            <a:r>
              <a:rPr lang="en-US" sz="2244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</a:t>
            </a:r>
            <a:endParaRPr lang="en-US" sz="2244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3142"/>
              </a:lnSpc>
              <a:spcBef>
                <a:spcPct val="0"/>
              </a:spcBef>
            </a:pPr>
            <a:endParaRPr lang="en-US" sz="2244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1639214" y="5889161"/>
            <a:ext cx="15847404" cy="189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9"/>
              </a:lnSpc>
            </a:pPr>
            <a:r>
              <a:rPr lang="en-US" sz="13498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FEIRA DE CIÊNCIAS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24105" y="7384445"/>
            <a:ext cx="16592959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pt-BR" sz="5236" dirty="0">
                <a:latin typeface="Oswald" panose="020B0604020202020204" charset="0"/>
              </a:rPr>
              <a:t>APLICAÇÕES </a:t>
            </a:r>
            <a:r>
              <a:rPr lang="pt-BR" sz="5236" dirty="0">
                <a:latin typeface="Oswald" panose="020B0604020202020204" charset="0"/>
              </a:rPr>
              <a:t>DO ARDUINO NA AGRICULTURA</a:t>
            </a:r>
            <a:r>
              <a:rPr lang="pt-BR" sz="5236">
                <a:latin typeface="Oswald" panose="020B0604020202020204" charset="0"/>
              </a:rPr>
              <a:t>: </a:t>
            </a:r>
            <a:endParaRPr lang="pt-BR" sz="5236">
              <a:latin typeface="Oswald" panose="020B0604020202020204" charset="0"/>
            </a:endParaRPr>
          </a:p>
          <a:p>
            <a:pPr algn="ctr">
              <a:lnSpc>
                <a:spcPts val="6582"/>
              </a:lnSpc>
            </a:pPr>
            <a:r>
              <a:rPr lang="pt-BR" sz="5236">
                <a:latin typeface="Oswald" panose="020B0604020202020204" charset="0"/>
              </a:rPr>
              <a:t>COLETA </a:t>
            </a:r>
            <a:r>
              <a:rPr lang="pt-BR" sz="5236" dirty="0">
                <a:latin typeface="Oswald" panose="020B0604020202020204" charset="0"/>
              </a:rPr>
              <a:t>E ANÁLISE DE DADOS</a:t>
            </a:r>
          </a:p>
          <a:p>
            <a:pPr algn="ctr">
              <a:lnSpc>
                <a:spcPts val="6582"/>
              </a:lnSpc>
            </a:pPr>
            <a:r>
              <a:rPr lang="en-US" sz="2693" dirty="0">
                <a:solidFill>
                  <a:srgbClr val="684769"/>
                </a:solidFill>
                <a:latin typeface="Oswald" panose="020B0604020202020204" charset="0"/>
                <a:ea typeface="Oswald"/>
                <a:cs typeface="Oswald"/>
                <a:sym typeface="Oswald"/>
              </a:rPr>
              <a:t> </a:t>
            </a:r>
            <a:endParaRPr lang="en-US" sz="2693" dirty="0">
              <a:solidFill>
                <a:srgbClr val="684769"/>
              </a:solidFill>
              <a:latin typeface="Oswald" panose="020B0604020202020204" charset="0"/>
              <a:ea typeface="Oswald"/>
              <a:cs typeface="Oswald"/>
              <a:sym typeface="Oswald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2691582" y="11809843"/>
            <a:ext cx="5674909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INTRODUÇÃO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43500" y="19660157"/>
            <a:ext cx="9098551" cy="85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sz="6059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OBJETIVOS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2202554" y="23918343"/>
            <a:ext cx="6961757" cy="1867961"/>
            <a:chOff x="0" y="0"/>
            <a:chExt cx="1269336" cy="34058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69336" cy="340585"/>
            </a:xfrm>
            <a:custGeom>
              <a:avLst/>
              <a:gdLst/>
              <a:ahLst/>
              <a:cxnLst/>
              <a:rect l="l" t="t" r="r" b="b"/>
              <a:pathLst>
                <a:path w="1269336" h="340585">
                  <a:moveTo>
                    <a:pt x="0" y="0"/>
                  </a:moveTo>
                  <a:lnTo>
                    <a:pt x="1269336" y="0"/>
                  </a:lnTo>
                  <a:lnTo>
                    <a:pt x="1269336" y="340585"/>
                  </a:lnTo>
                  <a:lnTo>
                    <a:pt x="0" y="34058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0"/>
              <a:ext cx="1269336" cy="435835"/>
            </a:xfrm>
            <a:prstGeom prst="rect">
              <a:avLst/>
            </a:prstGeom>
          </p:spPr>
          <p:txBody>
            <a:bodyPr lIns="37130" tIns="37130" rIns="37130" bIns="37130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2045265" y="23878333"/>
            <a:ext cx="6882453" cy="1573019"/>
            <a:chOff x="0" y="0"/>
            <a:chExt cx="1254876" cy="2868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254876" cy="286808"/>
            </a:xfrm>
            <a:custGeom>
              <a:avLst/>
              <a:gdLst/>
              <a:ahLst/>
              <a:cxnLst/>
              <a:rect l="l" t="t" r="r" b="b"/>
              <a:pathLst>
                <a:path w="1254876" h="286808">
                  <a:moveTo>
                    <a:pt x="0" y="0"/>
                  </a:moveTo>
                  <a:lnTo>
                    <a:pt x="1254876" y="0"/>
                  </a:lnTo>
                  <a:lnTo>
                    <a:pt x="1254876" y="286808"/>
                  </a:lnTo>
                  <a:lnTo>
                    <a:pt x="0" y="28680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 sz="1055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1254876" cy="382058"/>
            </a:xfrm>
            <a:prstGeom prst="rect">
              <a:avLst/>
            </a:prstGeom>
          </p:spPr>
          <p:txBody>
            <a:bodyPr lIns="37130" tIns="37130" rIns="37130" bIns="37130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565195" y="24184733"/>
            <a:ext cx="9993431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1"/>
              </a:lnSpc>
            </a:pPr>
            <a:r>
              <a:rPr lang="en-US" sz="584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MATERIAL E MÉTODOS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111186" y="11990943"/>
            <a:ext cx="7178749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RESULTADOS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498061" y="18396831"/>
            <a:ext cx="472263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sz="5984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CONCLUSÃO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320667" y="19474910"/>
            <a:ext cx="6596587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3"/>
              </a:lnSpc>
              <a:spcBef>
                <a:spcPct val="0"/>
              </a:spcBef>
            </a:pPr>
            <a:endParaRPr lang="en-US" sz="1945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827003" y="13183777"/>
            <a:ext cx="7419889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41"/>
              </a:lnSpc>
              <a:spcBef>
                <a:spcPct val="0"/>
              </a:spcBef>
            </a:pPr>
            <a:endParaRPr lang="en-US" sz="2243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1737619" y="20741775"/>
            <a:ext cx="7637309" cy="644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pt-BR" sz="2094" dirty="0">
              <a:latin typeface="Oswald" panose="020B0604020202020204" charset="0"/>
            </a:endParaRPr>
          </a:p>
          <a:p>
            <a:endParaRPr lang="pt-BR" sz="2094" dirty="0">
              <a:latin typeface="Oswald" panose="020B0604020202020204" charset="0"/>
            </a:endParaRPr>
          </a:p>
        </p:txBody>
      </p:sp>
      <p:grpSp>
        <p:nvGrpSpPr>
          <p:cNvPr id="84" name="Group 84"/>
          <p:cNvGrpSpPr/>
          <p:nvPr/>
        </p:nvGrpSpPr>
        <p:grpSpPr>
          <a:xfrm>
            <a:off x="1512012" y="25785814"/>
            <a:ext cx="8113702" cy="5410047"/>
            <a:chOff x="-40113" y="-104660"/>
            <a:chExt cx="1445512" cy="1138197"/>
          </a:xfrm>
        </p:grpSpPr>
        <p:sp>
          <p:nvSpPr>
            <p:cNvPr id="85" name="Freeform 85"/>
            <p:cNvSpPr/>
            <p:nvPr/>
          </p:nvSpPr>
          <p:spPr>
            <a:xfrm>
              <a:off x="-40113" y="-104660"/>
              <a:ext cx="1445512" cy="1138197"/>
            </a:xfrm>
            <a:custGeom>
              <a:avLst/>
              <a:gdLst/>
              <a:ahLst/>
              <a:cxnLst/>
              <a:rect l="l" t="t" r="r" b="b"/>
              <a:pathLst>
                <a:path w="1328790" h="1025882">
                  <a:moveTo>
                    <a:pt x="0" y="0"/>
                  </a:moveTo>
                  <a:lnTo>
                    <a:pt x="1328790" y="0"/>
                  </a:lnTo>
                  <a:lnTo>
                    <a:pt x="1328790" y="1025882"/>
                  </a:lnTo>
                  <a:lnTo>
                    <a:pt x="0" y="1025882"/>
                  </a:lnTo>
                  <a:close/>
                </a:path>
              </a:pathLst>
            </a:custGeom>
            <a:solidFill>
              <a:srgbClr val="E3D9D1">
                <a:alpha val="63922"/>
              </a:srgbClr>
            </a:solidFill>
          </p:spPr>
          <p:txBody>
            <a:bodyPr/>
            <a:lstStyle/>
            <a:p>
              <a:pPr algn="just"/>
              <a:r>
                <a:rPr lang="pt-BR" sz="2094" dirty="0">
                  <a:latin typeface="Oswald" panose="020B0604020202020204" charset="0"/>
                </a:rPr>
                <a:t>A </a:t>
              </a:r>
              <a:r>
                <a:rPr lang="pt-BR" sz="2094" dirty="0">
                  <a:latin typeface="Oswald" panose="020B0604020202020204" charset="0"/>
                </a:rPr>
                <a:t>proposta consistiu na implementação de um sistema embarcado baseado no </a:t>
              </a:r>
              <a:r>
                <a:rPr lang="pt-BR" sz="2094" dirty="0" err="1">
                  <a:latin typeface="Oswald" panose="020B0604020202020204" charset="0"/>
                </a:rPr>
                <a:t>Arduino</a:t>
              </a:r>
              <a:r>
                <a:rPr lang="pt-BR" sz="2094" dirty="0">
                  <a:latin typeface="Oswald" panose="020B0604020202020204" charset="0"/>
                </a:rPr>
                <a:t> Nano, utilizando sensores DHT11 (temperatura e umidade do ar) e HD-38 (umidade do solo). A comunicação dos dados foi realizada via interface com Python, com registro em cartão SD. Algoritmos otimizados foram desenvolvidos para o processamento estatístico dos dados, abrangendo análise de variabilidade, detecção de </a:t>
              </a:r>
              <a:r>
                <a:rPr lang="pt-BR" sz="2094" dirty="0" err="1">
                  <a:latin typeface="Oswald" panose="020B0604020202020204" charset="0"/>
                </a:rPr>
                <a:t>outliers</a:t>
              </a:r>
              <a:r>
                <a:rPr lang="pt-BR" sz="2094" dirty="0">
                  <a:latin typeface="Oswald" panose="020B0604020202020204" charset="0"/>
                </a:rPr>
                <a:t> e </a:t>
              </a:r>
              <a:r>
                <a:rPr lang="pt-BR" sz="2094" dirty="0">
                  <a:latin typeface="Oswald" panose="020B0604020202020204" charset="0"/>
                </a:rPr>
                <a:t>cálculos de medidas de tendência centra: média, media e moda. Além de medidas de variabilidade: desvio padrão e variância. </a:t>
              </a:r>
              <a:endParaRPr lang="pt-BR" sz="2094" dirty="0">
                <a:latin typeface="Oswald" panose="020B0604020202020204" charset="0"/>
              </a:endParaRP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95250"/>
              <a:ext cx="1328790" cy="1121132"/>
            </a:xfrm>
            <a:prstGeom prst="rect">
              <a:avLst/>
            </a:prstGeom>
          </p:spPr>
          <p:txBody>
            <a:bodyPr lIns="37999" tIns="37999" rIns="37999" bIns="37999" rtlCol="0" anchor="ctr"/>
            <a:lstStyle/>
            <a:p>
              <a:pPr algn="ctr">
                <a:lnSpc>
                  <a:spcPts val="4317"/>
                </a:lnSpc>
              </a:pPr>
              <a:endParaRPr sz="1055"/>
            </a:p>
          </p:txBody>
        </p:sp>
      </p:grpSp>
      <p:pic>
        <p:nvPicPr>
          <p:cNvPr id="9" name="Imagem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003" y="28546146"/>
            <a:ext cx="1272170" cy="1977477"/>
          </a:xfrm>
          <a:prstGeom prst="rect">
            <a:avLst/>
          </a:prstGeom>
        </p:spPr>
      </p:pic>
      <p:sp>
        <p:nvSpPr>
          <p:cNvPr id="24" name="CaixaDeTexto 23"/>
          <p:cNvSpPr txBox="1"/>
          <p:nvPr/>
        </p:nvSpPr>
        <p:spPr>
          <a:xfrm>
            <a:off x="1812052" y="28171673"/>
            <a:ext cx="2610469" cy="552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96" b="1" dirty="0">
                <a:latin typeface="Oswald" panose="020B0604020202020204" charset="0"/>
              </a:rPr>
              <a:t>Figura 1: </a:t>
            </a:r>
            <a:r>
              <a:rPr lang="pt-BR" sz="1496" dirty="0">
                <a:latin typeface="Oswald" panose="020B0604020202020204" charset="0"/>
              </a:rPr>
              <a:t>Componentes do Circuito.</a:t>
            </a:r>
            <a:endParaRPr lang="pt-BR" sz="1496" dirty="0">
              <a:latin typeface="Oswald" panose="020B0604020202020204" charset="0"/>
            </a:endParaRPr>
          </a:p>
        </p:txBody>
      </p:sp>
      <p:pic>
        <p:nvPicPr>
          <p:cNvPr id="25" name="Imagem 24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172" y="28532256"/>
            <a:ext cx="1198187" cy="1977478"/>
          </a:xfrm>
          <a:prstGeom prst="rect">
            <a:avLst/>
          </a:prstGeom>
        </p:spPr>
      </p:pic>
      <p:sp>
        <p:nvSpPr>
          <p:cNvPr id="88" name="Retângulo 87"/>
          <p:cNvSpPr/>
          <p:nvPr/>
        </p:nvSpPr>
        <p:spPr>
          <a:xfrm>
            <a:off x="5840333" y="28145505"/>
            <a:ext cx="2260555" cy="2546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55" b="1" dirty="0">
                <a:latin typeface="Oswald" panose="020B0604020202020204" charset="0"/>
              </a:rPr>
              <a:t>Figura </a:t>
            </a:r>
            <a:r>
              <a:rPr lang="pt-BR" sz="1055" b="1" dirty="0">
                <a:latin typeface="Oswald" panose="020B0604020202020204" charset="0"/>
              </a:rPr>
              <a:t>2: </a:t>
            </a:r>
            <a:r>
              <a:rPr lang="pt-BR" sz="1055" dirty="0" err="1">
                <a:latin typeface="Oswald" panose="020B0604020202020204" charset="0"/>
              </a:rPr>
              <a:t>Analizador</a:t>
            </a:r>
            <a:r>
              <a:rPr lang="pt-BR" sz="1055" dirty="0">
                <a:latin typeface="Oswald" panose="020B0604020202020204" charset="0"/>
              </a:rPr>
              <a:t> de solo com </a:t>
            </a:r>
            <a:r>
              <a:rPr lang="pt-BR" sz="1055" dirty="0" err="1">
                <a:latin typeface="Oswald" panose="020B0604020202020204" charset="0"/>
              </a:rPr>
              <a:t>Arduino</a:t>
            </a:r>
            <a:r>
              <a:rPr lang="pt-BR" sz="1055" dirty="0">
                <a:latin typeface="Oswald" panose="020B0604020202020204" charset="0"/>
              </a:rPr>
              <a:t>.</a:t>
            </a:r>
            <a:endParaRPr lang="pt-BR" sz="1055" dirty="0"/>
          </a:p>
        </p:txBody>
      </p:sp>
      <p:pic>
        <p:nvPicPr>
          <p:cNvPr id="89" name="Imagem 8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696" y="28494746"/>
            <a:ext cx="1356208" cy="2014987"/>
          </a:xfrm>
          <a:prstGeom prst="rect">
            <a:avLst/>
          </a:prstGeom>
        </p:spPr>
      </p:pic>
      <p:pic>
        <p:nvPicPr>
          <p:cNvPr id="90" name="Imagem 89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728" y="28520199"/>
            <a:ext cx="1923668" cy="2001591"/>
          </a:xfrm>
          <a:prstGeom prst="rect">
            <a:avLst/>
          </a:prstGeom>
        </p:spPr>
      </p:pic>
      <p:sp>
        <p:nvSpPr>
          <p:cNvPr id="87" name="CaixaDeTexto 86"/>
          <p:cNvSpPr txBox="1"/>
          <p:nvPr/>
        </p:nvSpPr>
        <p:spPr>
          <a:xfrm>
            <a:off x="1992129" y="30699135"/>
            <a:ext cx="2164279" cy="25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5" b="1" dirty="0">
                <a:latin typeface="Oswald" panose="020B0604020202020204" charset="0"/>
              </a:rPr>
              <a:t>Fonte: </a:t>
            </a:r>
            <a:r>
              <a:rPr lang="pt-BR" sz="1055" dirty="0">
                <a:latin typeface="Oswald" panose="020B0604020202020204" charset="0"/>
              </a:rPr>
              <a:t>Autor</a:t>
            </a:r>
            <a:r>
              <a:rPr lang="pt-BR" sz="1055" b="1" dirty="0">
                <a:latin typeface="Oswald" panose="020B0604020202020204" charset="0"/>
              </a:rPr>
              <a:t> </a:t>
            </a:r>
            <a:endParaRPr lang="pt-BR" sz="1055" b="1" dirty="0">
              <a:latin typeface="Oswald" panose="020B0604020202020204" charset="0"/>
            </a:endParaRPr>
          </a:p>
        </p:txBody>
      </p:sp>
      <p:sp>
        <p:nvSpPr>
          <p:cNvPr id="91" name="CaixaDeTexto 90"/>
          <p:cNvSpPr txBox="1"/>
          <p:nvPr/>
        </p:nvSpPr>
        <p:spPr>
          <a:xfrm>
            <a:off x="5788722" y="30717450"/>
            <a:ext cx="2164279" cy="25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5" b="1" dirty="0">
                <a:latin typeface="Oswald" panose="020B0604020202020204" charset="0"/>
              </a:rPr>
              <a:t>Fonte: </a:t>
            </a:r>
            <a:r>
              <a:rPr lang="pt-BR" sz="1055" dirty="0">
                <a:latin typeface="Oswald" panose="020B0604020202020204" charset="0"/>
              </a:rPr>
              <a:t>Autor</a:t>
            </a:r>
            <a:r>
              <a:rPr lang="pt-BR" sz="1055" b="1" dirty="0">
                <a:latin typeface="Oswald" panose="020B0604020202020204" charset="0"/>
              </a:rPr>
              <a:t> </a:t>
            </a:r>
            <a:endParaRPr lang="pt-BR" sz="1055" b="1" dirty="0">
              <a:latin typeface="Oswa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920</Words>
  <Application>Microsoft Office PowerPoint</Application>
  <PresentationFormat>Personalizar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Oswald</vt:lpstr>
      <vt:lpstr>Oswald Bold</vt:lpstr>
      <vt:lpstr>Calibri</vt:lpstr>
      <vt:lpstr>Arial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Banner Jovem_FEIRA DE CIÊNCIAS</dc:title>
  <dc:creator>Jeffrey24</dc:creator>
  <cp:lastModifiedBy>Jeffrey24</cp:lastModifiedBy>
  <cp:revision>36</cp:revision>
  <dcterms:created xsi:type="dcterms:W3CDTF">2006-08-16T00:00:00Z</dcterms:created>
  <dcterms:modified xsi:type="dcterms:W3CDTF">2025-07-15T16:25:30Z</dcterms:modified>
  <dc:identifier>DAGrraieB0A</dc:identifier>
</cp:coreProperties>
</file>