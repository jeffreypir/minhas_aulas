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2313900" cy="45720000"/>
  <p:notesSz cx="6858000" cy="9144000"/>
  <p:embeddedFontLst>
    <p:embeddedFont>
      <p:font typeface="Oswald Bold" panose="020B0604020202020204" charset="0"/>
      <p:regular r:id="rId3"/>
      <p:bold r:id="rId4"/>
    </p:embeddedFont>
    <p:embeddedFont>
      <p:font typeface="Oswald" panose="020B0604020202020204" charset="0"/>
      <p:regular r:id="rId5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607" autoAdjust="0"/>
  </p:normalViewPr>
  <p:slideViewPr>
    <p:cSldViewPr>
      <p:cViewPr>
        <p:scale>
          <a:sx n="30" d="100"/>
          <a:sy n="30" d="100"/>
        </p:scale>
        <p:origin x="1016" y="-7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47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76119" y="42046829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1"/>
                </a:lnTo>
                <a:lnTo>
                  <a:pt x="0" y="3673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53473" y="6966176"/>
            <a:ext cx="22361052" cy="34838868"/>
            <a:chOff x="0" y="0"/>
            <a:chExt cx="2966458" cy="4228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66458" cy="4228947"/>
            </a:xfrm>
            <a:custGeom>
              <a:avLst/>
              <a:gdLst/>
              <a:ahLst/>
              <a:cxnLst/>
              <a:rect l="l" t="t" r="r" b="b"/>
              <a:pathLst>
                <a:path w="2966458" h="4228947">
                  <a:moveTo>
                    <a:pt x="0" y="0"/>
                  </a:moveTo>
                  <a:lnTo>
                    <a:pt x="2966458" y="0"/>
                  </a:lnTo>
                  <a:lnTo>
                    <a:pt x="2966458" y="4228947"/>
                  </a:lnTo>
                  <a:lnTo>
                    <a:pt x="0" y="4228947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966458" cy="4324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402948" y="42251281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8056607" y="42251281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1729778" y="42251281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>
            <a:off x="12001697" y="40888582"/>
            <a:ext cx="9293426" cy="3194489"/>
            <a:chOff x="0" y="0"/>
            <a:chExt cx="1328068" cy="4565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8068" cy="456505"/>
            </a:xfrm>
            <a:custGeom>
              <a:avLst/>
              <a:gdLst/>
              <a:ahLst/>
              <a:cxnLst/>
              <a:rect l="l" t="t" r="r" b="b"/>
              <a:pathLst>
                <a:path w="1328068" h="456505">
                  <a:moveTo>
                    <a:pt x="0" y="0"/>
                  </a:moveTo>
                  <a:lnTo>
                    <a:pt x="1328068" y="0"/>
                  </a:lnTo>
                  <a:lnTo>
                    <a:pt x="132806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328068" cy="551755"/>
            </a:xfrm>
            <a:prstGeom prst="rect">
              <a:avLst/>
            </a:prstGeom>
          </p:spPr>
          <p:txBody>
            <a:bodyPr lIns="110222" tIns="110222" rIns="110222" bIns="110222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2763763" y="41358807"/>
            <a:ext cx="5775423" cy="2269491"/>
          </a:xfrm>
          <a:custGeom>
            <a:avLst/>
            <a:gdLst/>
            <a:ahLst/>
            <a:cxnLst/>
            <a:rect l="l" t="t" r="r" b="b"/>
            <a:pathLst>
              <a:path w="5775423" h="2269491">
                <a:moveTo>
                  <a:pt x="0" y="0"/>
                </a:moveTo>
                <a:lnTo>
                  <a:pt x="5775423" y="0"/>
                </a:lnTo>
                <a:lnTo>
                  <a:pt x="5775423" y="2269491"/>
                </a:lnTo>
                <a:lnTo>
                  <a:pt x="0" y="226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>
            <a:off x="18539186" y="40888582"/>
            <a:ext cx="1993872" cy="3048509"/>
          </a:xfrm>
          <a:custGeom>
            <a:avLst/>
            <a:gdLst/>
            <a:ahLst/>
            <a:cxnLst/>
            <a:rect l="l" t="t" r="r" b="b"/>
            <a:pathLst>
              <a:path w="1993872" h="3048509">
                <a:moveTo>
                  <a:pt x="0" y="0"/>
                </a:moveTo>
                <a:lnTo>
                  <a:pt x="1993872" y="0"/>
                </a:lnTo>
                <a:lnTo>
                  <a:pt x="1993872" y="3048509"/>
                </a:lnTo>
                <a:lnTo>
                  <a:pt x="0" y="3048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4383436" y="42210007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-2962904" y="42175704"/>
            <a:ext cx="3704920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>
            <a:off x="710266" y="42210007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8" name="Group 18"/>
          <p:cNvGrpSpPr/>
          <p:nvPr/>
        </p:nvGrpSpPr>
        <p:grpSpPr>
          <a:xfrm>
            <a:off x="-47688" y="7372066"/>
            <a:ext cx="22283645" cy="3063744"/>
            <a:chOff x="0" y="0"/>
            <a:chExt cx="2704920" cy="3718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4920" cy="371895"/>
            </a:xfrm>
            <a:custGeom>
              <a:avLst/>
              <a:gdLst/>
              <a:ahLst/>
              <a:cxnLst/>
              <a:rect l="l" t="t" r="r" b="b"/>
              <a:pathLst>
                <a:path w="2704920" h="371895">
                  <a:moveTo>
                    <a:pt x="0" y="0"/>
                  </a:moveTo>
                  <a:lnTo>
                    <a:pt x="2704920" y="0"/>
                  </a:lnTo>
                  <a:lnTo>
                    <a:pt x="2704920" y="371895"/>
                  </a:lnTo>
                  <a:lnTo>
                    <a:pt x="0" y="37189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704920" cy="467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10174700"/>
            <a:ext cx="22235958" cy="1903713"/>
            <a:chOff x="0" y="0"/>
            <a:chExt cx="2734121" cy="2310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34121" cy="231084"/>
            </a:xfrm>
            <a:custGeom>
              <a:avLst/>
              <a:gdLst/>
              <a:ahLst/>
              <a:cxnLst/>
              <a:rect l="l" t="t" r="r" b="b"/>
              <a:pathLst>
                <a:path w="2734121" h="231084">
                  <a:moveTo>
                    <a:pt x="0" y="0"/>
                  </a:moveTo>
                  <a:lnTo>
                    <a:pt x="2734121" y="0"/>
                  </a:lnTo>
                  <a:lnTo>
                    <a:pt x="2734121" y="231084"/>
                  </a:lnTo>
                  <a:lnTo>
                    <a:pt x="0" y="231084"/>
                  </a:lnTo>
                  <a:close/>
                </a:path>
              </a:pathLst>
            </a:custGeom>
            <a:solidFill>
              <a:srgbClr val="E3D9D1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734121" cy="326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0266" y="16440986"/>
            <a:ext cx="10241772" cy="9584647"/>
            <a:chOff x="0" y="0"/>
            <a:chExt cx="1364871" cy="127729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64871" cy="1277299"/>
            </a:xfrm>
            <a:custGeom>
              <a:avLst/>
              <a:gdLst/>
              <a:ahLst/>
              <a:cxnLst/>
              <a:rect l="l" t="t" r="r" b="b"/>
              <a:pathLst>
                <a:path w="1364871" h="1277299">
                  <a:moveTo>
                    <a:pt x="0" y="0"/>
                  </a:moveTo>
                  <a:lnTo>
                    <a:pt x="1364871" y="0"/>
                  </a:lnTo>
                  <a:lnTo>
                    <a:pt x="1364871" y="1277299"/>
                  </a:lnTo>
                  <a:lnTo>
                    <a:pt x="0" y="1277299"/>
                  </a:lnTo>
                  <a:close/>
                </a:path>
              </a:pathLst>
            </a:custGeom>
            <a:solidFill>
              <a:srgbClr val="E3D9D1">
                <a:alpha val="54902"/>
              </a:srgbClr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1364871" cy="1372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885998" y="15711920"/>
            <a:ext cx="8465276" cy="1609472"/>
            <a:chOff x="0" y="0"/>
            <a:chExt cx="1128126" cy="2144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28126" cy="214486"/>
            </a:xfrm>
            <a:custGeom>
              <a:avLst/>
              <a:gdLst/>
              <a:ahLst/>
              <a:cxnLst/>
              <a:rect l="l" t="t" r="r" b="b"/>
              <a:pathLst>
                <a:path w="1128126" h="214486">
                  <a:moveTo>
                    <a:pt x="0" y="0"/>
                  </a:moveTo>
                  <a:lnTo>
                    <a:pt x="1128126" y="0"/>
                  </a:lnTo>
                  <a:lnTo>
                    <a:pt x="1128126" y="214486"/>
                  </a:lnTo>
                  <a:lnTo>
                    <a:pt x="0" y="21448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128126" cy="309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23478" y="15627080"/>
            <a:ext cx="8169714" cy="1400539"/>
            <a:chOff x="0" y="0"/>
            <a:chExt cx="1088738" cy="1866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88738" cy="186643"/>
            </a:xfrm>
            <a:custGeom>
              <a:avLst/>
              <a:gdLst/>
              <a:ahLst/>
              <a:cxnLst/>
              <a:rect l="l" t="t" r="r" b="b"/>
              <a:pathLst>
                <a:path w="1088738" h="186643">
                  <a:moveTo>
                    <a:pt x="0" y="0"/>
                  </a:moveTo>
                  <a:lnTo>
                    <a:pt x="1088738" y="0"/>
                  </a:lnTo>
                  <a:lnTo>
                    <a:pt x="1088738" y="186643"/>
                  </a:lnTo>
                  <a:lnTo>
                    <a:pt x="0" y="186643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1088738" cy="281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0266" y="27303449"/>
            <a:ext cx="10241772" cy="4467910"/>
            <a:chOff x="0" y="-47625"/>
            <a:chExt cx="1364871" cy="595416"/>
          </a:xfrm>
        </p:grpSpPr>
        <p:sp>
          <p:nvSpPr>
            <p:cNvPr id="36" name="Freeform 36"/>
            <p:cNvSpPr/>
            <p:nvPr/>
          </p:nvSpPr>
          <p:spPr>
            <a:xfrm>
              <a:off x="0" y="8535"/>
              <a:ext cx="1364871" cy="539256"/>
            </a:xfrm>
            <a:custGeom>
              <a:avLst/>
              <a:gdLst/>
              <a:ahLst/>
              <a:cxnLst/>
              <a:rect l="l" t="t" r="r" b="b"/>
              <a:pathLst>
                <a:path w="1364871" h="539256">
                  <a:moveTo>
                    <a:pt x="0" y="0"/>
                  </a:moveTo>
                  <a:lnTo>
                    <a:pt x="1364871" y="0"/>
                  </a:lnTo>
                  <a:lnTo>
                    <a:pt x="1364871" y="539256"/>
                  </a:lnTo>
                  <a:lnTo>
                    <a:pt x="0" y="53925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364871" cy="5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885998" y="26345516"/>
            <a:ext cx="8465276" cy="1639106"/>
            <a:chOff x="0" y="0"/>
            <a:chExt cx="1128126" cy="2184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8126" cy="218436"/>
            </a:xfrm>
            <a:custGeom>
              <a:avLst/>
              <a:gdLst/>
              <a:ahLst/>
              <a:cxnLst/>
              <a:rect l="l" t="t" r="r" b="b"/>
              <a:pathLst>
                <a:path w="1128126" h="218436">
                  <a:moveTo>
                    <a:pt x="0" y="0"/>
                  </a:moveTo>
                  <a:lnTo>
                    <a:pt x="1128126" y="0"/>
                  </a:lnTo>
                  <a:lnTo>
                    <a:pt x="1128126" y="218436"/>
                  </a:lnTo>
                  <a:lnTo>
                    <a:pt x="0" y="21843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1128126" cy="313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23478" y="26206700"/>
            <a:ext cx="8230420" cy="1458131"/>
            <a:chOff x="0" y="0"/>
            <a:chExt cx="1096828" cy="19431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6828" cy="194318"/>
            </a:xfrm>
            <a:custGeom>
              <a:avLst/>
              <a:gdLst/>
              <a:ahLst/>
              <a:cxnLst/>
              <a:rect l="l" t="t" r="r" b="b"/>
              <a:pathLst>
                <a:path w="1096828" h="194318">
                  <a:moveTo>
                    <a:pt x="0" y="0"/>
                  </a:moveTo>
                  <a:lnTo>
                    <a:pt x="1096828" y="0"/>
                  </a:lnTo>
                  <a:lnTo>
                    <a:pt x="1096828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0"/>
              <a:ext cx="1096828" cy="2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035464" y="15966803"/>
            <a:ext cx="9744902" cy="8138924"/>
            <a:chOff x="0" y="-95250"/>
            <a:chExt cx="1298655" cy="1084634"/>
          </a:xfrm>
        </p:grpSpPr>
        <p:sp>
          <p:nvSpPr>
            <p:cNvPr id="45" name="Freeform 45"/>
            <p:cNvSpPr/>
            <p:nvPr/>
          </p:nvSpPr>
          <p:spPr>
            <a:xfrm>
              <a:off x="2749" y="145231"/>
              <a:ext cx="1253591" cy="844153"/>
            </a:xfrm>
            <a:custGeom>
              <a:avLst/>
              <a:gdLst/>
              <a:ahLst/>
              <a:cxnLst/>
              <a:rect l="l" t="t" r="r" b="b"/>
              <a:pathLst>
                <a:path w="1298655" h="974486">
                  <a:moveTo>
                    <a:pt x="0" y="0"/>
                  </a:moveTo>
                  <a:lnTo>
                    <a:pt x="1298655" y="0"/>
                  </a:lnTo>
                  <a:lnTo>
                    <a:pt x="1298655" y="974486"/>
                  </a:lnTo>
                  <a:lnTo>
                    <a:pt x="0" y="97448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pPr algn="just"/>
              <a:r>
                <a:rPr lang="pt-BR" sz="2000" dirty="0" smtClean="0">
                  <a:latin typeface="Oswald" panose="020B0604020202020204" charset="0"/>
                </a:rPr>
                <a:t>.</a:t>
              </a:r>
              <a:endParaRPr lang="pt-BR" sz="2000" dirty="0">
                <a:latin typeface="Oswald" panose="020B0604020202020204" charset="0"/>
              </a:endParaRPr>
            </a:p>
            <a:p>
              <a:endParaRPr lang="pt-BR" dirty="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1298655" cy="1069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711658" y="15952478"/>
            <a:ext cx="8512934" cy="1818968"/>
            <a:chOff x="0" y="0"/>
            <a:chExt cx="1134477" cy="24240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34477" cy="242405"/>
            </a:xfrm>
            <a:custGeom>
              <a:avLst/>
              <a:gdLst/>
              <a:ahLst/>
              <a:cxnLst/>
              <a:rect l="l" t="t" r="r" b="b"/>
              <a:pathLst>
                <a:path w="1134477" h="242405">
                  <a:moveTo>
                    <a:pt x="0" y="0"/>
                  </a:moveTo>
                  <a:lnTo>
                    <a:pt x="1134477" y="0"/>
                  </a:lnTo>
                  <a:lnTo>
                    <a:pt x="1134477" y="242405"/>
                  </a:lnTo>
                  <a:lnTo>
                    <a:pt x="0" y="2424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1134477" cy="33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549137" y="15813663"/>
            <a:ext cx="8392940" cy="1641055"/>
            <a:chOff x="0" y="0"/>
            <a:chExt cx="1118486" cy="21869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18486" cy="218695"/>
            </a:xfrm>
            <a:custGeom>
              <a:avLst/>
              <a:gdLst/>
              <a:ahLst/>
              <a:cxnLst/>
              <a:rect l="l" t="t" r="r" b="b"/>
              <a:pathLst>
                <a:path w="1118486" h="218695">
                  <a:moveTo>
                    <a:pt x="0" y="0"/>
                  </a:moveTo>
                  <a:lnTo>
                    <a:pt x="1118486" y="0"/>
                  </a:lnTo>
                  <a:lnTo>
                    <a:pt x="1118486" y="218695"/>
                  </a:lnTo>
                  <a:lnTo>
                    <a:pt x="0" y="218695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1118486" cy="313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954929" y="25082094"/>
            <a:ext cx="9744902" cy="15084368"/>
            <a:chOff x="0" y="0"/>
            <a:chExt cx="1298655" cy="20102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98655" cy="2010220"/>
            </a:xfrm>
            <a:custGeom>
              <a:avLst/>
              <a:gdLst/>
              <a:ahLst/>
              <a:cxnLst/>
              <a:rect l="l" t="t" r="r" b="b"/>
              <a:pathLst>
                <a:path w="1298655" h="2010220">
                  <a:moveTo>
                    <a:pt x="0" y="0"/>
                  </a:moveTo>
                  <a:lnTo>
                    <a:pt x="1298655" y="0"/>
                  </a:lnTo>
                  <a:lnTo>
                    <a:pt x="1298655" y="2010220"/>
                  </a:lnTo>
                  <a:lnTo>
                    <a:pt x="0" y="2010220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0"/>
              <a:ext cx="1298655" cy="210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711658" y="24329469"/>
            <a:ext cx="8751185" cy="1877231"/>
            <a:chOff x="0" y="0"/>
            <a:chExt cx="1166227" cy="25016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66227" cy="250169"/>
            </a:xfrm>
            <a:custGeom>
              <a:avLst/>
              <a:gdLst/>
              <a:ahLst/>
              <a:cxnLst/>
              <a:rect l="l" t="t" r="r" b="b"/>
              <a:pathLst>
                <a:path w="1166227" h="250169">
                  <a:moveTo>
                    <a:pt x="0" y="0"/>
                  </a:moveTo>
                  <a:lnTo>
                    <a:pt x="1166227" y="0"/>
                  </a:lnTo>
                  <a:lnTo>
                    <a:pt x="1166227" y="250169"/>
                  </a:lnTo>
                  <a:lnTo>
                    <a:pt x="0" y="250169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0"/>
              <a:ext cx="1166227" cy="345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549137" y="24378664"/>
            <a:ext cx="8470069" cy="1544792"/>
            <a:chOff x="0" y="0"/>
            <a:chExt cx="1128765" cy="20586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28765" cy="205867"/>
            </a:xfrm>
            <a:custGeom>
              <a:avLst/>
              <a:gdLst/>
              <a:ahLst/>
              <a:cxnLst/>
              <a:rect l="l" t="t" r="r" b="b"/>
              <a:pathLst>
                <a:path w="1128765" h="205867">
                  <a:moveTo>
                    <a:pt x="0" y="0"/>
                  </a:moveTo>
                  <a:lnTo>
                    <a:pt x="1128765" y="0"/>
                  </a:lnTo>
                  <a:lnTo>
                    <a:pt x="1128765" y="205867"/>
                  </a:lnTo>
                  <a:lnTo>
                    <a:pt x="0" y="205867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1128765" cy="2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 rot="-10800000">
            <a:off x="-243062" y="-3311098"/>
            <a:ext cx="23061399" cy="10582314"/>
          </a:xfrm>
          <a:custGeom>
            <a:avLst/>
            <a:gdLst/>
            <a:ahLst/>
            <a:cxnLst/>
            <a:rect l="l" t="t" r="r" b="b"/>
            <a:pathLst>
              <a:path w="23061399" h="10582314">
                <a:moveTo>
                  <a:pt x="0" y="0"/>
                </a:moveTo>
                <a:lnTo>
                  <a:pt x="23061399" y="0"/>
                </a:lnTo>
                <a:lnTo>
                  <a:pt x="23061399" y="10582313"/>
                </a:lnTo>
                <a:lnTo>
                  <a:pt x="0" y="105823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l="-1182" t="-4690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3" name="Freeform 63"/>
          <p:cNvSpPr/>
          <p:nvPr/>
        </p:nvSpPr>
        <p:spPr>
          <a:xfrm rot="-5400000" flipH="1" flipV="1">
            <a:off x="275445" y="-4585245"/>
            <a:ext cx="8928000" cy="9574263"/>
          </a:xfrm>
          <a:custGeom>
            <a:avLst/>
            <a:gdLst/>
            <a:ahLst/>
            <a:cxnLst/>
            <a:rect l="l" t="t" r="r" b="b"/>
            <a:pathLst>
              <a:path w="8928000" h="9574263">
                <a:moveTo>
                  <a:pt x="8928000" y="9574262"/>
                </a:moveTo>
                <a:lnTo>
                  <a:pt x="0" y="9574262"/>
                </a:lnTo>
                <a:lnTo>
                  <a:pt x="0" y="0"/>
                </a:lnTo>
                <a:lnTo>
                  <a:pt x="8928000" y="0"/>
                </a:lnTo>
                <a:lnTo>
                  <a:pt x="8928000" y="957426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64" name="Freeform 64"/>
          <p:cNvSpPr/>
          <p:nvPr/>
        </p:nvSpPr>
        <p:spPr>
          <a:xfrm rot="-5400000">
            <a:off x="15557454" y="568531"/>
            <a:ext cx="3962218" cy="9549602"/>
          </a:xfrm>
          <a:custGeom>
            <a:avLst/>
            <a:gdLst/>
            <a:ahLst/>
            <a:cxnLst/>
            <a:rect l="l" t="t" r="r" b="b"/>
            <a:pathLst>
              <a:path w="3727401" h="9472195">
                <a:moveTo>
                  <a:pt x="0" y="0"/>
                </a:moveTo>
                <a:lnTo>
                  <a:pt x="3727402" y="0"/>
                </a:lnTo>
                <a:lnTo>
                  <a:pt x="3727402" y="9472195"/>
                </a:lnTo>
                <a:lnTo>
                  <a:pt x="0" y="9472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 l="-139523" b="-107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5" name="Freeform 65"/>
          <p:cNvSpPr/>
          <p:nvPr/>
        </p:nvSpPr>
        <p:spPr>
          <a:xfrm>
            <a:off x="2953356" y="1368289"/>
            <a:ext cx="12966012" cy="3149199"/>
          </a:xfrm>
          <a:custGeom>
            <a:avLst/>
            <a:gdLst/>
            <a:ahLst/>
            <a:cxnLst/>
            <a:rect l="l" t="t" r="r" b="b"/>
            <a:pathLst>
              <a:path w="12966012" h="3149199">
                <a:moveTo>
                  <a:pt x="0" y="0"/>
                </a:moveTo>
                <a:lnTo>
                  <a:pt x="12966011" y="0"/>
                </a:lnTo>
                <a:lnTo>
                  <a:pt x="12966011" y="3149198"/>
                </a:lnTo>
                <a:lnTo>
                  <a:pt x="0" y="3149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6" name="Freeform 66"/>
          <p:cNvSpPr/>
          <p:nvPr/>
        </p:nvSpPr>
        <p:spPr>
          <a:xfrm>
            <a:off x="7895561" y="4568179"/>
            <a:ext cx="8279807" cy="2202884"/>
          </a:xfrm>
          <a:custGeom>
            <a:avLst/>
            <a:gdLst/>
            <a:ahLst/>
            <a:cxnLst/>
            <a:rect l="l" t="t" r="r" b="b"/>
            <a:pathLst>
              <a:path w="8279807" h="2202884">
                <a:moveTo>
                  <a:pt x="0" y="0"/>
                </a:moveTo>
                <a:lnTo>
                  <a:pt x="8279807" y="0"/>
                </a:lnTo>
                <a:lnTo>
                  <a:pt x="8279807" y="2202884"/>
                </a:lnTo>
                <a:lnTo>
                  <a:pt x="0" y="22028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7" name="TextBox 67"/>
          <p:cNvSpPr txBox="1"/>
          <p:nvPr/>
        </p:nvSpPr>
        <p:spPr>
          <a:xfrm>
            <a:off x="152022" y="12067476"/>
            <a:ext cx="22227823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pt-BR" sz="399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Maria Jamile Arcoverde da </a:t>
            </a:r>
            <a:r>
              <a:rPr lang="pt-BR" sz="3999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Silva</a:t>
            </a:r>
            <a:r>
              <a:rPr lang="en-US" sz="3999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¹</a:t>
            </a:r>
            <a:r>
              <a:rPr lang="en-US" sz="399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Ingrid </a:t>
            </a:r>
            <a:r>
              <a:rPr lang="en-US" sz="3999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Iara</a:t>
            </a:r>
            <a:r>
              <a:rPr lang="en-US" sz="399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da Silva </a:t>
            </a:r>
            <a:r>
              <a:rPr lang="en-US" sz="3999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Britto²</a:t>
            </a:r>
            <a:r>
              <a:rPr lang="en-US" sz="399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3999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Inácio</a:t>
            </a:r>
            <a:r>
              <a:rPr lang="en-US" sz="399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Alves dos </a:t>
            </a:r>
            <a:r>
              <a:rPr lang="en-US" sz="3999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Santos³ e Jefferson </a:t>
            </a:r>
            <a:r>
              <a:rPr lang="en-US" sz="3999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3999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dos Santos</a:t>
            </a:r>
            <a:r>
              <a:rPr lang="en-US" sz="3999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</a:p>
          <a:p>
            <a:pPr algn="ctr">
              <a:lnSpc>
                <a:spcPts val="5599"/>
              </a:lnSpc>
            </a:pP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¹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da EREFEM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mariajamilearcoverde@gmail.com,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</a:p>
          <a:p>
            <a:pPr algn="ctr">
              <a:lnSpc>
                <a:spcPts val="5599"/>
              </a:lnSpc>
            </a:pPr>
            <a:r>
              <a:rPr lang="en-US" sz="3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2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da EREFEM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Ingridiara2911@gmail.com,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               3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Professor 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 EREFEM </a:t>
            </a:r>
            <a:r>
              <a:rPr lang="en-US" sz="3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3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inacio.asantos02@professor.educacao.pe.gov.br, </a:t>
            </a:r>
            <a:r>
              <a:rPr lang="en-US" sz="3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                    4 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Professor 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 EREFEM </a:t>
            </a:r>
            <a:r>
              <a:rPr lang="en-US" sz="3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3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jefferson.bsantos42@professor.educacao.pe.gov.br, </a:t>
            </a:r>
            <a:r>
              <a:rPr lang="en-US" sz="3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94587" y="7872990"/>
            <a:ext cx="21185779" cy="256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51"/>
              </a:lnSpc>
            </a:pPr>
            <a:r>
              <a:rPr lang="en-US" sz="18046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FEIRA DE CIÊNCIAS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9644" y="9871977"/>
            <a:ext cx="22182483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pt-BR" sz="3600" dirty="0">
                <a:latin typeface="Oswald" panose="020B0604020202020204" charset="0"/>
              </a:rPr>
              <a:t>SISTEMA ARDUINO PARA MONITORAMENTO AMBIENTAL: USO COMBINADO DE SENSORES E NANOPARTÍCULAS </a:t>
            </a:r>
            <a:r>
              <a:rPr lang="pt-BR" sz="3600" dirty="0" smtClean="0">
                <a:latin typeface="Oswald" panose="020B0604020202020204" charset="0"/>
              </a:rPr>
              <a:t>NA DETECÇÃO </a:t>
            </a:r>
            <a:r>
              <a:rPr lang="pt-BR" sz="3600" dirty="0">
                <a:latin typeface="Oswald" panose="020B0604020202020204" charset="0"/>
              </a:rPr>
              <a:t>E TRATAMENTO DE POLUENTES </a:t>
            </a:r>
            <a:r>
              <a:rPr lang="pt-BR" sz="3600" dirty="0" smtClean="0">
                <a:latin typeface="Oswald" panose="020B0604020202020204" charset="0"/>
              </a:rPr>
              <a:t>AQUÁTICOS</a:t>
            </a:r>
          </a:p>
          <a:p>
            <a:pPr algn="ctr">
              <a:lnSpc>
                <a:spcPts val="8800"/>
              </a:lnSpc>
            </a:pPr>
            <a:r>
              <a:rPr lang="en-US" sz="3600" dirty="0" smtClean="0">
                <a:solidFill>
                  <a:srgbClr val="684769"/>
                </a:solidFill>
                <a:latin typeface="Oswald" panose="020B0604020202020204" charset="0"/>
                <a:ea typeface="Oswald"/>
                <a:cs typeface="Oswald"/>
                <a:sym typeface="Oswald"/>
              </a:rPr>
              <a:t> </a:t>
            </a:r>
            <a:endParaRPr lang="en-US" sz="3600" dirty="0">
              <a:solidFill>
                <a:srgbClr val="684769"/>
              </a:solidFill>
              <a:latin typeface="Oswald" panose="020B0604020202020204" charset="0"/>
              <a:ea typeface="Oswald"/>
              <a:cs typeface="Oswald"/>
              <a:sym typeface="Oswald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2001457" y="15788120"/>
            <a:ext cx="7586565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INTRODUÇÃO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-335485" y="26282900"/>
            <a:ext cx="12163499" cy="115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81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OBJETIVOS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1347694" y="31975503"/>
            <a:ext cx="9306903" cy="2497205"/>
            <a:chOff x="0" y="0"/>
            <a:chExt cx="1269336" cy="34058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69336" cy="340585"/>
            </a:xfrm>
            <a:custGeom>
              <a:avLst/>
              <a:gdLst/>
              <a:ahLst/>
              <a:cxnLst/>
              <a:rect l="l" t="t" r="r" b="b"/>
              <a:pathLst>
                <a:path w="1269336" h="340585">
                  <a:moveTo>
                    <a:pt x="0" y="0"/>
                  </a:moveTo>
                  <a:lnTo>
                    <a:pt x="1269336" y="0"/>
                  </a:lnTo>
                  <a:lnTo>
                    <a:pt x="1269336" y="340585"/>
                  </a:lnTo>
                  <a:lnTo>
                    <a:pt x="0" y="34058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0"/>
              <a:ext cx="1269336" cy="435835"/>
            </a:xfrm>
            <a:prstGeom prst="rect">
              <a:avLst/>
            </a:prstGeom>
          </p:spPr>
          <p:txBody>
            <a:bodyPr lIns="49637" tIns="49637" rIns="49637" bIns="49637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37422" y="31922016"/>
            <a:ext cx="9200884" cy="2102908"/>
            <a:chOff x="0" y="0"/>
            <a:chExt cx="1254876" cy="28680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254876" cy="286808"/>
            </a:xfrm>
            <a:custGeom>
              <a:avLst/>
              <a:gdLst/>
              <a:ahLst/>
              <a:cxnLst/>
              <a:rect l="l" t="t" r="r" b="b"/>
              <a:pathLst>
                <a:path w="1254876" h="286808">
                  <a:moveTo>
                    <a:pt x="0" y="0"/>
                  </a:moveTo>
                  <a:lnTo>
                    <a:pt x="1254876" y="0"/>
                  </a:lnTo>
                  <a:lnTo>
                    <a:pt x="1254876" y="286808"/>
                  </a:lnTo>
                  <a:lnTo>
                    <a:pt x="0" y="28680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95250"/>
              <a:ext cx="1254876" cy="382058"/>
            </a:xfrm>
            <a:prstGeom prst="rect">
              <a:avLst/>
            </a:prstGeom>
          </p:spPr>
          <p:txBody>
            <a:bodyPr lIns="49637" tIns="49637" rIns="49637" bIns="49637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-841227" y="32331630"/>
            <a:ext cx="13359830" cy="111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8"/>
              </a:lnSpc>
            </a:pPr>
            <a:r>
              <a:rPr lang="en-US" sz="7816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MATERIAL E MÉTODOS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920437" y="16030226"/>
            <a:ext cx="9596991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RESULTADOS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3774497" y="24594009"/>
            <a:ext cx="6313503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CONCLUSÃO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2200485" y="26035250"/>
            <a:ext cx="8818721" cy="1212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just"/>
            <a:r>
              <a:rPr lang="pt-BR" sz="2800" dirty="0">
                <a:latin typeface="Oswald" panose="020B0604020202020204" charset="0"/>
              </a:rPr>
              <a:t>O sistema baseado na plataforma </a:t>
            </a:r>
            <a:r>
              <a:rPr lang="pt-BR" sz="2800" dirty="0" err="1">
                <a:latin typeface="Oswald" panose="020B0604020202020204" charset="0"/>
              </a:rPr>
              <a:t>Arduino</a:t>
            </a:r>
            <a:r>
              <a:rPr lang="pt-BR" sz="2800" dirty="0">
                <a:latin typeface="Oswald" panose="020B0604020202020204" charset="0"/>
              </a:rPr>
              <a:t> demonstrou desempenho satisfatório na aquisição e leitura de dados dos sensores integrados. Durante os testes com amostras simuladas de água contaminada, todos os sensores apresentaram respostas coerentes às variações nos parâmetros analisados</a:t>
            </a:r>
            <a:r>
              <a:rPr lang="pt-BR" sz="2800" dirty="0" smtClean="0">
                <a:latin typeface="Oswald" panose="020B0604020202020204" charset="0"/>
              </a:rPr>
              <a:t>.</a:t>
            </a:r>
            <a:endParaRPr lang="pt-BR" sz="2800" dirty="0">
              <a:latin typeface="Oswald" panose="020B0604020202020204" charset="0"/>
            </a:endParaRPr>
          </a:p>
          <a:p>
            <a:pPr algn="just"/>
            <a:r>
              <a:rPr lang="pt-BR" sz="2800" dirty="0">
                <a:latin typeface="Oswald" panose="020B0604020202020204" charset="0"/>
              </a:rPr>
              <a:t>A </a:t>
            </a:r>
            <a:r>
              <a:rPr lang="pt-BR" sz="2800" b="1" dirty="0">
                <a:latin typeface="Oswald" panose="020B0604020202020204" charset="0"/>
              </a:rPr>
              <a:t>câmara de análise</a:t>
            </a:r>
            <a:r>
              <a:rPr lang="pt-BR" sz="2800" dirty="0">
                <a:latin typeface="Oswald" panose="020B0604020202020204" charset="0"/>
              </a:rPr>
              <a:t>, construída em acrílico, permitiu a instalação segura e padronizada dos sensores, garantindo medições estáveis e repetíveis. A comunicação serial via monitor do </a:t>
            </a:r>
            <a:r>
              <a:rPr lang="pt-BR" sz="2800" dirty="0" err="1">
                <a:latin typeface="Oswald" panose="020B0604020202020204" charset="0"/>
              </a:rPr>
              <a:t>Arduino</a:t>
            </a:r>
            <a:r>
              <a:rPr lang="pt-BR" sz="2800" dirty="0">
                <a:latin typeface="Oswald" panose="020B0604020202020204" charset="0"/>
              </a:rPr>
              <a:t> possibilitou o acompanhamento em tempo real dos dados obtidos, facilitando a análise e registro dos resultados.</a:t>
            </a:r>
          </a:p>
          <a:p>
            <a:pPr algn="just"/>
            <a:r>
              <a:rPr lang="pt-BR" sz="2800" dirty="0">
                <a:latin typeface="Oswald" panose="020B0604020202020204" charset="0"/>
              </a:rPr>
              <a:t>Entretanto, a natureza </a:t>
            </a:r>
            <a:r>
              <a:rPr lang="pt-BR" sz="2800" dirty="0" smtClean="0">
                <a:latin typeface="Oswald" panose="020B0604020202020204" charset="0"/>
              </a:rPr>
              <a:t>das amostra de água e outros tipos de amostras utilizados nos experimentos </a:t>
            </a:r>
            <a:r>
              <a:rPr lang="pt-BR" sz="2800" dirty="0">
                <a:latin typeface="Oswald" panose="020B0604020202020204" charset="0"/>
              </a:rPr>
              <a:t>impôs desafios específicos ao sistema eletrônico:</a:t>
            </a:r>
          </a:p>
          <a:p>
            <a:pPr algn="just"/>
            <a:r>
              <a:rPr lang="pt-BR" sz="2800" b="1" dirty="0">
                <a:latin typeface="Oswald" panose="020B0604020202020204" charset="0"/>
              </a:rPr>
              <a:t>Corrosão de componentes</a:t>
            </a:r>
            <a:r>
              <a:rPr lang="pt-BR" sz="2800" dirty="0">
                <a:latin typeface="Oswald" panose="020B0604020202020204" charset="0"/>
              </a:rPr>
              <a:t>: A presença de sal (cloreto de sódio e outros íons) acelerou processos de oxidação em conexões metálicas e terminais expostos, exigindo o uso de materiais protegidos ou encapsulamento com resina e silicone para garantir a durabilidade do sistema.</a:t>
            </a:r>
          </a:p>
          <a:p>
            <a:pPr algn="just"/>
            <a:r>
              <a:rPr lang="pt-BR" sz="2800" b="1" dirty="0">
                <a:latin typeface="Oswald" panose="020B0604020202020204" charset="0"/>
              </a:rPr>
              <a:t>Interferência nos sensores</a:t>
            </a:r>
            <a:r>
              <a:rPr lang="pt-BR" sz="2800" dirty="0">
                <a:latin typeface="Oswald" panose="020B0604020202020204" charset="0"/>
              </a:rPr>
              <a:t>: A alta condutividade da água marinha pode gerar leituras instáveis ou enviesadas em sensores eletrônicos sensíveis, como o TDS e o TCRT5000, sendo necessário </a:t>
            </a:r>
            <a:r>
              <a:rPr lang="pt-BR" sz="2800" dirty="0" err="1">
                <a:latin typeface="Oswald" panose="020B0604020202020204" charset="0"/>
              </a:rPr>
              <a:t>recalibrar</a:t>
            </a:r>
            <a:r>
              <a:rPr lang="pt-BR" sz="2800" dirty="0">
                <a:latin typeface="Oswald" panose="020B0604020202020204" charset="0"/>
              </a:rPr>
              <a:t> os sensores para esse tipo de meio.</a:t>
            </a:r>
          </a:p>
          <a:p>
            <a:pPr algn="just"/>
            <a:r>
              <a:rPr lang="pt-BR" sz="2800" b="1" dirty="0">
                <a:latin typeface="Oswald" panose="020B0604020202020204" charset="0"/>
              </a:rPr>
              <a:t>Curto-circuito e umidade</a:t>
            </a:r>
            <a:r>
              <a:rPr lang="pt-BR" sz="2800" dirty="0">
                <a:latin typeface="Oswald" panose="020B0604020202020204" charset="0"/>
              </a:rPr>
              <a:t>: A umidade elevada e respingos constantes durante os testes indicaram a necessidade de proteção física adicional da placa </a:t>
            </a:r>
            <a:r>
              <a:rPr lang="pt-BR" sz="2800" dirty="0" err="1">
                <a:latin typeface="Oswald" panose="020B0604020202020204" charset="0"/>
              </a:rPr>
              <a:t>Arduino</a:t>
            </a:r>
            <a:r>
              <a:rPr lang="pt-BR" sz="2800" dirty="0">
                <a:latin typeface="Oswald" panose="020B0604020202020204" charset="0"/>
              </a:rPr>
              <a:t>, como caixas estanques ou uso de verniz isolante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845635" y="17624879"/>
            <a:ext cx="9919361" cy="73881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2800" dirty="0">
                <a:latin typeface="Oswald" panose="020B0604020202020204" charset="0"/>
              </a:rPr>
              <a:t>A contaminação das águas costeiras por compostos orgânicos — como derivados de petróleo, óleos vegetais e minerais, surfactantes e </a:t>
            </a:r>
            <a:r>
              <a:rPr lang="pt-BR" sz="2800" dirty="0" err="1">
                <a:latin typeface="Oswald" panose="020B0604020202020204" charset="0"/>
              </a:rPr>
              <a:t>microplásticos</a:t>
            </a:r>
            <a:r>
              <a:rPr lang="pt-BR" sz="2800" dirty="0">
                <a:latin typeface="Oswald" panose="020B0604020202020204" charset="0"/>
              </a:rPr>
              <a:t> — constitui um grave problema ambiental, comprometendo a biodiversidade marinha e representando riscos à saúde </a:t>
            </a:r>
            <a:r>
              <a:rPr lang="pt-BR" sz="2800" dirty="0" smtClean="0">
                <a:latin typeface="Oswald" panose="020B0604020202020204" charset="0"/>
              </a:rPr>
              <a:t>pública. Esses poluentes alteram significativamente as propriedades físico-químicas da água, muitas vezes de forma não perceptível visualmente, exigindo sistemas de detecção sensíveis e contínuos. Diante </a:t>
            </a:r>
            <a:r>
              <a:rPr lang="pt-BR" sz="2800" dirty="0">
                <a:latin typeface="Oswald" panose="020B0604020202020204" charset="0"/>
              </a:rPr>
              <a:t>desse cenário, este trabalho propõe o desenvolvimento de um sistema integrado de baixo custo para monitoramento e remediação de águas contaminadas, utilizando a plataforma </a:t>
            </a:r>
            <a:r>
              <a:rPr lang="pt-BR" sz="2800" dirty="0" err="1">
                <a:latin typeface="Oswald" panose="020B0604020202020204" charset="0"/>
              </a:rPr>
              <a:t>Arduino</a:t>
            </a:r>
            <a:r>
              <a:rPr lang="pt-BR" sz="2800" dirty="0">
                <a:latin typeface="Oswald" panose="020B0604020202020204" charset="0"/>
              </a:rPr>
              <a:t> e uma câmara de análise construída para testes controlados. O sistema incorpora sensores eletrônicos capazes de detectar múltiplos parâmetros relevantes: o </a:t>
            </a:r>
            <a:r>
              <a:rPr lang="pt-BR" sz="2800" b="1" dirty="0">
                <a:latin typeface="Oswald" panose="020B0604020202020204" charset="0"/>
              </a:rPr>
              <a:t>TDS Meter</a:t>
            </a:r>
            <a:r>
              <a:rPr lang="pt-BR" sz="2800" dirty="0">
                <a:latin typeface="Oswald" panose="020B0604020202020204" charset="0"/>
              </a:rPr>
              <a:t>, para análise da condutividade elétrica; o </a:t>
            </a:r>
            <a:r>
              <a:rPr lang="pt-BR" sz="2800" b="1" dirty="0">
                <a:latin typeface="Oswald" panose="020B0604020202020204" charset="0"/>
              </a:rPr>
              <a:t>DS18B20</a:t>
            </a:r>
            <a:r>
              <a:rPr lang="pt-BR" sz="2800" dirty="0">
                <a:latin typeface="Oswald" panose="020B0604020202020204" charset="0"/>
              </a:rPr>
              <a:t>, para monitoramento da temperatura; o </a:t>
            </a:r>
            <a:r>
              <a:rPr lang="pt-BR" sz="2800" b="1" dirty="0">
                <a:latin typeface="Oswald" panose="020B0604020202020204" charset="0"/>
              </a:rPr>
              <a:t>TCS230</a:t>
            </a:r>
            <a:r>
              <a:rPr lang="pt-BR" sz="2800" dirty="0">
                <a:latin typeface="Oswald" panose="020B0604020202020204" charset="0"/>
              </a:rPr>
              <a:t>, para identificação de alterações cromáticas associadas à presença de contaminantes; e o </a:t>
            </a:r>
            <a:r>
              <a:rPr lang="pt-BR" sz="2800" b="1" dirty="0">
                <a:latin typeface="Oswald" panose="020B0604020202020204" charset="0"/>
              </a:rPr>
              <a:t>TCRT5000</a:t>
            </a:r>
            <a:r>
              <a:rPr lang="pt-BR" sz="2800" dirty="0">
                <a:latin typeface="Oswald" panose="020B0604020202020204" charset="0"/>
              </a:rPr>
              <a:t>, utilizado como sensor de turbidez óptica, sensível à concentração de partículas e hidrocarbonetos em suspensão</a:t>
            </a:r>
            <a:r>
              <a:rPr lang="pt-BR" sz="2800" dirty="0"/>
              <a:t>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726141" y="27728874"/>
            <a:ext cx="10210022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pt-BR" sz="2800" dirty="0">
              <a:latin typeface="Oswald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Oswald" panose="020B0604020202020204" charset="0"/>
              </a:rPr>
              <a:t>Desenvolver e validar um sistema integrado de baixo custo para o monitoramento e a remediação de águas costeiras contaminadas por compostos orgânicos, utilizando sensores eletrônicos, uma câmara de análise e </a:t>
            </a:r>
            <a:r>
              <a:rPr lang="pt-BR" sz="2800" dirty="0" err="1">
                <a:latin typeface="Oswald" panose="020B0604020202020204" charset="0"/>
              </a:rPr>
              <a:t>nanomateriais</a:t>
            </a:r>
            <a:r>
              <a:rPr lang="pt-BR" sz="2800" dirty="0">
                <a:latin typeface="Oswald" panose="020B0604020202020204" charset="0"/>
              </a:rPr>
              <a:t> com potencial remediador.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 smtClean="0">
              <a:latin typeface="Oswald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>
                <a:latin typeface="Oswald" panose="020B0604020202020204" charset="0"/>
              </a:rPr>
              <a:t>Projetar </a:t>
            </a:r>
            <a:r>
              <a:rPr lang="pt-BR" sz="2800" dirty="0">
                <a:latin typeface="Oswald" panose="020B0604020202020204" charset="0"/>
              </a:rPr>
              <a:t>e construir um módulo de análise baseado na plataforma </a:t>
            </a:r>
            <a:r>
              <a:rPr lang="pt-BR" sz="2800" dirty="0" err="1">
                <a:latin typeface="Oswald" panose="020B0604020202020204" charset="0"/>
              </a:rPr>
              <a:t>Arduino</a:t>
            </a:r>
            <a:r>
              <a:rPr lang="pt-BR" sz="2800" dirty="0">
                <a:latin typeface="Oswald" panose="020B0604020202020204" charset="0"/>
              </a:rPr>
              <a:t>, com integração de sensores eletrônicos voltados à caracterização da qualidade da água</a:t>
            </a:r>
            <a:r>
              <a:rPr lang="pt-BR" sz="2800" dirty="0" smtClean="0">
                <a:latin typeface="Oswald" panose="020B0604020202020204" charset="0"/>
              </a:rPr>
              <a:t>.</a:t>
            </a:r>
            <a:endParaRPr lang="pt-BR" sz="2800" dirty="0">
              <a:latin typeface="Oswald" panose="020B0604020202020204" charset="0"/>
            </a:endParaRPr>
          </a:p>
        </p:txBody>
      </p:sp>
      <p:grpSp>
        <p:nvGrpSpPr>
          <p:cNvPr id="84" name="Group 84"/>
          <p:cNvGrpSpPr/>
          <p:nvPr/>
        </p:nvGrpSpPr>
        <p:grpSpPr>
          <a:xfrm>
            <a:off x="710266" y="33691002"/>
            <a:ext cx="10106399" cy="7918404"/>
            <a:chOff x="0" y="-95250"/>
            <a:chExt cx="1346830" cy="1146639"/>
          </a:xfrm>
        </p:grpSpPr>
        <p:sp>
          <p:nvSpPr>
            <p:cNvPr id="85" name="Freeform 85"/>
            <p:cNvSpPr/>
            <p:nvPr/>
          </p:nvSpPr>
          <p:spPr>
            <a:xfrm>
              <a:off x="18040" y="25507"/>
              <a:ext cx="1328790" cy="1025882"/>
            </a:xfrm>
            <a:custGeom>
              <a:avLst/>
              <a:gdLst/>
              <a:ahLst/>
              <a:cxnLst/>
              <a:rect l="l" t="t" r="r" b="b"/>
              <a:pathLst>
                <a:path w="1328790" h="1025882">
                  <a:moveTo>
                    <a:pt x="0" y="0"/>
                  </a:moveTo>
                  <a:lnTo>
                    <a:pt x="1328790" y="0"/>
                  </a:lnTo>
                  <a:lnTo>
                    <a:pt x="1328790" y="1025882"/>
                  </a:lnTo>
                  <a:lnTo>
                    <a:pt x="0" y="1025882"/>
                  </a:lnTo>
                  <a:close/>
                </a:path>
              </a:pathLst>
            </a:custGeom>
            <a:solidFill>
              <a:srgbClr val="E3D9D1">
                <a:alpha val="63922"/>
              </a:srgbClr>
            </a:solidFill>
          </p:spPr>
          <p:txBody>
            <a:bodyPr/>
            <a:lstStyle/>
            <a:p>
              <a:pPr algn="just"/>
              <a:r>
                <a:rPr lang="pt-BR" sz="2800" dirty="0" smtClean="0">
                  <a:latin typeface="Oswald" panose="020B0604020202020204" charset="0"/>
                </a:rPr>
                <a:t>O </a:t>
              </a:r>
              <a:r>
                <a:rPr lang="pt-BR" sz="2800" dirty="0">
                  <a:latin typeface="Oswald" panose="020B0604020202020204" charset="0"/>
                </a:rPr>
                <a:t>sistema foi desenvolvido com base na plataforma </a:t>
              </a:r>
              <a:r>
                <a:rPr lang="pt-BR" sz="2800" dirty="0" err="1">
                  <a:latin typeface="Oswald" panose="020B0604020202020204" charset="0"/>
                </a:rPr>
                <a:t>Arduino</a:t>
              </a:r>
              <a:r>
                <a:rPr lang="pt-BR" sz="2800" dirty="0">
                  <a:latin typeface="Oswald" panose="020B0604020202020204" charset="0"/>
                </a:rPr>
                <a:t>, integrando quatro sensores: </a:t>
              </a:r>
              <a:r>
                <a:rPr lang="pt-BR" sz="2800" b="1" dirty="0">
                  <a:latin typeface="Oswald" panose="020B0604020202020204" charset="0"/>
                </a:rPr>
                <a:t>TDS Meter</a:t>
              </a:r>
              <a:r>
                <a:rPr lang="pt-BR" sz="2800" dirty="0">
                  <a:latin typeface="Oswald" panose="020B0604020202020204" charset="0"/>
                </a:rPr>
                <a:t> (condutividade elétrica), </a:t>
              </a:r>
              <a:r>
                <a:rPr lang="pt-BR" sz="2800" b="1" dirty="0">
                  <a:latin typeface="Oswald" panose="020B0604020202020204" charset="0"/>
                </a:rPr>
                <a:t>DS18B20</a:t>
              </a:r>
              <a:r>
                <a:rPr lang="pt-BR" sz="2800" dirty="0">
                  <a:latin typeface="Oswald" panose="020B0604020202020204" charset="0"/>
                </a:rPr>
                <a:t> (temperatura), </a:t>
              </a:r>
              <a:r>
                <a:rPr lang="pt-BR" sz="2800" b="1" dirty="0">
                  <a:latin typeface="Oswald" panose="020B0604020202020204" charset="0"/>
                </a:rPr>
                <a:t>TCS230</a:t>
              </a:r>
              <a:r>
                <a:rPr lang="pt-BR" sz="2800" dirty="0">
                  <a:latin typeface="Oswald" panose="020B0604020202020204" charset="0"/>
                </a:rPr>
                <a:t> (cor) e </a:t>
              </a:r>
              <a:r>
                <a:rPr lang="pt-BR" sz="2800" b="1" dirty="0">
                  <a:latin typeface="Oswald" panose="020B0604020202020204" charset="0"/>
                </a:rPr>
                <a:t>TCRT5000</a:t>
              </a:r>
              <a:r>
                <a:rPr lang="pt-BR" sz="2800" dirty="0">
                  <a:latin typeface="Oswald" panose="020B0604020202020204" charset="0"/>
                </a:rPr>
                <a:t> (turbidez). Os sensores foram instalados em uma </a:t>
              </a:r>
              <a:r>
                <a:rPr lang="pt-BR" sz="2800" b="1" dirty="0">
                  <a:latin typeface="Oswald" panose="020B0604020202020204" charset="0"/>
                </a:rPr>
                <a:t>câmara de análise</a:t>
              </a:r>
              <a:r>
                <a:rPr lang="pt-BR" sz="2800" dirty="0">
                  <a:latin typeface="Oswald" panose="020B0604020202020204" charset="0"/>
                </a:rPr>
                <a:t> transparente, projetada para contenção e observação controlada de amostras de água contaminada. O circuito eletrônico foi montado em </a:t>
              </a:r>
              <a:r>
                <a:rPr lang="pt-BR" sz="2800" dirty="0" err="1">
                  <a:latin typeface="Oswald" panose="020B0604020202020204" charset="0"/>
                </a:rPr>
                <a:t>protoboard</a:t>
              </a:r>
              <a:r>
                <a:rPr lang="pt-BR" sz="2800" dirty="0">
                  <a:latin typeface="Oswald" panose="020B0604020202020204" charset="0"/>
                </a:rPr>
                <a:t> e alimentado por fonte externa, com leitura dos dados em tempo real via monitor serial.</a:t>
              </a: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Foram realizadas simulações laboratoriais com diferentes tipos de contaminantes orgânicos (óleos, detergentes e corantes), avaliando a resposta individual e combinada dos sensores. Paralelamente, foi conduzida uma revisão exploratória sobre </a:t>
              </a:r>
              <a:r>
                <a:rPr lang="pt-BR" sz="2800" dirty="0" err="1">
                  <a:latin typeface="Oswald" panose="020B0604020202020204" charset="0"/>
                </a:rPr>
                <a:t>nanomateriais</a:t>
              </a:r>
              <a:r>
                <a:rPr lang="pt-BR" sz="2800" dirty="0">
                  <a:latin typeface="Oswald" panose="020B0604020202020204" charset="0"/>
                </a:rPr>
                <a:t> aplicáveis à remediação de compostos orgânicos, com vistas à futura integração de uma etapa de tratamento físico-químico ao sistema</a:t>
              </a:r>
              <a:r>
                <a:rPr lang="pt-BR" dirty="0"/>
                <a:t>.</a:t>
              </a:r>
            </a:p>
            <a:p>
              <a:endParaRPr lang="pt-BR" dirty="0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95250"/>
              <a:ext cx="1328790" cy="1121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705</Words>
  <Application>Microsoft Office PowerPoint</Application>
  <PresentationFormat>Personalizar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Oswald Bold</vt:lpstr>
      <vt:lpstr>Oswald</vt:lpstr>
      <vt:lpstr>Calibri</vt:lpstr>
      <vt:lpstr>Arial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Banner Jovem_FEIRA DE CIÊNCIAS</dc:title>
  <dc:creator>Jeffrey24</dc:creator>
  <cp:lastModifiedBy>Jeffrey24</cp:lastModifiedBy>
  <cp:revision>15</cp:revision>
  <dcterms:created xsi:type="dcterms:W3CDTF">2006-08-16T00:00:00Z</dcterms:created>
  <dcterms:modified xsi:type="dcterms:W3CDTF">2025-07-01T21:33:39Z</dcterms:modified>
  <dc:identifier>DAGrraieB0A</dc:identifier>
</cp:coreProperties>
</file>