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22313900" cy="45720000"/>
  <p:notesSz cx="6858000" cy="9144000"/>
  <p:embeddedFontLst>
    <p:embeddedFont>
      <p:font typeface="Calibri" panose="020F0502020204030204" pitchFamily="34" charset="0"/>
      <p:regular r:id="rId3"/>
      <p:bold r:id="rId4"/>
      <p:italic r:id="rId5"/>
      <p:boldItalic r:id="rId6"/>
    </p:embeddedFont>
    <p:embeddedFont>
      <p:font typeface="Oswald" panose="020B0604020202020204" charset="0"/>
      <p:regular r:id="rId7"/>
      <p:bold r:id="rId8"/>
    </p:embeddedFont>
    <p:embeddedFont>
      <p:font typeface="Oswald Bold" panose="020B0604020202020204" charset="0"/>
      <p:regular r:id="rId9"/>
      <p:bold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82" autoAdjust="0"/>
    <p:restoredTop sz="94607" autoAdjust="0"/>
  </p:normalViewPr>
  <p:slideViewPr>
    <p:cSldViewPr>
      <p:cViewPr>
        <p:scale>
          <a:sx n="41" d="100"/>
          <a:sy n="41" d="100"/>
        </p:scale>
        <p:origin x="252" y="-26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presProps" Target="presProps.xml"/><Relationship Id="rId5" Type="http://schemas.openxmlformats.org/officeDocument/2006/relationships/font" Target="fonts/font3.fntdata"/><Relationship Id="rId10" Type="http://schemas.openxmlformats.org/officeDocument/2006/relationships/font" Target="fonts/font8.fntdata"/><Relationship Id="rId4" Type="http://schemas.openxmlformats.org/officeDocument/2006/relationships/font" Target="fonts/font2.fntdata"/><Relationship Id="rId9" Type="http://schemas.openxmlformats.org/officeDocument/2006/relationships/font" Target="fonts/font7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6.png"/><Relationship Id="rId17" Type="http://schemas.openxmlformats.org/officeDocument/2006/relationships/image" Target="../media/image11.jpeg"/><Relationship Id="rId2" Type="http://schemas.openxmlformats.org/officeDocument/2006/relationships/image" Target="../media/image1.png"/><Relationship Id="rId16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9.jpeg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image" Target="../media/image8.svg"/><Relationship Id="rId14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847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076119" y="42046829"/>
            <a:ext cx="3673171" cy="3673171"/>
          </a:xfrm>
          <a:custGeom>
            <a:avLst/>
            <a:gdLst/>
            <a:ahLst/>
            <a:cxnLst/>
            <a:rect l="l" t="t" r="r" b="b"/>
            <a:pathLst>
              <a:path w="3673171" h="3673171">
                <a:moveTo>
                  <a:pt x="0" y="0"/>
                </a:moveTo>
                <a:lnTo>
                  <a:pt x="3673171" y="0"/>
                </a:lnTo>
                <a:lnTo>
                  <a:pt x="3673171" y="3673171"/>
                </a:lnTo>
                <a:lnTo>
                  <a:pt x="0" y="36731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53473" y="6966176"/>
            <a:ext cx="22361052" cy="34838868"/>
            <a:chOff x="0" y="0"/>
            <a:chExt cx="2966458" cy="42289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66458" cy="4228947"/>
            </a:xfrm>
            <a:custGeom>
              <a:avLst/>
              <a:gdLst/>
              <a:ahLst/>
              <a:cxnLst/>
              <a:rect l="l" t="t" r="r" b="b"/>
              <a:pathLst>
                <a:path w="2966458" h="4228947">
                  <a:moveTo>
                    <a:pt x="0" y="0"/>
                  </a:moveTo>
                  <a:lnTo>
                    <a:pt x="2966458" y="0"/>
                  </a:lnTo>
                  <a:lnTo>
                    <a:pt x="2966458" y="4228947"/>
                  </a:lnTo>
                  <a:lnTo>
                    <a:pt x="0" y="4228947"/>
                  </a:lnTo>
                  <a:close/>
                </a:path>
              </a:pathLst>
            </a:custGeom>
            <a:solidFill>
              <a:srgbClr val="FF914D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95250"/>
              <a:ext cx="2966458" cy="43241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771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5402948" y="42251281"/>
            <a:ext cx="3673171" cy="3673171"/>
          </a:xfrm>
          <a:custGeom>
            <a:avLst/>
            <a:gdLst/>
            <a:ahLst/>
            <a:cxnLst/>
            <a:rect l="l" t="t" r="r" b="b"/>
            <a:pathLst>
              <a:path w="3673171" h="3673171">
                <a:moveTo>
                  <a:pt x="0" y="0"/>
                </a:moveTo>
                <a:lnTo>
                  <a:pt x="3673171" y="0"/>
                </a:lnTo>
                <a:lnTo>
                  <a:pt x="3673171" y="3673170"/>
                </a:lnTo>
                <a:lnTo>
                  <a:pt x="0" y="36731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7" name="Freeform 7"/>
          <p:cNvSpPr/>
          <p:nvPr/>
        </p:nvSpPr>
        <p:spPr>
          <a:xfrm>
            <a:off x="8056607" y="42251281"/>
            <a:ext cx="3673171" cy="3673171"/>
          </a:xfrm>
          <a:custGeom>
            <a:avLst/>
            <a:gdLst/>
            <a:ahLst/>
            <a:cxnLst/>
            <a:rect l="l" t="t" r="r" b="b"/>
            <a:pathLst>
              <a:path w="3673171" h="3673171">
                <a:moveTo>
                  <a:pt x="0" y="0"/>
                </a:moveTo>
                <a:lnTo>
                  <a:pt x="3673171" y="0"/>
                </a:lnTo>
                <a:lnTo>
                  <a:pt x="3673171" y="3673170"/>
                </a:lnTo>
                <a:lnTo>
                  <a:pt x="0" y="36731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8" name="Freeform 8"/>
          <p:cNvSpPr/>
          <p:nvPr/>
        </p:nvSpPr>
        <p:spPr>
          <a:xfrm>
            <a:off x="11729778" y="42251281"/>
            <a:ext cx="3673171" cy="3673171"/>
          </a:xfrm>
          <a:custGeom>
            <a:avLst/>
            <a:gdLst/>
            <a:ahLst/>
            <a:cxnLst/>
            <a:rect l="l" t="t" r="r" b="b"/>
            <a:pathLst>
              <a:path w="3673171" h="3673171">
                <a:moveTo>
                  <a:pt x="0" y="0"/>
                </a:moveTo>
                <a:lnTo>
                  <a:pt x="3673170" y="0"/>
                </a:lnTo>
                <a:lnTo>
                  <a:pt x="3673170" y="3673170"/>
                </a:lnTo>
                <a:lnTo>
                  <a:pt x="0" y="36731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10" name="Group 10"/>
          <p:cNvGrpSpPr/>
          <p:nvPr/>
        </p:nvGrpSpPr>
        <p:grpSpPr>
          <a:xfrm>
            <a:off x="12001697" y="40888582"/>
            <a:ext cx="9293426" cy="3194489"/>
            <a:chOff x="0" y="0"/>
            <a:chExt cx="1328068" cy="45650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28068" cy="456505"/>
            </a:xfrm>
            <a:custGeom>
              <a:avLst/>
              <a:gdLst/>
              <a:ahLst/>
              <a:cxnLst/>
              <a:rect l="l" t="t" r="r" b="b"/>
              <a:pathLst>
                <a:path w="1328068" h="456505">
                  <a:moveTo>
                    <a:pt x="0" y="0"/>
                  </a:moveTo>
                  <a:lnTo>
                    <a:pt x="1328068" y="0"/>
                  </a:lnTo>
                  <a:lnTo>
                    <a:pt x="1328068" y="456505"/>
                  </a:lnTo>
                  <a:lnTo>
                    <a:pt x="0" y="456505"/>
                  </a:lnTo>
                  <a:close/>
                </a:path>
              </a:pathLst>
            </a:custGeom>
            <a:solidFill>
              <a:srgbClr val="099594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95250"/>
              <a:ext cx="1328068" cy="551755"/>
            </a:xfrm>
            <a:prstGeom prst="rect">
              <a:avLst/>
            </a:prstGeom>
          </p:spPr>
          <p:txBody>
            <a:bodyPr lIns="110222" tIns="110222" rIns="110222" bIns="110222" rtlCol="0" anchor="ctr"/>
            <a:lstStyle/>
            <a:p>
              <a:pPr algn="ctr">
                <a:lnSpc>
                  <a:spcPts val="5771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2763763" y="41358807"/>
            <a:ext cx="5775423" cy="2269491"/>
          </a:xfrm>
          <a:custGeom>
            <a:avLst/>
            <a:gdLst/>
            <a:ahLst/>
            <a:cxnLst/>
            <a:rect l="l" t="t" r="r" b="b"/>
            <a:pathLst>
              <a:path w="5775423" h="2269491">
                <a:moveTo>
                  <a:pt x="0" y="0"/>
                </a:moveTo>
                <a:lnTo>
                  <a:pt x="5775423" y="0"/>
                </a:lnTo>
                <a:lnTo>
                  <a:pt x="5775423" y="2269491"/>
                </a:lnTo>
                <a:lnTo>
                  <a:pt x="0" y="22694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4" name="Freeform 14"/>
          <p:cNvSpPr/>
          <p:nvPr/>
        </p:nvSpPr>
        <p:spPr>
          <a:xfrm>
            <a:off x="18539186" y="40888582"/>
            <a:ext cx="1993872" cy="3048509"/>
          </a:xfrm>
          <a:custGeom>
            <a:avLst/>
            <a:gdLst/>
            <a:ahLst/>
            <a:cxnLst/>
            <a:rect l="l" t="t" r="r" b="b"/>
            <a:pathLst>
              <a:path w="1993872" h="3048509">
                <a:moveTo>
                  <a:pt x="0" y="0"/>
                </a:moveTo>
                <a:lnTo>
                  <a:pt x="1993872" y="0"/>
                </a:lnTo>
                <a:lnTo>
                  <a:pt x="1993872" y="3048509"/>
                </a:lnTo>
                <a:lnTo>
                  <a:pt x="0" y="30485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5" name="Freeform 15"/>
          <p:cNvSpPr/>
          <p:nvPr/>
        </p:nvSpPr>
        <p:spPr>
          <a:xfrm>
            <a:off x="4383436" y="42210007"/>
            <a:ext cx="3673171" cy="3673171"/>
          </a:xfrm>
          <a:custGeom>
            <a:avLst/>
            <a:gdLst/>
            <a:ahLst/>
            <a:cxnLst/>
            <a:rect l="l" t="t" r="r" b="b"/>
            <a:pathLst>
              <a:path w="3673171" h="3673171">
                <a:moveTo>
                  <a:pt x="0" y="0"/>
                </a:moveTo>
                <a:lnTo>
                  <a:pt x="3673171" y="0"/>
                </a:lnTo>
                <a:lnTo>
                  <a:pt x="3673171" y="3673170"/>
                </a:lnTo>
                <a:lnTo>
                  <a:pt x="0" y="36731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6" name="Freeform 16"/>
          <p:cNvSpPr/>
          <p:nvPr/>
        </p:nvSpPr>
        <p:spPr>
          <a:xfrm>
            <a:off x="-2962904" y="42175704"/>
            <a:ext cx="3704920" cy="3673171"/>
          </a:xfrm>
          <a:custGeom>
            <a:avLst/>
            <a:gdLst/>
            <a:ahLst/>
            <a:cxnLst/>
            <a:rect l="l" t="t" r="r" b="b"/>
            <a:pathLst>
              <a:path w="3673171" h="3673171">
                <a:moveTo>
                  <a:pt x="0" y="0"/>
                </a:moveTo>
                <a:lnTo>
                  <a:pt x="3673171" y="0"/>
                </a:lnTo>
                <a:lnTo>
                  <a:pt x="3673171" y="3673170"/>
                </a:lnTo>
                <a:lnTo>
                  <a:pt x="0" y="36731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7" name="Freeform 17"/>
          <p:cNvSpPr/>
          <p:nvPr/>
        </p:nvSpPr>
        <p:spPr>
          <a:xfrm>
            <a:off x="710266" y="42210007"/>
            <a:ext cx="3673171" cy="3673171"/>
          </a:xfrm>
          <a:custGeom>
            <a:avLst/>
            <a:gdLst/>
            <a:ahLst/>
            <a:cxnLst/>
            <a:rect l="l" t="t" r="r" b="b"/>
            <a:pathLst>
              <a:path w="3673171" h="3673171">
                <a:moveTo>
                  <a:pt x="0" y="0"/>
                </a:moveTo>
                <a:lnTo>
                  <a:pt x="3673170" y="0"/>
                </a:lnTo>
                <a:lnTo>
                  <a:pt x="3673170" y="3673170"/>
                </a:lnTo>
                <a:lnTo>
                  <a:pt x="0" y="36731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18" name="Group 18"/>
          <p:cNvGrpSpPr/>
          <p:nvPr/>
        </p:nvGrpSpPr>
        <p:grpSpPr>
          <a:xfrm>
            <a:off x="-47688" y="7372066"/>
            <a:ext cx="22283645" cy="3063744"/>
            <a:chOff x="0" y="0"/>
            <a:chExt cx="2704920" cy="37189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704920" cy="371895"/>
            </a:xfrm>
            <a:custGeom>
              <a:avLst/>
              <a:gdLst/>
              <a:ahLst/>
              <a:cxnLst/>
              <a:rect l="l" t="t" r="r" b="b"/>
              <a:pathLst>
                <a:path w="2704920" h="371895">
                  <a:moveTo>
                    <a:pt x="0" y="0"/>
                  </a:moveTo>
                  <a:lnTo>
                    <a:pt x="2704920" y="0"/>
                  </a:lnTo>
                  <a:lnTo>
                    <a:pt x="2704920" y="371895"/>
                  </a:lnTo>
                  <a:lnTo>
                    <a:pt x="0" y="371895"/>
                  </a:lnTo>
                  <a:close/>
                </a:path>
              </a:pathLst>
            </a:custGeom>
            <a:solidFill>
              <a:srgbClr val="099594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95250"/>
              <a:ext cx="2704920" cy="467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771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9497" y="9965476"/>
            <a:ext cx="22235958" cy="1903713"/>
            <a:chOff x="0" y="0"/>
            <a:chExt cx="2734121" cy="23108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734121" cy="231084"/>
            </a:xfrm>
            <a:custGeom>
              <a:avLst/>
              <a:gdLst/>
              <a:ahLst/>
              <a:cxnLst/>
              <a:rect l="l" t="t" r="r" b="b"/>
              <a:pathLst>
                <a:path w="2734121" h="231084">
                  <a:moveTo>
                    <a:pt x="0" y="0"/>
                  </a:moveTo>
                  <a:lnTo>
                    <a:pt x="2734121" y="0"/>
                  </a:lnTo>
                  <a:lnTo>
                    <a:pt x="2734121" y="231084"/>
                  </a:lnTo>
                  <a:lnTo>
                    <a:pt x="0" y="231084"/>
                  </a:lnTo>
                  <a:close/>
                </a:path>
              </a:pathLst>
            </a:custGeom>
            <a:solidFill>
              <a:srgbClr val="E3D9D1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95250"/>
              <a:ext cx="2734121" cy="3263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771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59796" y="15726245"/>
            <a:ext cx="10691042" cy="10503793"/>
            <a:chOff x="-33379" y="-95250"/>
            <a:chExt cx="1424743" cy="1399789"/>
          </a:xfrm>
        </p:grpSpPr>
        <p:sp>
          <p:nvSpPr>
            <p:cNvPr id="27" name="Freeform 27"/>
            <p:cNvSpPr/>
            <p:nvPr/>
          </p:nvSpPr>
          <p:spPr>
            <a:xfrm>
              <a:off x="-33379" y="53598"/>
              <a:ext cx="1424743" cy="1250941"/>
            </a:xfrm>
            <a:custGeom>
              <a:avLst/>
              <a:gdLst/>
              <a:ahLst/>
              <a:cxnLst/>
              <a:rect l="l" t="t" r="r" b="b"/>
              <a:pathLst>
                <a:path w="1364871" h="1277299">
                  <a:moveTo>
                    <a:pt x="0" y="0"/>
                  </a:moveTo>
                  <a:lnTo>
                    <a:pt x="1364871" y="0"/>
                  </a:lnTo>
                  <a:lnTo>
                    <a:pt x="1364871" y="1277299"/>
                  </a:lnTo>
                  <a:lnTo>
                    <a:pt x="0" y="1277299"/>
                  </a:lnTo>
                  <a:close/>
                </a:path>
              </a:pathLst>
            </a:custGeom>
            <a:solidFill>
              <a:srgbClr val="E3D9D1">
                <a:alpha val="54902"/>
              </a:srgbClr>
            </a:solidFill>
          </p:spPr>
          <p:txBody>
            <a:bodyPr/>
            <a:lstStyle/>
            <a:p>
              <a:pPr algn="just"/>
              <a:endParaRPr lang="pt-BR" sz="2600" dirty="0" smtClean="0">
                <a:latin typeface="Oswald" panose="020B0604020202020204" charset="0"/>
              </a:endParaRPr>
            </a:p>
            <a:p>
              <a:pPr algn="just"/>
              <a:r>
                <a:rPr lang="pt-BR" sz="2800" dirty="0" smtClean="0">
                  <a:latin typeface="Oswald" panose="020B0604020202020204" charset="0"/>
                </a:rPr>
                <a:t>A </a:t>
              </a:r>
              <a:r>
                <a:rPr lang="pt-BR" sz="2800" dirty="0">
                  <a:latin typeface="Oswald" panose="020B0604020202020204" charset="0"/>
                </a:rPr>
                <a:t>necessidade de sistemas de coleta e análise de dados ambientais em tempo real tornou-se fundamental para a tomada de decisões mais eficientes, principalmente em cenários de mudanças climáticas, escassez hídrica e degradação do solo. Nesse cenário, tecnologias de baixo custo e fácil implementação, como o </a:t>
              </a:r>
              <a:r>
                <a:rPr lang="pt-BR" sz="2800" dirty="0" err="1">
                  <a:latin typeface="Oswald" panose="020B0604020202020204" charset="0"/>
                </a:rPr>
                <a:t>Arduino</a:t>
              </a:r>
              <a:r>
                <a:rPr lang="pt-BR" sz="2800" dirty="0">
                  <a:latin typeface="Oswald" panose="020B0604020202020204" charset="0"/>
                </a:rPr>
                <a:t>, despontam como alternativas viáveis e acessíveis para pesquisadores, educadores e pequenos produtores.</a:t>
              </a:r>
            </a:p>
            <a:p>
              <a:pPr algn="just"/>
              <a:r>
                <a:rPr lang="pt-BR" sz="2800" dirty="0">
                  <a:latin typeface="Oswald" panose="020B0604020202020204" charset="0"/>
                </a:rPr>
                <a:t>Ao mesmo tempo, a estatística aplicada desempenha um papel central na interpretação de dados, permitindo a identificação de padrões, tendências e anomalias que seriam difíceis de detectar apenas com observações qualitativas. A integração entre sensores ambientais e ferramentas estatísticas, mesmo em sistemas com capacidade computacional limitada, amplia significativamente o potencial de projetos voltados para o monitoramento inteligente de variáveis ambientais.</a:t>
              </a:r>
            </a:p>
            <a:p>
              <a:pPr algn="just"/>
              <a:r>
                <a:rPr lang="pt-BR" sz="2800" dirty="0">
                  <a:latin typeface="Oswald" panose="020B0604020202020204" charset="0"/>
                </a:rPr>
                <a:t>Este trabalho propõe uma abordagem prática que une sensores de baixo custo e </a:t>
              </a:r>
              <a:r>
                <a:rPr lang="pt-BR" sz="2800">
                  <a:latin typeface="Oswald" panose="020B0604020202020204" charset="0"/>
                </a:rPr>
                <a:t>algoritmos </a:t>
              </a:r>
              <a:r>
                <a:rPr lang="pt-BR" sz="2800" smtClean="0">
                  <a:latin typeface="Oswald" panose="020B0604020202020204" charset="0"/>
                </a:rPr>
                <a:t>estatísticos </a:t>
              </a:r>
              <a:r>
                <a:rPr lang="pt-BR" sz="2800" dirty="0">
                  <a:latin typeface="Oswald" panose="020B0604020202020204" charset="0"/>
                </a:rPr>
                <a:t>em um sistema embarcado autônomo, com o objetivo de registrar, processar e analisar dados como temperatura, umidade do ar e umidade do solo. Através dessa integração, busca-se demonstrar como tecnologias acessíveis podem ser aplicadas de forma eficiente na geração de conhecimento ambiental, contribuindo para soluções replicáveis e adaptáveis em diferentes contextos, especialmente em áreas rurais ou com restrições tecnológicas.</a:t>
              </a:r>
            </a:p>
            <a:p>
              <a:pPr algn="just"/>
              <a:endParaRPr lang="pt-BR" sz="2600" dirty="0">
                <a:latin typeface="Oswald" panose="020B0604020202020204" charset="0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95250"/>
              <a:ext cx="1364871" cy="13725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771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885998" y="15711920"/>
            <a:ext cx="8465276" cy="1609472"/>
            <a:chOff x="0" y="0"/>
            <a:chExt cx="1128126" cy="21448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128126" cy="214486"/>
            </a:xfrm>
            <a:custGeom>
              <a:avLst/>
              <a:gdLst/>
              <a:ahLst/>
              <a:cxnLst/>
              <a:rect l="l" t="t" r="r" b="b"/>
              <a:pathLst>
                <a:path w="1128126" h="214486">
                  <a:moveTo>
                    <a:pt x="0" y="0"/>
                  </a:moveTo>
                  <a:lnTo>
                    <a:pt x="1128126" y="0"/>
                  </a:lnTo>
                  <a:lnTo>
                    <a:pt x="1128126" y="214486"/>
                  </a:lnTo>
                  <a:lnTo>
                    <a:pt x="0" y="214486"/>
                  </a:lnTo>
                  <a:close/>
                </a:path>
              </a:pathLst>
            </a:custGeom>
            <a:solidFill>
              <a:srgbClr val="099594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95250"/>
              <a:ext cx="1128126" cy="3097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771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723478" y="15627080"/>
            <a:ext cx="8169714" cy="1400539"/>
            <a:chOff x="0" y="0"/>
            <a:chExt cx="1088738" cy="186643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088738" cy="186643"/>
            </a:xfrm>
            <a:custGeom>
              <a:avLst/>
              <a:gdLst/>
              <a:ahLst/>
              <a:cxnLst/>
              <a:rect l="l" t="t" r="r" b="b"/>
              <a:pathLst>
                <a:path w="1088738" h="186643">
                  <a:moveTo>
                    <a:pt x="0" y="0"/>
                  </a:moveTo>
                  <a:lnTo>
                    <a:pt x="1088738" y="0"/>
                  </a:lnTo>
                  <a:lnTo>
                    <a:pt x="1088738" y="186643"/>
                  </a:lnTo>
                  <a:lnTo>
                    <a:pt x="0" y="186643"/>
                  </a:lnTo>
                  <a:close/>
                </a:path>
              </a:pathLst>
            </a:custGeom>
            <a:solidFill>
              <a:srgbClr val="68476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95250"/>
              <a:ext cx="1088738" cy="281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771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57266" y="26517408"/>
            <a:ext cx="10847494" cy="5618581"/>
            <a:chOff x="-33813" y="-47625"/>
            <a:chExt cx="1429300" cy="748760"/>
          </a:xfrm>
        </p:grpSpPr>
        <p:sp>
          <p:nvSpPr>
            <p:cNvPr id="36" name="Freeform 36"/>
            <p:cNvSpPr/>
            <p:nvPr/>
          </p:nvSpPr>
          <p:spPr>
            <a:xfrm>
              <a:off x="-33813" y="52785"/>
              <a:ext cx="1429300" cy="648350"/>
            </a:xfrm>
            <a:custGeom>
              <a:avLst/>
              <a:gdLst/>
              <a:ahLst/>
              <a:cxnLst/>
              <a:rect l="l" t="t" r="r" b="b"/>
              <a:pathLst>
                <a:path w="1364871" h="539256">
                  <a:moveTo>
                    <a:pt x="0" y="0"/>
                  </a:moveTo>
                  <a:lnTo>
                    <a:pt x="1364871" y="0"/>
                  </a:lnTo>
                  <a:lnTo>
                    <a:pt x="1364871" y="539256"/>
                  </a:lnTo>
                  <a:lnTo>
                    <a:pt x="0" y="539256"/>
                  </a:lnTo>
                  <a:close/>
                </a:path>
              </a:pathLst>
            </a:custGeom>
            <a:solidFill>
              <a:srgbClr val="E9E6D7">
                <a:alpha val="54902"/>
              </a:srgbClr>
            </a:solidFill>
          </p:spPr>
          <p:txBody>
            <a:bodyPr/>
            <a:lstStyle/>
            <a:p>
              <a:endParaRPr lang="pt-BR" dirty="0" smtClean="0"/>
            </a:p>
            <a:p>
              <a:endParaRPr lang="pt-BR" dirty="0"/>
            </a:p>
            <a:p>
              <a:endParaRPr lang="pt-BR" dirty="0" smtClean="0"/>
            </a:p>
            <a:p>
              <a:pPr marL="457200" indent="-457200" algn="just">
                <a:buFont typeface="Arial" panose="020B0604020202020204" pitchFamily="34" charset="0"/>
                <a:buChar char="•"/>
              </a:pPr>
              <a:r>
                <a:rPr lang="pt-BR" sz="2800" dirty="0" smtClean="0">
                  <a:latin typeface="Oswald" panose="020B0604020202020204" charset="0"/>
                </a:rPr>
                <a:t>Desenvolver </a:t>
              </a:r>
              <a:r>
                <a:rPr lang="pt-BR" sz="2800" dirty="0">
                  <a:latin typeface="Oswald" panose="020B0604020202020204" charset="0"/>
                </a:rPr>
                <a:t>um sistema autônomo de monitoramento ambiental utilizando a plataforma </a:t>
              </a:r>
              <a:r>
                <a:rPr lang="pt-BR" sz="2800" dirty="0" err="1">
                  <a:latin typeface="Oswald" panose="020B0604020202020204" charset="0"/>
                </a:rPr>
                <a:t>Arduino</a:t>
              </a:r>
              <a:r>
                <a:rPr lang="pt-BR" sz="2800" dirty="0" smtClean="0">
                  <a:latin typeface="Oswald" panose="020B0604020202020204" charset="0"/>
                </a:rPr>
                <a:t>.</a:t>
              </a:r>
            </a:p>
            <a:p>
              <a:pPr marL="457200" indent="-457200" algn="just">
                <a:buFont typeface="Arial" panose="020B0604020202020204" pitchFamily="34" charset="0"/>
                <a:buChar char="•"/>
              </a:pPr>
              <a:r>
                <a:rPr lang="pt-BR" sz="2800" dirty="0">
                  <a:latin typeface="Oswald" panose="020B0604020202020204" charset="0"/>
                </a:rPr>
                <a:t>Integrar sensores de temperatura, umidade do ar e umidade do solo à coleta de dados em tempo real</a:t>
              </a:r>
              <a:r>
                <a:rPr lang="pt-BR" sz="2800" dirty="0" smtClean="0">
                  <a:latin typeface="Oswald" panose="020B0604020202020204" charset="0"/>
                </a:rPr>
                <a:t>.</a:t>
              </a:r>
            </a:p>
            <a:p>
              <a:pPr marL="457200" indent="-457200" algn="just">
                <a:buFont typeface="Arial" panose="020B0604020202020204" pitchFamily="34" charset="0"/>
                <a:buChar char="•"/>
              </a:pPr>
              <a:r>
                <a:rPr lang="pt-BR" sz="2800" dirty="0">
                  <a:latin typeface="Oswald" panose="020B0604020202020204" charset="0"/>
                </a:rPr>
                <a:t>Aplicar métodos estatísticos descritivos (média, mediana, desvio-padrão e intervalo interquartil) para o tratamento dos dados</a:t>
              </a:r>
              <a:r>
                <a:rPr lang="pt-BR" sz="2800" dirty="0" smtClean="0">
                  <a:latin typeface="Oswald" panose="020B0604020202020204" charset="0"/>
                </a:rPr>
                <a:t>.</a:t>
              </a:r>
            </a:p>
            <a:p>
              <a:pPr marL="457200" indent="-457200" algn="just">
                <a:buFont typeface="Arial" panose="020B0604020202020204" pitchFamily="34" charset="0"/>
                <a:buChar char="•"/>
              </a:pPr>
              <a:r>
                <a:rPr lang="pt-BR" sz="2800" dirty="0">
                  <a:latin typeface="Oswald" panose="020B0604020202020204" charset="0"/>
                </a:rPr>
                <a:t>Identificar padrões e </a:t>
              </a:r>
              <a:r>
                <a:rPr lang="pt-BR" sz="2800" dirty="0" err="1">
                  <a:latin typeface="Oswald" panose="020B0604020202020204" charset="0"/>
                </a:rPr>
                <a:t>outliers</a:t>
              </a:r>
              <a:r>
                <a:rPr lang="pt-BR" sz="2800" dirty="0">
                  <a:latin typeface="Oswald" panose="020B0604020202020204" charset="0"/>
                </a:rPr>
                <a:t> que contribuam para a compreensão de fenômenos ambientais</a:t>
              </a:r>
              <a:r>
                <a:rPr lang="pt-BR" dirty="0"/>
                <a:t>.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47625"/>
              <a:ext cx="1364871" cy="5868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809432" y="26421512"/>
            <a:ext cx="8465276" cy="1639106"/>
            <a:chOff x="0" y="0"/>
            <a:chExt cx="1128126" cy="218436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128126" cy="218436"/>
            </a:xfrm>
            <a:custGeom>
              <a:avLst/>
              <a:gdLst/>
              <a:ahLst/>
              <a:cxnLst/>
              <a:rect l="l" t="t" r="r" b="b"/>
              <a:pathLst>
                <a:path w="1128126" h="218436">
                  <a:moveTo>
                    <a:pt x="0" y="0"/>
                  </a:moveTo>
                  <a:lnTo>
                    <a:pt x="1128126" y="0"/>
                  </a:lnTo>
                  <a:lnTo>
                    <a:pt x="1128126" y="218436"/>
                  </a:lnTo>
                  <a:lnTo>
                    <a:pt x="0" y="218436"/>
                  </a:lnTo>
                  <a:close/>
                </a:path>
              </a:pathLst>
            </a:custGeom>
            <a:solidFill>
              <a:srgbClr val="099594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95250"/>
              <a:ext cx="1128126" cy="3136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771"/>
                </a:lnSpc>
              </a:pPr>
              <a:endParaRPr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723478" y="26206700"/>
            <a:ext cx="8230420" cy="1458131"/>
            <a:chOff x="0" y="0"/>
            <a:chExt cx="1096828" cy="194318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096828" cy="194318"/>
            </a:xfrm>
            <a:custGeom>
              <a:avLst/>
              <a:gdLst/>
              <a:ahLst/>
              <a:cxnLst/>
              <a:rect l="l" t="t" r="r" b="b"/>
              <a:pathLst>
                <a:path w="1096828" h="194318">
                  <a:moveTo>
                    <a:pt x="0" y="0"/>
                  </a:moveTo>
                  <a:lnTo>
                    <a:pt x="1096828" y="0"/>
                  </a:lnTo>
                  <a:lnTo>
                    <a:pt x="1096828" y="194318"/>
                  </a:lnTo>
                  <a:lnTo>
                    <a:pt x="0" y="194318"/>
                  </a:lnTo>
                  <a:close/>
                </a:path>
              </a:pathLst>
            </a:custGeom>
            <a:solidFill>
              <a:srgbClr val="68476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95250"/>
              <a:ext cx="1096828" cy="2895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771"/>
                </a:lnSpc>
              </a:pPr>
              <a:endParaRPr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1920439" y="15966802"/>
            <a:ext cx="9859927" cy="8685217"/>
            <a:chOff x="-5929" y="-95250"/>
            <a:chExt cx="1304584" cy="1142297"/>
          </a:xfrm>
        </p:grpSpPr>
        <p:sp>
          <p:nvSpPr>
            <p:cNvPr id="45" name="Freeform 45"/>
            <p:cNvSpPr/>
            <p:nvPr/>
          </p:nvSpPr>
          <p:spPr>
            <a:xfrm>
              <a:off x="-5929" y="16573"/>
              <a:ext cx="1271319" cy="1030474"/>
            </a:xfrm>
            <a:custGeom>
              <a:avLst/>
              <a:gdLst/>
              <a:ahLst/>
              <a:cxnLst/>
              <a:rect l="l" t="t" r="r" b="b"/>
              <a:pathLst>
                <a:path w="1298655" h="974486">
                  <a:moveTo>
                    <a:pt x="0" y="0"/>
                  </a:moveTo>
                  <a:lnTo>
                    <a:pt x="1298655" y="0"/>
                  </a:lnTo>
                  <a:lnTo>
                    <a:pt x="1298655" y="974486"/>
                  </a:lnTo>
                  <a:lnTo>
                    <a:pt x="0" y="974486"/>
                  </a:lnTo>
                  <a:close/>
                </a:path>
              </a:pathLst>
            </a:custGeom>
            <a:solidFill>
              <a:srgbClr val="E9E6D7">
                <a:alpha val="54902"/>
              </a:srgbClr>
            </a:solidFill>
          </p:spPr>
          <p:txBody>
            <a:bodyPr/>
            <a:lstStyle/>
            <a:p>
              <a:pPr algn="just"/>
              <a:endParaRPr lang="pt-BR" sz="2800" dirty="0" smtClean="0">
                <a:latin typeface="Oswald" panose="020B0604020202020204" charset="0"/>
              </a:endParaRPr>
            </a:p>
            <a:p>
              <a:pPr algn="just"/>
              <a:endParaRPr lang="pt-BR" sz="2800" dirty="0" smtClean="0">
                <a:latin typeface="Oswald" panose="020B0604020202020204" charset="0"/>
              </a:endParaRPr>
            </a:p>
            <a:p>
              <a:pPr algn="just"/>
              <a:r>
                <a:rPr lang="pt-BR" sz="2800" dirty="0" smtClean="0">
                  <a:latin typeface="Oswald" panose="020B0604020202020204" charset="0"/>
                </a:rPr>
                <a:t>O </a:t>
              </a:r>
              <a:r>
                <a:rPr lang="pt-BR" sz="2800" dirty="0">
                  <a:latin typeface="Oswald" panose="020B0604020202020204" charset="0"/>
                </a:rPr>
                <a:t>sistema desenvolvido demonstrou eficiência na coleta e armazenamento de dados ambientais em tempo real. A análise estatística dos dados revelou padrões consistentes de variação da temperatura ao longo do dia, evidenciando um comportamento circadiano, com máximas durante o período da tarde e mínimas à noite. A umidade relativa do ar apresentou flutuações moderadas, com tendência de queda nos horários de maior temperatura.</a:t>
              </a:r>
            </a:p>
            <a:p>
              <a:pPr algn="just"/>
              <a:r>
                <a:rPr lang="pt-BR" sz="2800" dirty="0">
                  <a:latin typeface="Oswald" panose="020B0604020202020204" charset="0"/>
                </a:rPr>
                <a:t>Em contraste, os dados de umidade do solo mantiveram-se relativamente estáveis, indicando menor variabilidade em curto prazo. O uso de medidas estatísticas como média, mediana, desvio-padrão e intervalo interquartil permitiu identificar </a:t>
              </a:r>
              <a:r>
                <a:rPr lang="pt-BR" sz="2800" dirty="0" err="1">
                  <a:latin typeface="Oswald" panose="020B0604020202020204" charset="0"/>
                </a:rPr>
                <a:t>outliers</a:t>
              </a:r>
              <a:r>
                <a:rPr lang="pt-BR" sz="2800" dirty="0">
                  <a:latin typeface="Oswald" panose="020B0604020202020204" charset="0"/>
                </a:rPr>
                <a:t> e comportamentos atípicos, possivelmente relacionados a variações climáticas abruptas ou interferências no solo.</a:t>
              </a:r>
            </a:p>
            <a:p>
              <a:pPr algn="just"/>
              <a:endParaRPr lang="pt-BR" sz="2000" dirty="0">
                <a:latin typeface="Oswald" panose="020B0604020202020204" charset="0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95250"/>
              <a:ext cx="1298655" cy="10697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5771"/>
                </a:lnSpc>
              </a:pPr>
              <a:endParaRPr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2711658" y="15952478"/>
            <a:ext cx="8512934" cy="1818968"/>
            <a:chOff x="0" y="0"/>
            <a:chExt cx="1134477" cy="242405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134477" cy="242405"/>
            </a:xfrm>
            <a:custGeom>
              <a:avLst/>
              <a:gdLst/>
              <a:ahLst/>
              <a:cxnLst/>
              <a:rect l="l" t="t" r="r" b="b"/>
              <a:pathLst>
                <a:path w="1134477" h="242405">
                  <a:moveTo>
                    <a:pt x="0" y="0"/>
                  </a:moveTo>
                  <a:lnTo>
                    <a:pt x="1134477" y="0"/>
                  </a:lnTo>
                  <a:lnTo>
                    <a:pt x="1134477" y="242405"/>
                  </a:lnTo>
                  <a:lnTo>
                    <a:pt x="0" y="242405"/>
                  </a:lnTo>
                  <a:close/>
                </a:path>
              </a:pathLst>
            </a:custGeom>
            <a:solidFill>
              <a:srgbClr val="099594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95250"/>
              <a:ext cx="1134477" cy="3376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771"/>
                </a:lnSpc>
              </a:pPr>
              <a:endParaRPr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2549137" y="15813663"/>
            <a:ext cx="8392940" cy="1641055"/>
            <a:chOff x="0" y="0"/>
            <a:chExt cx="1118486" cy="218695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118486" cy="218695"/>
            </a:xfrm>
            <a:custGeom>
              <a:avLst/>
              <a:gdLst/>
              <a:ahLst/>
              <a:cxnLst/>
              <a:rect l="l" t="t" r="r" b="b"/>
              <a:pathLst>
                <a:path w="1118486" h="218695">
                  <a:moveTo>
                    <a:pt x="0" y="0"/>
                  </a:moveTo>
                  <a:lnTo>
                    <a:pt x="1118486" y="0"/>
                  </a:lnTo>
                  <a:lnTo>
                    <a:pt x="1118486" y="218695"/>
                  </a:lnTo>
                  <a:lnTo>
                    <a:pt x="0" y="218695"/>
                  </a:lnTo>
                  <a:close/>
                </a:path>
              </a:pathLst>
            </a:custGeom>
            <a:solidFill>
              <a:srgbClr val="68476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95250"/>
              <a:ext cx="1118486" cy="3139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771"/>
                </a:lnSpc>
              </a:pPr>
              <a:endParaRPr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1954929" y="24367353"/>
            <a:ext cx="9744902" cy="15799109"/>
            <a:chOff x="0" y="-95250"/>
            <a:chExt cx="1298655" cy="2105470"/>
          </a:xfrm>
        </p:grpSpPr>
        <p:sp>
          <p:nvSpPr>
            <p:cNvPr id="54" name="Freeform 54"/>
            <p:cNvSpPr/>
            <p:nvPr/>
          </p:nvSpPr>
          <p:spPr>
            <a:xfrm>
              <a:off x="0" y="62450"/>
              <a:ext cx="1298655" cy="1947769"/>
            </a:xfrm>
            <a:custGeom>
              <a:avLst/>
              <a:gdLst/>
              <a:ahLst/>
              <a:cxnLst/>
              <a:rect l="l" t="t" r="r" b="b"/>
              <a:pathLst>
                <a:path w="1298655" h="2010220">
                  <a:moveTo>
                    <a:pt x="0" y="0"/>
                  </a:moveTo>
                  <a:lnTo>
                    <a:pt x="1298655" y="0"/>
                  </a:lnTo>
                  <a:lnTo>
                    <a:pt x="1298655" y="2010220"/>
                  </a:lnTo>
                  <a:lnTo>
                    <a:pt x="0" y="2010220"/>
                  </a:lnTo>
                  <a:close/>
                </a:path>
              </a:pathLst>
            </a:custGeom>
            <a:solidFill>
              <a:srgbClr val="E9E6D7">
                <a:alpha val="54902"/>
              </a:srgbClr>
            </a:solidFill>
          </p:spPr>
          <p:txBody>
            <a:bodyPr/>
            <a:lstStyle/>
            <a:p>
              <a:endParaRPr lang="pt-BR" dirty="0"/>
            </a:p>
            <a:p>
              <a:endParaRPr lang="pt-BR" dirty="0" smtClean="0"/>
            </a:p>
            <a:p>
              <a:endParaRPr lang="pt-BR" dirty="0"/>
            </a:p>
            <a:p>
              <a:pPr algn="just"/>
              <a:r>
                <a:rPr lang="pt-BR" sz="2800" dirty="0">
                  <a:latin typeface="Oswald" panose="020B0604020202020204" charset="0"/>
                </a:rPr>
                <a:t>A experiência apresentada neste trabalho evidencia que a integração entre sensores ambientais de baixo custo e técnicas estatísticas simples, implementadas em plataformas embarcadas como o </a:t>
              </a:r>
              <a:r>
                <a:rPr lang="pt-BR" sz="2800" dirty="0" err="1">
                  <a:latin typeface="Oswald" panose="020B0604020202020204" charset="0"/>
                </a:rPr>
                <a:t>Arduino</a:t>
              </a:r>
              <a:r>
                <a:rPr lang="pt-BR" sz="2800" dirty="0">
                  <a:latin typeface="Oswald" panose="020B0604020202020204" charset="0"/>
                </a:rPr>
                <a:t>, constitui uma solução eficaz e acessível para o monitoramento ambiental em tempo real. O sistema desenvolvido demonstrou capacidade de coleta contínua e autônoma de dados, além de permitir o tratamento e a interpretação dos mesmos com base em parâmetros estatísticos essenciais, como média, mediana, desvio-padrão e intervalo interquartil</a:t>
              </a:r>
              <a:r>
                <a:rPr lang="pt-BR" sz="2800" dirty="0" smtClean="0">
                  <a:latin typeface="Oswald" panose="020B0604020202020204" charset="0"/>
                </a:rPr>
                <a:t>.</a:t>
              </a:r>
            </a:p>
            <a:p>
              <a:pPr algn="just"/>
              <a:endParaRPr lang="pt-BR" sz="2800" dirty="0">
                <a:latin typeface="Oswald" panose="020B0604020202020204" charset="0"/>
              </a:endParaRPr>
            </a:p>
            <a:p>
              <a:pPr algn="just"/>
              <a:r>
                <a:rPr lang="pt-BR" sz="2800" dirty="0">
                  <a:latin typeface="Oswald" panose="020B0604020202020204" charset="0"/>
                </a:rPr>
                <a:t>Os resultados obtidos, como a identificação de variações circadianas na temperatura e a estabilidade da umidade do solo, demonstram o potencial do uso da estatística aplicada para extrair informações relevantes, mesmo a partir de sensores com precisão limitada. A utilização de algoritmos para detecção de </a:t>
              </a:r>
              <a:r>
                <a:rPr lang="pt-BR" sz="2800" dirty="0" err="1">
                  <a:latin typeface="Oswald" panose="020B0604020202020204" charset="0"/>
                </a:rPr>
                <a:t>outliers</a:t>
              </a:r>
              <a:r>
                <a:rPr lang="pt-BR" sz="2800" dirty="0">
                  <a:latin typeface="Oswald" panose="020B0604020202020204" charset="0"/>
                </a:rPr>
                <a:t> e análise da variabilidade permitiu maior robustez na leitura dos dados e reforça a importância de incorporar o pensamento estatístico em projetos de engenharia ambiental e agrícola.</a:t>
              </a:r>
            </a:p>
            <a:p>
              <a:pPr algn="just"/>
              <a:r>
                <a:rPr lang="pt-BR" sz="2800" dirty="0">
                  <a:latin typeface="Oswald" panose="020B0604020202020204" charset="0"/>
                </a:rPr>
                <a:t>Além disso, o sucesso da implementação reforça a viabilidade de soluções replicáveis em contextos de baixa infraestrutura tecnológica, o que pode beneficiar, por exemplo, comunidades rurais, instituições de ensino e centros de pesquisa com recursos limitados. A modularidade do sistema permite sua expansão com outros sensores, comunicação via rede sem fio e integração com bancos de dados ou plataformas na nuvem</a:t>
              </a:r>
              <a:r>
                <a:rPr lang="pt-BR" sz="2800" dirty="0" smtClean="0">
                  <a:latin typeface="Oswald" panose="020B0604020202020204" charset="0"/>
                </a:rPr>
                <a:t>.</a:t>
              </a:r>
            </a:p>
            <a:p>
              <a:pPr algn="just"/>
              <a:endParaRPr lang="pt-BR" sz="2800" dirty="0">
                <a:latin typeface="Oswald" panose="020B0604020202020204" charset="0"/>
              </a:endParaRPr>
            </a:p>
            <a:p>
              <a:pPr algn="just"/>
              <a:r>
                <a:rPr lang="pt-BR" sz="2800" dirty="0">
                  <a:latin typeface="Oswald" panose="020B0604020202020204" charset="0"/>
                </a:rPr>
                <a:t>Dessa forma, conclui-se que a combinação entre hardware acessível, programação eficiente e fundamentos estatísticos representa um caminho promissor para o desenvolvimento de tecnologias sustentáveis, educativas e adaptáveis, alinhadas às necessidades contemporâneas de monitoramento ambiental inteligente e agricultura de precisão.</a:t>
              </a:r>
            </a:p>
            <a:p>
              <a:pPr algn="just"/>
              <a:endParaRPr lang="pt-BR" sz="2800" dirty="0">
                <a:latin typeface="Oswald" panose="020B0604020202020204" charset="0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95250"/>
              <a:ext cx="1298655" cy="2105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771"/>
                </a:lnSpc>
              </a:pPr>
              <a:endParaRPr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2711658" y="24329469"/>
            <a:ext cx="8751185" cy="1877231"/>
            <a:chOff x="0" y="0"/>
            <a:chExt cx="1166227" cy="250169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166227" cy="250169"/>
            </a:xfrm>
            <a:custGeom>
              <a:avLst/>
              <a:gdLst/>
              <a:ahLst/>
              <a:cxnLst/>
              <a:rect l="l" t="t" r="r" b="b"/>
              <a:pathLst>
                <a:path w="1166227" h="250169">
                  <a:moveTo>
                    <a:pt x="0" y="0"/>
                  </a:moveTo>
                  <a:lnTo>
                    <a:pt x="1166227" y="0"/>
                  </a:lnTo>
                  <a:lnTo>
                    <a:pt x="1166227" y="250169"/>
                  </a:lnTo>
                  <a:lnTo>
                    <a:pt x="0" y="250169"/>
                  </a:lnTo>
                  <a:close/>
                </a:path>
              </a:pathLst>
            </a:custGeom>
            <a:solidFill>
              <a:srgbClr val="099594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-95250"/>
              <a:ext cx="1166227" cy="3454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771"/>
                </a:lnSpc>
              </a:pPr>
              <a:endParaRPr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2549137" y="24378664"/>
            <a:ext cx="8470069" cy="1544792"/>
            <a:chOff x="0" y="0"/>
            <a:chExt cx="1128765" cy="205867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128765" cy="205867"/>
            </a:xfrm>
            <a:custGeom>
              <a:avLst/>
              <a:gdLst/>
              <a:ahLst/>
              <a:cxnLst/>
              <a:rect l="l" t="t" r="r" b="b"/>
              <a:pathLst>
                <a:path w="1128765" h="205867">
                  <a:moveTo>
                    <a:pt x="0" y="0"/>
                  </a:moveTo>
                  <a:lnTo>
                    <a:pt x="1128765" y="0"/>
                  </a:lnTo>
                  <a:lnTo>
                    <a:pt x="1128765" y="205867"/>
                  </a:lnTo>
                  <a:lnTo>
                    <a:pt x="0" y="205867"/>
                  </a:lnTo>
                  <a:close/>
                </a:path>
              </a:pathLst>
            </a:custGeom>
            <a:solidFill>
              <a:srgbClr val="68476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-76200"/>
              <a:ext cx="1128765" cy="2820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771"/>
                </a:lnSpc>
              </a:pPr>
              <a:endParaRPr/>
            </a:p>
          </p:txBody>
        </p:sp>
      </p:grpSp>
      <p:sp>
        <p:nvSpPr>
          <p:cNvPr id="62" name="Freeform 62"/>
          <p:cNvSpPr/>
          <p:nvPr/>
        </p:nvSpPr>
        <p:spPr>
          <a:xfrm rot="-10800000">
            <a:off x="-243062" y="-3311098"/>
            <a:ext cx="23061399" cy="10582314"/>
          </a:xfrm>
          <a:custGeom>
            <a:avLst/>
            <a:gdLst/>
            <a:ahLst/>
            <a:cxnLst/>
            <a:rect l="l" t="t" r="r" b="b"/>
            <a:pathLst>
              <a:path w="23061399" h="10582314">
                <a:moveTo>
                  <a:pt x="0" y="0"/>
                </a:moveTo>
                <a:lnTo>
                  <a:pt x="23061399" y="0"/>
                </a:lnTo>
                <a:lnTo>
                  <a:pt x="23061399" y="10582313"/>
                </a:lnTo>
                <a:lnTo>
                  <a:pt x="0" y="1058231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 l="-1182" t="-46909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3" name="Freeform 63"/>
          <p:cNvSpPr/>
          <p:nvPr/>
        </p:nvSpPr>
        <p:spPr>
          <a:xfrm rot="-5400000" flipH="1" flipV="1">
            <a:off x="275445" y="-4585245"/>
            <a:ext cx="8928000" cy="9574263"/>
          </a:xfrm>
          <a:custGeom>
            <a:avLst/>
            <a:gdLst/>
            <a:ahLst/>
            <a:cxnLst/>
            <a:rect l="l" t="t" r="r" b="b"/>
            <a:pathLst>
              <a:path w="8928000" h="9574263">
                <a:moveTo>
                  <a:pt x="8928000" y="9574262"/>
                </a:moveTo>
                <a:lnTo>
                  <a:pt x="0" y="9574262"/>
                </a:lnTo>
                <a:lnTo>
                  <a:pt x="0" y="0"/>
                </a:lnTo>
                <a:lnTo>
                  <a:pt x="8928000" y="0"/>
                </a:lnTo>
                <a:lnTo>
                  <a:pt x="8928000" y="9574262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64" name="Freeform 64"/>
          <p:cNvSpPr/>
          <p:nvPr/>
        </p:nvSpPr>
        <p:spPr>
          <a:xfrm rot="-5400000">
            <a:off x="15557454" y="568531"/>
            <a:ext cx="3962218" cy="9549602"/>
          </a:xfrm>
          <a:custGeom>
            <a:avLst/>
            <a:gdLst/>
            <a:ahLst/>
            <a:cxnLst/>
            <a:rect l="l" t="t" r="r" b="b"/>
            <a:pathLst>
              <a:path w="3727401" h="9472195">
                <a:moveTo>
                  <a:pt x="0" y="0"/>
                </a:moveTo>
                <a:lnTo>
                  <a:pt x="3727402" y="0"/>
                </a:lnTo>
                <a:lnTo>
                  <a:pt x="3727402" y="9472195"/>
                </a:lnTo>
                <a:lnTo>
                  <a:pt x="0" y="947219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 l="-139523" b="-1077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5" name="Freeform 65"/>
          <p:cNvSpPr/>
          <p:nvPr/>
        </p:nvSpPr>
        <p:spPr>
          <a:xfrm>
            <a:off x="2953356" y="1368289"/>
            <a:ext cx="12966012" cy="3149199"/>
          </a:xfrm>
          <a:custGeom>
            <a:avLst/>
            <a:gdLst/>
            <a:ahLst/>
            <a:cxnLst/>
            <a:rect l="l" t="t" r="r" b="b"/>
            <a:pathLst>
              <a:path w="12966012" h="3149199">
                <a:moveTo>
                  <a:pt x="0" y="0"/>
                </a:moveTo>
                <a:lnTo>
                  <a:pt x="12966011" y="0"/>
                </a:lnTo>
                <a:lnTo>
                  <a:pt x="12966011" y="3149198"/>
                </a:lnTo>
                <a:lnTo>
                  <a:pt x="0" y="314919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6" name="Freeform 66"/>
          <p:cNvSpPr/>
          <p:nvPr/>
        </p:nvSpPr>
        <p:spPr>
          <a:xfrm>
            <a:off x="7895561" y="4568179"/>
            <a:ext cx="8279807" cy="2202884"/>
          </a:xfrm>
          <a:custGeom>
            <a:avLst/>
            <a:gdLst/>
            <a:ahLst/>
            <a:cxnLst/>
            <a:rect l="l" t="t" r="r" b="b"/>
            <a:pathLst>
              <a:path w="8279807" h="2202884">
                <a:moveTo>
                  <a:pt x="0" y="0"/>
                </a:moveTo>
                <a:lnTo>
                  <a:pt x="8279807" y="0"/>
                </a:lnTo>
                <a:lnTo>
                  <a:pt x="8279807" y="2202884"/>
                </a:lnTo>
                <a:lnTo>
                  <a:pt x="0" y="220288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7" name="TextBox 67"/>
          <p:cNvSpPr txBox="1"/>
          <p:nvPr/>
        </p:nvSpPr>
        <p:spPr>
          <a:xfrm>
            <a:off x="69498" y="11863189"/>
            <a:ext cx="22235958" cy="68223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4000" dirty="0" err="1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Rayssa</a:t>
            </a:r>
            <a:r>
              <a:rPr lang="en-US" sz="4000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Albuquerque Silva¹, </a:t>
            </a:r>
            <a:r>
              <a:rPr lang="pt-BR" sz="4000" dirty="0" err="1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Iandra</a:t>
            </a:r>
            <a:r>
              <a:rPr lang="pt-BR" sz="4000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Valéria de Oliveira Viana</a:t>
            </a:r>
            <a:r>
              <a:rPr lang="en-US" sz="4000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², Filipe de Souza Jorge</a:t>
            </a:r>
            <a:r>
              <a:rPr lang="en-US" sz="4000" baseline="30000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3</a:t>
            </a:r>
            <a:r>
              <a:rPr lang="en-US" sz="4000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, </a:t>
            </a:r>
            <a:r>
              <a:rPr lang="pt-BR" sz="4000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Daniel Kennedy Domingos da Silva</a:t>
            </a:r>
            <a:r>
              <a:rPr lang="pt-BR" sz="4000" baseline="30000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4</a:t>
            </a:r>
            <a:r>
              <a:rPr lang="pt-BR" sz="4000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, Alberto Ferreira da Silva</a:t>
            </a:r>
            <a:r>
              <a:rPr lang="pt-BR" sz="4000" baseline="30000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5</a:t>
            </a:r>
            <a:r>
              <a:rPr lang="pt-BR" sz="4000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sz="4000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e Jefferson </a:t>
            </a:r>
            <a:r>
              <a:rPr lang="en-US" sz="4000" dirty="0" err="1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Bezerra</a:t>
            </a:r>
            <a:r>
              <a:rPr lang="en-US" sz="4000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dos Santos</a:t>
            </a:r>
            <a:r>
              <a:rPr lang="en-US" sz="4000" baseline="30000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6</a:t>
            </a:r>
          </a:p>
          <a:p>
            <a:pPr>
              <a:lnSpc>
                <a:spcPts val="5599"/>
              </a:lnSpc>
            </a:pPr>
            <a:r>
              <a:rPr lang="en-US" sz="2300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¹Discente da EREFEM </a:t>
            </a:r>
            <a:r>
              <a:rPr lang="en-US" sz="2300" dirty="0" err="1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Monsehor</a:t>
            </a:r>
            <a:r>
              <a:rPr lang="en-US" sz="2300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José </a:t>
            </a:r>
            <a:r>
              <a:rPr lang="en-US" sz="2300" dirty="0" err="1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Kerhle</a:t>
            </a:r>
            <a:r>
              <a:rPr lang="en-US" sz="2300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, Hannahsudoki@gmail.com </a:t>
            </a:r>
            <a:r>
              <a:rPr lang="en-US" sz="2300" dirty="0" err="1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Arcoverde</a:t>
            </a:r>
            <a:r>
              <a:rPr lang="en-US" sz="2300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, Pernambuco , </a:t>
            </a:r>
            <a:r>
              <a:rPr lang="en-US" sz="2300" baseline="30000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2</a:t>
            </a:r>
            <a:r>
              <a:rPr lang="en-US" sz="2300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Discente da EREFEM </a:t>
            </a:r>
            <a:r>
              <a:rPr lang="en-US" sz="2300" dirty="0" err="1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Monsehor</a:t>
            </a:r>
            <a:r>
              <a:rPr lang="en-US" sz="2300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José </a:t>
            </a:r>
            <a:r>
              <a:rPr lang="en-US" sz="2300" dirty="0" err="1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Kerhle</a:t>
            </a:r>
            <a:r>
              <a:rPr lang="en-US" sz="2300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, valeriaiandra1@gmail.com, </a:t>
            </a:r>
            <a:r>
              <a:rPr lang="en-US" sz="2300" dirty="0" err="1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Arcoverde</a:t>
            </a:r>
            <a:r>
              <a:rPr lang="en-US" sz="2300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, Pernambuco</a:t>
            </a:r>
            <a:r>
              <a:rPr lang="en-US" sz="2300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, </a:t>
            </a:r>
            <a:r>
              <a:rPr lang="en-US" sz="2300" baseline="30000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3</a:t>
            </a:r>
            <a:r>
              <a:rPr lang="en-US" sz="2300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Discente da EREFEM </a:t>
            </a:r>
            <a:r>
              <a:rPr lang="en-US" sz="2300" dirty="0" err="1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Monsehor</a:t>
            </a:r>
            <a:r>
              <a:rPr lang="en-US" sz="2300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José </a:t>
            </a:r>
            <a:r>
              <a:rPr lang="en-US" sz="2300" dirty="0" err="1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Kerhle</a:t>
            </a:r>
            <a:r>
              <a:rPr lang="en-US" sz="2300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, felipesousas383@gmail.com, </a:t>
            </a:r>
            <a:r>
              <a:rPr lang="en-US" sz="2300" dirty="0" err="1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Arcoverde</a:t>
            </a:r>
            <a:r>
              <a:rPr lang="en-US" sz="2300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, Pernambuco, </a:t>
            </a:r>
            <a:r>
              <a:rPr lang="en-US" sz="2300" baseline="30000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4</a:t>
            </a:r>
            <a:r>
              <a:rPr lang="en-US" sz="2300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Discente da EREFEM </a:t>
            </a:r>
            <a:r>
              <a:rPr lang="en-US" sz="2300" dirty="0" err="1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Monsehor</a:t>
            </a:r>
            <a:r>
              <a:rPr lang="en-US" sz="2300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José </a:t>
            </a:r>
            <a:r>
              <a:rPr lang="en-US" sz="2300" dirty="0" err="1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Kerhle</a:t>
            </a:r>
            <a:r>
              <a:rPr lang="en-US" sz="230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, danielkennedi121@gmail.com, </a:t>
            </a:r>
            <a:r>
              <a:rPr lang="en-US" sz="2300" dirty="0" err="1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Arcoverde</a:t>
            </a:r>
            <a:r>
              <a:rPr lang="en-US" sz="2300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, Pernambuco, </a:t>
            </a:r>
            <a:r>
              <a:rPr lang="en-US" sz="2300" baseline="30000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5</a:t>
            </a:r>
            <a:r>
              <a:rPr lang="en-US" sz="2300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Discente da EREFEM </a:t>
            </a:r>
            <a:r>
              <a:rPr lang="en-US" sz="2300" dirty="0" err="1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Monsehor</a:t>
            </a:r>
            <a:r>
              <a:rPr lang="en-US" sz="2300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José </a:t>
            </a:r>
            <a:r>
              <a:rPr lang="en-US" sz="2300" dirty="0" err="1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Kerhle</a:t>
            </a:r>
            <a:r>
              <a:rPr lang="en-US" sz="230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, bettoosilva000@gmail.com, </a:t>
            </a:r>
            <a:r>
              <a:rPr lang="en-US" sz="2300" dirty="0" err="1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Arcoverde</a:t>
            </a:r>
            <a:r>
              <a:rPr lang="en-US" sz="2300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, Pernambuco,  </a:t>
            </a:r>
            <a:r>
              <a:rPr lang="en-US" sz="2300" baseline="30000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6</a:t>
            </a:r>
            <a:r>
              <a:rPr lang="en-US" sz="2300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Professor </a:t>
            </a:r>
            <a:r>
              <a:rPr lang="en-US" sz="2300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da EREFEM </a:t>
            </a:r>
            <a:r>
              <a:rPr lang="en-US" sz="2300" dirty="0" err="1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Monsehor</a:t>
            </a:r>
            <a:r>
              <a:rPr lang="en-US" sz="2300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José </a:t>
            </a:r>
            <a:r>
              <a:rPr lang="en-US" sz="2300" dirty="0" err="1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Kerhle</a:t>
            </a:r>
            <a:r>
              <a:rPr lang="en-US" sz="230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, jefferson.bsantos42@professor.educacao.pe.gov.br, </a:t>
            </a:r>
            <a:r>
              <a:rPr lang="en-US" sz="2300" dirty="0" err="1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Arcoverde</a:t>
            </a:r>
            <a:r>
              <a:rPr lang="en-US" sz="2300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, Pernambuco</a:t>
            </a:r>
            <a:r>
              <a:rPr lang="en-US" sz="2400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.</a:t>
            </a:r>
          </a:p>
          <a:p>
            <a:pPr>
              <a:lnSpc>
                <a:spcPts val="5599"/>
              </a:lnSpc>
            </a:pPr>
            <a:endParaRPr lang="en-US" sz="3000" dirty="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>
              <a:lnSpc>
                <a:spcPts val="5599"/>
              </a:lnSpc>
            </a:pPr>
            <a:endParaRPr lang="en-US" sz="3000" dirty="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>
              <a:lnSpc>
                <a:spcPts val="5599"/>
              </a:lnSpc>
            </a:pPr>
            <a:endParaRPr lang="en-US" sz="3000" dirty="0" smtClean="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>
              <a:lnSpc>
                <a:spcPts val="4200"/>
              </a:lnSpc>
              <a:spcBef>
                <a:spcPct val="0"/>
              </a:spcBef>
            </a:pPr>
            <a:r>
              <a:rPr lang="en-US" sz="3000" baseline="30000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                      </a:t>
            </a:r>
            <a:endParaRPr lang="en-US" sz="3000" dirty="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algn="ctr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68" name="TextBox 68"/>
          <p:cNvSpPr txBox="1"/>
          <p:nvPr/>
        </p:nvSpPr>
        <p:spPr>
          <a:xfrm>
            <a:off x="594587" y="7872990"/>
            <a:ext cx="21185779" cy="2562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51"/>
              </a:lnSpc>
            </a:pPr>
            <a:r>
              <a:rPr lang="en-US" sz="18046" b="1" dirty="0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FEIRA DE CIÊNCIAS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39644" y="9871977"/>
            <a:ext cx="22182483" cy="33855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800"/>
              </a:lnSpc>
            </a:pPr>
            <a:r>
              <a:rPr lang="pt-BR" sz="7000" dirty="0" smtClean="0">
                <a:latin typeface="Oswald" panose="020B0604020202020204" charset="0"/>
              </a:rPr>
              <a:t>APLICAÇÕES </a:t>
            </a:r>
            <a:r>
              <a:rPr lang="pt-BR" sz="7000" dirty="0">
                <a:latin typeface="Oswald" panose="020B0604020202020204" charset="0"/>
              </a:rPr>
              <a:t>DO ARDUINO NA AGRICULTURA</a:t>
            </a:r>
            <a:r>
              <a:rPr lang="pt-BR" sz="7000">
                <a:latin typeface="Oswald" panose="020B0604020202020204" charset="0"/>
              </a:rPr>
              <a:t>: </a:t>
            </a:r>
            <a:endParaRPr lang="pt-BR" sz="7000" smtClean="0">
              <a:latin typeface="Oswald" panose="020B0604020202020204" charset="0"/>
            </a:endParaRPr>
          </a:p>
          <a:p>
            <a:pPr algn="ctr">
              <a:lnSpc>
                <a:spcPts val="8800"/>
              </a:lnSpc>
            </a:pPr>
            <a:r>
              <a:rPr lang="pt-BR" sz="7000" smtClean="0">
                <a:latin typeface="Oswald" panose="020B0604020202020204" charset="0"/>
              </a:rPr>
              <a:t>COLETA </a:t>
            </a:r>
            <a:r>
              <a:rPr lang="pt-BR" sz="7000" dirty="0">
                <a:latin typeface="Oswald" panose="020B0604020202020204" charset="0"/>
              </a:rPr>
              <a:t>E ANÁLISE DE DADOS</a:t>
            </a:r>
          </a:p>
          <a:p>
            <a:pPr algn="ctr">
              <a:lnSpc>
                <a:spcPts val="8800"/>
              </a:lnSpc>
            </a:pPr>
            <a:r>
              <a:rPr lang="en-US" sz="3600" dirty="0" smtClean="0">
                <a:solidFill>
                  <a:srgbClr val="684769"/>
                </a:solidFill>
                <a:latin typeface="Oswald" panose="020B0604020202020204" charset="0"/>
                <a:ea typeface="Oswald"/>
                <a:cs typeface="Oswald"/>
                <a:sym typeface="Oswald"/>
              </a:rPr>
              <a:t> </a:t>
            </a:r>
            <a:endParaRPr lang="en-US" sz="3600" dirty="0">
              <a:solidFill>
                <a:srgbClr val="684769"/>
              </a:solidFill>
              <a:latin typeface="Oswald" panose="020B0604020202020204" charset="0"/>
              <a:ea typeface="Oswald"/>
              <a:cs typeface="Oswald"/>
              <a:sym typeface="Oswald"/>
            </a:endParaRPr>
          </a:p>
        </p:txBody>
      </p:sp>
      <p:sp>
        <p:nvSpPr>
          <p:cNvPr id="70" name="TextBox 70"/>
          <p:cNvSpPr txBox="1"/>
          <p:nvPr/>
        </p:nvSpPr>
        <p:spPr>
          <a:xfrm>
            <a:off x="2001457" y="15788120"/>
            <a:ext cx="7586565" cy="1139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00"/>
              </a:lnSpc>
            </a:pPr>
            <a:r>
              <a:rPr lang="en-US" sz="8000" b="1" dirty="0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INTRODUÇÃO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-335485" y="26282900"/>
            <a:ext cx="12163499" cy="1150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10"/>
              </a:lnSpc>
            </a:pPr>
            <a:r>
              <a:rPr lang="en-US" sz="8100" b="1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OBJETIVOS</a:t>
            </a:r>
          </a:p>
        </p:txBody>
      </p:sp>
      <p:grpSp>
        <p:nvGrpSpPr>
          <p:cNvPr id="72" name="Group 72"/>
          <p:cNvGrpSpPr/>
          <p:nvPr/>
        </p:nvGrpSpPr>
        <p:grpSpPr>
          <a:xfrm>
            <a:off x="1347694" y="31975503"/>
            <a:ext cx="9306903" cy="2497205"/>
            <a:chOff x="0" y="0"/>
            <a:chExt cx="1269336" cy="340585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1269336" cy="340585"/>
            </a:xfrm>
            <a:custGeom>
              <a:avLst/>
              <a:gdLst/>
              <a:ahLst/>
              <a:cxnLst/>
              <a:rect l="l" t="t" r="r" b="b"/>
              <a:pathLst>
                <a:path w="1269336" h="340585">
                  <a:moveTo>
                    <a:pt x="0" y="0"/>
                  </a:moveTo>
                  <a:lnTo>
                    <a:pt x="1269336" y="0"/>
                  </a:lnTo>
                  <a:lnTo>
                    <a:pt x="1269336" y="340585"/>
                  </a:lnTo>
                  <a:lnTo>
                    <a:pt x="0" y="340585"/>
                  </a:lnTo>
                  <a:close/>
                </a:path>
              </a:pathLst>
            </a:custGeom>
            <a:solidFill>
              <a:srgbClr val="099594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0" y="-95250"/>
              <a:ext cx="1269336" cy="435835"/>
            </a:xfrm>
            <a:prstGeom prst="rect">
              <a:avLst/>
            </a:prstGeom>
          </p:spPr>
          <p:txBody>
            <a:bodyPr lIns="49637" tIns="49637" rIns="49637" bIns="49637" rtlCol="0" anchor="ctr"/>
            <a:lstStyle/>
            <a:p>
              <a:pPr algn="ctr">
                <a:lnSpc>
                  <a:spcPts val="5771"/>
                </a:lnSpc>
              </a:pPr>
              <a:endParaRPr/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1137422" y="31922016"/>
            <a:ext cx="9200884" cy="2102908"/>
            <a:chOff x="0" y="0"/>
            <a:chExt cx="1254876" cy="286808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1254876" cy="286808"/>
            </a:xfrm>
            <a:custGeom>
              <a:avLst/>
              <a:gdLst/>
              <a:ahLst/>
              <a:cxnLst/>
              <a:rect l="l" t="t" r="r" b="b"/>
              <a:pathLst>
                <a:path w="1254876" h="286808">
                  <a:moveTo>
                    <a:pt x="0" y="0"/>
                  </a:moveTo>
                  <a:lnTo>
                    <a:pt x="1254876" y="0"/>
                  </a:lnTo>
                  <a:lnTo>
                    <a:pt x="1254876" y="286808"/>
                  </a:lnTo>
                  <a:lnTo>
                    <a:pt x="0" y="286808"/>
                  </a:lnTo>
                  <a:close/>
                </a:path>
              </a:pathLst>
            </a:custGeom>
            <a:solidFill>
              <a:srgbClr val="68476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0" y="-95250"/>
              <a:ext cx="1254876" cy="382058"/>
            </a:xfrm>
            <a:prstGeom prst="rect">
              <a:avLst/>
            </a:prstGeom>
          </p:spPr>
          <p:txBody>
            <a:bodyPr lIns="49637" tIns="49637" rIns="49637" bIns="49637" rtlCol="0" anchor="ctr"/>
            <a:lstStyle/>
            <a:p>
              <a:pPr algn="ctr">
                <a:lnSpc>
                  <a:spcPts val="5771"/>
                </a:lnSpc>
              </a:pPr>
              <a:endParaRPr/>
            </a:p>
          </p:txBody>
        </p:sp>
      </p:grpSp>
      <p:sp>
        <p:nvSpPr>
          <p:cNvPr id="78" name="TextBox 78"/>
          <p:cNvSpPr txBox="1"/>
          <p:nvPr/>
        </p:nvSpPr>
        <p:spPr>
          <a:xfrm>
            <a:off x="-841227" y="32331630"/>
            <a:ext cx="13359830" cy="1111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98"/>
              </a:lnSpc>
            </a:pPr>
            <a:r>
              <a:rPr lang="en-US" sz="7816" b="1" dirty="0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MATERIAL E MÉTODOS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11920437" y="16030226"/>
            <a:ext cx="9596991" cy="1139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00"/>
              </a:lnSpc>
            </a:pPr>
            <a:r>
              <a:rPr lang="en-US" sz="8000" b="1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RESULTADOS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13774497" y="24594009"/>
            <a:ext cx="6313503" cy="1139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00"/>
              </a:lnSpc>
            </a:pPr>
            <a:r>
              <a:rPr lang="en-US" sz="8000" b="1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CONCLUSÃO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12200485" y="26035250"/>
            <a:ext cx="8818721" cy="424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endParaRPr lang="en-US" sz="2600" dirty="0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2" name="TextBox 82"/>
          <p:cNvSpPr txBox="1"/>
          <p:nvPr/>
        </p:nvSpPr>
        <p:spPr>
          <a:xfrm>
            <a:off x="845635" y="17624879"/>
            <a:ext cx="9919361" cy="4939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  <a:spcBef>
                <a:spcPct val="0"/>
              </a:spcBef>
            </a:pPr>
            <a:endParaRPr lang="en-US" sz="2999" dirty="0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3" name="TextBox 83"/>
          <p:cNvSpPr txBox="1"/>
          <p:nvPr/>
        </p:nvSpPr>
        <p:spPr>
          <a:xfrm>
            <a:off x="726141" y="27728874"/>
            <a:ext cx="10210022" cy="8617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endParaRPr lang="pt-BR" sz="2800" dirty="0">
              <a:latin typeface="Oswald" panose="020B0604020202020204" charset="0"/>
            </a:endParaRPr>
          </a:p>
          <a:p>
            <a:endParaRPr lang="pt-BR" sz="2800" dirty="0">
              <a:latin typeface="Oswald" panose="020B0604020202020204" charset="0"/>
            </a:endParaRPr>
          </a:p>
        </p:txBody>
      </p:sp>
      <p:grpSp>
        <p:nvGrpSpPr>
          <p:cNvPr id="84" name="Group 84"/>
          <p:cNvGrpSpPr/>
          <p:nvPr/>
        </p:nvGrpSpPr>
        <p:grpSpPr>
          <a:xfrm>
            <a:off x="424536" y="34472054"/>
            <a:ext cx="10846893" cy="7232482"/>
            <a:chOff x="-40113" y="-104660"/>
            <a:chExt cx="1445512" cy="1138197"/>
          </a:xfrm>
        </p:grpSpPr>
        <p:sp>
          <p:nvSpPr>
            <p:cNvPr id="85" name="Freeform 85"/>
            <p:cNvSpPr/>
            <p:nvPr/>
          </p:nvSpPr>
          <p:spPr>
            <a:xfrm>
              <a:off x="-40113" y="-104660"/>
              <a:ext cx="1445512" cy="1138197"/>
            </a:xfrm>
            <a:custGeom>
              <a:avLst/>
              <a:gdLst/>
              <a:ahLst/>
              <a:cxnLst/>
              <a:rect l="l" t="t" r="r" b="b"/>
              <a:pathLst>
                <a:path w="1328790" h="1025882">
                  <a:moveTo>
                    <a:pt x="0" y="0"/>
                  </a:moveTo>
                  <a:lnTo>
                    <a:pt x="1328790" y="0"/>
                  </a:lnTo>
                  <a:lnTo>
                    <a:pt x="1328790" y="1025882"/>
                  </a:lnTo>
                  <a:lnTo>
                    <a:pt x="0" y="1025882"/>
                  </a:lnTo>
                  <a:close/>
                </a:path>
              </a:pathLst>
            </a:custGeom>
            <a:solidFill>
              <a:srgbClr val="E3D9D1">
                <a:alpha val="63922"/>
              </a:srgbClr>
            </a:solidFill>
          </p:spPr>
          <p:txBody>
            <a:bodyPr/>
            <a:lstStyle/>
            <a:p>
              <a:pPr algn="just"/>
              <a:r>
                <a:rPr lang="pt-BR" sz="2800" dirty="0" smtClean="0">
                  <a:latin typeface="Oswald" panose="020B0604020202020204" charset="0"/>
                </a:rPr>
                <a:t>A </a:t>
              </a:r>
              <a:r>
                <a:rPr lang="pt-BR" sz="2800" dirty="0">
                  <a:latin typeface="Oswald" panose="020B0604020202020204" charset="0"/>
                </a:rPr>
                <a:t>proposta consistiu na implementação de um sistema embarcado baseado no </a:t>
              </a:r>
              <a:r>
                <a:rPr lang="pt-BR" sz="2800" dirty="0" err="1">
                  <a:latin typeface="Oswald" panose="020B0604020202020204" charset="0"/>
                </a:rPr>
                <a:t>Arduino</a:t>
              </a:r>
              <a:r>
                <a:rPr lang="pt-BR" sz="2800" dirty="0">
                  <a:latin typeface="Oswald" panose="020B0604020202020204" charset="0"/>
                </a:rPr>
                <a:t> Nano, utilizando sensores DHT11 (temperatura e umidade do ar) e HD-38 (umidade do solo). A comunicação dos dados foi realizada via interface com Python, com registro em cartão SD. Algoritmos otimizados foram desenvolvidos para o processamento estatístico dos dados, abrangendo análise de variabilidade, detecção de </a:t>
              </a:r>
              <a:r>
                <a:rPr lang="pt-BR" sz="2800" dirty="0" err="1">
                  <a:latin typeface="Oswald" panose="020B0604020202020204" charset="0"/>
                </a:rPr>
                <a:t>outliers</a:t>
              </a:r>
              <a:r>
                <a:rPr lang="pt-BR" sz="2800" dirty="0">
                  <a:latin typeface="Oswald" panose="020B0604020202020204" charset="0"/>
                </a:rPr>
                <a:t> e </a:t>
              </a:r>
              <a:r>
                <a:rPr lang="pt-BR" sz="2800" dirty="0" smtClean="0">
                  <a:latin typeface="Oswald" panose="020B0604020202020204" charset="0"/>
                </a:rPr>
                <a:t>cálculos de medidas de tendência centra: média, media e moda. Além de medidas de variabilidade: desvio padrão e variância. </a:t>
              </a:r>
              <a:endParaRPr lang="pt-BR" sz="2800" dirty="0">
                <a:latin typeface="Oswald" panose="020B0604020202020204" charset="0"/>
              </a:endParaRP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0" y="-95250"/>
              <a:ext cx="1328790" cy="11211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771"/>
                </a:lnSpc>
              </a:pPr>
              <a:endParaRPr/>
            </a:p>
          </p:txBody>
        </p:sp>
      </p:grpSp>
      <p:pic>
        <p:nvPicPr>
          <p:cNvPr id="9" name="Imagem 8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635" y="38162234"/>
            <a:ext cx="1700715" cy="2643612"/>
          </a:xfrm>
          <a:prstGeom prst="rect">
            <a:avLst/>
          </a:prstGeom>
        </p:spPr>
      </p:pic>
      <p:sp>
        <p:nvSpPr>
          <p:cNvPr id="24" name="CaixaDeTexto 23"/>
          <p:cNvSpPr txBox="1"/>
          <p:nvPr/>
        </p:nvSpPr>
        <p:spPr>
          <a:xfrm>
            <a:off x="825647" y="37661616"/>
            <a:ext cx="34898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 smtClean="0">
                <a:latin typeface="Oswald" panose="020B0604020202020204" charset="0"/>
              </a:rPr>
              <a:t>Figura 1: </a:t>
            </a:r>
            <a:r>
              <a:rPr lang="pt-BR" sz="2000" dirty="0" smtClean="0">
                <a:latin typeface="Oswald" panose="020B0604020202020204" charset="0"/>
              </a:rPr>
              <a:t>Componentes do Circuito.</a:t>
            </a:r>
            <a:endParaRPr lang="pt-BR" sz="2000" dirty="0">
              <a:latin typeface="Oswald" panose="020B0604020202020204" charset="0"/>
            </a:endParaRPr>
          </a:p>
        </p:txBody>
      </p:sp>
      <p:pic>
        <p:nvPicPr>
          <p:cNvPr id="25" name="Imagem 24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6349" y="38143665"/>
            <a:ext cx="1601810" cy="2643613"/>
          </a:xfrm>
          <a:prstGeom prst="rect">
            <a:avLst/>
          </a:prstGeom>
        </p:spPr>
      </p:pic>
      <p:sp>
        <p:nvSpPr>
          <p:cNvPr id="88" name="Retângulo 87"/>
          <p:cNvSpPr/>
          <p:nvPr/>
        </p:nvSpPr>
        <p:spPr>
          <a:xfrm>
            <a:off x="6210900" y="37626632"/>
            <a:ext cx="37305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latin typeface="Oswald" panose="020B0604020202020204" charset="0"/>
              </a:rPr>
              <a:t>Figura </a:t>
            </a:r>
            <a:r>
              <a:rPr lang="pt-BR" b="1" dirty="0" smtClean="0">
                <a:latin typeface="Oswald" panose="020B0604020202020204" charset="0"/>
              </a:rPr>
              <a:t>2: </a:t>
            </a:r>
            <a:r>
              <a:rPr lang="pt-BR" dirty="0" err="1" smtClean="0">
                <a:latin typeface="Oswald" panose="020B0604020202020204" charset="0"/>
              </a:rPr>
              <a:t>Analizador</a:t>
            </a:r>
            <a:r>
              <a:rPr lang="pt-BR" dirty="0" smtClean="0">
                <a:latin typeface="Oswald" panose="020B0604020202020204" charset="0"/>
              </a:rPr>
              <a:t> de solo com </a:t>
            </a:r>
            <a:r>
              <a:rPr lang="pt-BR" dirty="0" err="1" smtClean="0">
                <a:latin typeface="Oswald" panose="020B0604020202020204" charset="0"/>
              </a:rPr>
              <a:t>Arduino</a:t>
            </a:r>
            <a:r>
              <a:rPr lang="pt-BR" dirty="0" smtClean="0">
                <a:latin typeface="Oswald" panose="020B0604020202020204" charset="0"/>
              </a:rPr>
              <a:t>.</a:t>
            </a:r>
            <a:endParaRPr lang="pt-BR" dirty="0"/>
          </a:p>
        </p:txBody>
      </p:sp>
      <p:pic>
        <p:nvPicPr>
          <p:cNvPr id="89" name="Imagem 88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3696" y="38093520"/>
            <a:ext cx="1813062" cy="2693758"/>
          </a:xfrm>
          <a:prstGeom prst="rect">
            <a:avLst/>
          </a:prstGeom>
        </p:spPr>
      </p:pic>
      <p:pic>
        <p:nvPicPr>
          <p:cNvPr id="90" name="Imagem 89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7912" y="38127546"/>
            <a:ext cx="2571677" cy="2675849"/>
          </a:xfrm>
          <a:prstGeom prst="rect">
            <a:avLst/>
          </a:prstGeom>
        </p:spPr>
      </p:pic>
      <p:sp>
        <p:nvSpPr>
          <p:cNvPr id="87" name="CaixaDeTexto 86"/>
          <p:cNvSpPr txBox="1"/>
          <p:nvPr/>
        </p:nvSpPr>
        <p:spPr>
          <a:xfrm>
            <a:off x="1066386" y="41040481"/>
            <a:ext cx="2893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latin typeface="Oswald" panose="020B0604020202020204" charset="0"/>
              </a:rPr>
              <a:t>Fonte: </a:t>
            </a:r>
            <a:r>
              <a:rPr lang="pt-BR" dirty="0" smtClean="0">
                <a:latin typeface="Oswald" panose="020B0604020202020204" charset="0"/>
              </a:rPr>
              <a:t>Autor</a:t>
            </a:r>
            <a:r>
              <a:rPr lang="pt-BR" b="1" dirty="0" smtClean="0">
                <a:latin typeface="Oswald" panose="020B0604020202020204" charset="0"/>
              </a:rPr>
              <a:t> </a:t>
            </a:r>
            <a:endParaRPr lang="pt-BR" b="1" dirty="0">
              <a:latin typeface="Oswald" panose="020B0604020202020204" charset="0"/>
            </a:endParaRPr>
          </a:p>
        </p:txBody>
      </p:sp>
      <p:sp>
        <p:nvSpPr>
          <p:cNvPr id="91" name="CaixaDeTexto 90"/>
          <p:cNvSpPr txBox="1"/>
          <p:nvPr/>
        </p:nvSpPr>
        <p:spPr>
          <a:xfrm>
            <a:off x="6141904" y="41064966"/>
            <a:ext cx="2893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latin typeface="Oswald" panose="020B0604020202020204" charset="0"/>
              </a:rPr>
              <a:t>Fonte: </a:t>
            </a:r>
            <a:r>
              <a:rPr lang="pt-BR" dirty="0" smtClean="0">
                <a:latin typeface="Oswald" panose="020B0604020202020204" charset="0"/>
              </a:rPr>
              <a:t>Autor</a:t>
            </a:r>
            <a:r>
              <a:rPr lang="pt-BR" b="1" dirty="0" smtClean="0">
                <a:latin typeface="Oswald" panose="020B0604020202020204" charset="0"/>
              </a:rPr>
              <a:t> </a:t>
            </a:r>
            <a:endParaRPr lang="pt-BR" b="1" dirty="0">
              <a:latin typeface="Oswald" panose="020B060402020202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920</Words>
  <Application>Microsoft Office PowerPoint</Application>
  <PresentationFormat>Personalizar</PresentationFormat>
  <Paragraphs>44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Calibri</vt:lpstr>
      <vt:lpstr>Arial</vt:lpstr>
      <vt:lpstr>Oswald</vt:lpstr>
      <vt:lpstr>Oswald Bold</vt:lpstr>
      <vt:lpstr>Office Theme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Cópia de Banner Jovem_FEIRA DE CIÊNCIAS</dc:title>
  <dc:creator>Jeffrey24</dc:creator>
  <cp:lastModifiedBy>Jeffrey24</cp:lastModifiedBy>
  <cp:revision>35</cp:revision>
  <dcterms:created xsi:type="dcterms:W3CDTF">2006-08-16T00:00:00Z</dcterms:created>
  <dcterms:modified xsi:type="dcterms:W3CDTF">2025-07-04T13:31:43Z</dcterms:modified>
  <dc:identifier>DAGrraieB0A</dc:identifier>
</cp:coreProperties>
</file>