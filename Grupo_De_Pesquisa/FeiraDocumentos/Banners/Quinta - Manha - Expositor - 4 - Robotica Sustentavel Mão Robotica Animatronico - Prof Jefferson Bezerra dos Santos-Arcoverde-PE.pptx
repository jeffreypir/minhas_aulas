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22313900" cy="45720000"/>
  <p:notesSz cx="6858000" cy="9144000"/>
  <p:embeddedFontLst>
    <p:embeddedFont>
      <p:font typeface="Oswald Bold" panose="020B0604020202020204" charset="0"/>
      <p:regular r:id="rId3"/>
      <p:bold r:id="rId4"/>
    </p:embeddedFon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Oswald" panose="020B0604020202020204" charset="0"/>
      <p:regular r:id="rId9"/>
      <p:bold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 autoAdjust="0"/>
    <p:restoredTop sz="94607" autoAdjust="0"/>
  </p:normalViewPr>
  <p:slideViewPr>
    <p:cSldViewPr>
      <p:cViewPr>
        <p:scale>
          <a:sx n="40" d="100"/>
          <a:sy n="40" d="100"/>
        </p:scale>
        <p:origin x="760" y="-20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presProps" Target="presProps.xml"/><Relationship Id="rId5" Type="http://schemas.openxmlformats.org/officeDocument/2006/relationships/font" Target="fonts/font3.fntdata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.png"/><Relationship Id="rId17" Type="http://schemas.openxmlformats.org/officeDocument/2006/relationships/image" Target="../media/image11.jpeg"/><Relationship Id="rId2" Type="http://schemas.openxmlformats.org/officeDocument/2006/relationships/image" Target="../media/image1.png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9.jpe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847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76119" y="42046829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1"/>
                </a:lnTo>
                <a:lnTo>
                  <a:pt x="0" y="36731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53473" y="6966176"/>
            <a:ext cx="22361052" cy="34838868"/>
            <a:chOff x="0" y="0"/>
            <a:chExt cx="2966458" cy="422894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66458" cy="4228947"/>
            </a:xfrm>
            <a:custGeom>
              <a:avLst/>
              <a:gdLst/>
              <a:ahLst/>
              <a:cxnLst/>
              <a:rect l="l" t="t" r="r" b="b"/>
              <a:pathLst>
                <a:path w="2966458" h="4228947">
                  <a:moveTo>
                    <a:pt x="0" y="0"/>
                  </a:moveTo>
                  <a:lnTo>
                    <a:pt x="2966458" y="0"/>
                  </a:lnTo>
                  <a:lnTo>
                    <a:pt x="2966458" y="4228947"/>
                  </a:lnTo>
                  <a:lnTo>
                    <a:pt x="0" y="4228947"/>
                  </a:lnTo>
                  <a:close/>
                </a:path>
              </a:pathLst>
            </a:custGeom>
            <a:solidFill>
              <a:srgbClr val="FF914D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95250"/>
              <a:ext cx="2966458" cy="4324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402948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Freeform 7"/>
          <p:cNvSpPr/>
          <p:nvPr/>
        </p:nvSpPr>
        <p:spPr>
          <a:xfrm>
            <a:off x="8056607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8" name="Freeform 8"/>
          <p:cNvSpPr/>
          <p:nvPr/>
        </p:nvSpPr>
        <p:spPr>
          <a:xfrm>
            <a:off x="11729778" y="42251281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0" name="Group 10"/>
          <p:cNvGrpSpPr/>
          <p:nvPr/>
        </p:nvGrpSpPr>
        <p:grpSpPr>
          <a:xfrm>
            <a:off x="12001697" y="40888582"/>
            <a:ext cx="9293426" cy="3194489"/>
            <a:chOff x="0" y="0"/>
            <a:chExt cx="1328068" cy="45650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328068" cy="456505"/>
            </a:xfrm>
            <a:custGeom>
              <a:avLst/>
              <a:gdLst/>
              <a:ahLst/>
              <a:cxnLst/>
              <a:rect l="l" t="t" r="r" b="b"/>
              <a:pathLst>
                <a:path w="1328068" h="456505">
                  <a:moveTo>
                    <a:pt x="0" y="0"/>
                  </a:moveTo>
                  <a:lnTo>
                    <a:pt x="1328068" y="0"/>
                  </a:lnTo>
                  <a:lnTo>
                    <a:pt x="1328068" y="456505"/>
                  </a:lnTo>
                  <a:lnTo>
                    <a:pt x="0" y="4565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1328068" cy="551755"/>
            </a:xfrm>
            <a:prstGeom prst="rect">
              <a:avLst/>
            </a:prstGeom>
          </p:spPr>
          <p:txBody>
            <a:bodyPr lIns="110222" tIns="110222" rIns="110222" bIns="110222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2763763" y="41358807"/>
            <a:ext cx="5775423" cy="2269491"/>
          </a:xfrm>
          <a:custGeom>
            <a:avLst/>
            <a:gdLst/>
            <a:ahLst/>
            <a:cxnLst/>
            <a:rect l="l" t="t" r="r" b="b"/>
            <a:pathLst>
              <a:path w="5775423" h="2269491">
                <a:moveTo>
                  <a:pt x="0" y="0"/>
                </a:moveTo>
                <a:lnTo>
                  <a:pt x="5775423" y="0"/>
                </a:lnTo>
                <a:lnTo>
                  <a:pt x="5775423" y="2269491"/>
                </a:lnTo>
                <a:lnTo>
                  <a:pt x="0" y="22694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4" name="Freeform 14"/>
          <p:cNvSpPr/>
          <p:nvPr/>
        </p:nvSpPr>
        <p:spPr>
          <a:xfrm>
            <a:off x="18539186" y="40888582"/>
            <a:ext cx="1993872" cy="3048509"/>
          </a:xfrm>
          <a:custGeom>
            <a:avLst/>
            <a:gdLst/>
            <a:ahLst/>
            <a:cxnLst/>
            <a:rect l="l" t="t" r="r" b="b"/>
            <a:pathLst>
              <a:path w="1993872" h="3048509">
                <a:moveTo>
                  <a:pt x="0" y="0"/>
                </a:moveTo>
                <a:lnTo>
                  <a:pt x="1993872" y="0"/>
                </a:lnTo>
                <a:lnTo>
                  <a:pt x="1993872" y="3048509"/>
                </a:lnTo>
                <a:lnTo>
                  <a:pt x="0" y="30485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5" name="Freeform 15"/>
          <p:cNvSpPr/>
          <p:nvPr/>
        </p:nvSpPr>
        <p:spPr>
          <a:xfrm>
            <a:off x="4383436" y="42210007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6" name="Freeform 16"/>
          <p:cNvSpPr/>
          <p:nvPr/>
        </p:nvSpPr>
        <p:spPr>
          <a:xfrm>
            <a:off x="-2962904" y="42175704"/>
            <a:ext cx="3704920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1" y="0"/>
                </a:lnTo>
                <a:lnTo>
                  <a:pt x="3673171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7" name="Freeform 17"/>
          <p:cNvSpPr/>
          <p:nvPr/>
        </p:nvSpPr>
        <p:spPr>
          <a:xfrm>
            <a:off x="710266" y="42210007"/>
            <a:ext cx="3673171" cy="3673171"/>
          </a:xfrm>
          <a:custGeom>
            <a:avLst/>
            <a:gdLst/>
            <a:ahLst/>
            <a:cxnLst/>
            <a:rect l="l" t="t" r="r" b="b"/>
            <a:pathLst>
              <a:path w="3673171" h="3673171">
                <a:moveTo>
                  <a:pt x="0" y="0"/>
                </a:moveTo>
                <a:lnTo>
                  <a:pt x="3673170" y="0"/>
                </a:lnTo>
                <a:lnTo>
                  <a:pt x="3673170" y="3673170"/>
                </a:lnTo>
                <a:lnTo>
                  <a:pt x="0" y="36731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8" name="Group 18"/>
          <p:cNvGrpSpPr/>
          <p:nvPr/>
        </p:nvGrpSpPr>
        <p:grpSpPr>
          <a:xfrm>
            <a:off x="-47688" y="7372066"/>
            <a:ext cx="22283645" cy="3063744"/>
            <a:chOff x="0" y="0"/>
            <a:chExt cx="2704920" cy="37189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704920" cy="371895"/>
            </a:xfrm>
            <a:custGeom>
              <a:avLst/>
              <a:gdLst/>
              <a:ahLst/>
              <a:cxnLst/>
              <a:rect l="l" t="t" r="r" b="b"/>
              <a:pathLst>
                <a:path w="2704920" h="371895">
                  <a:moveTo>
                    <a:pt x="0" y="0"/>
                  </a:moveTo>
                  <a:lnTo>
                    <a:pt x="2704920" y="0"/>
                  </a:lnTo>
                  <a:lnTo>
                    <a:pt x="2704920" y="371895"/>
                  </a:lnTo>
                  <a:lnTo>
                    <a:pt x="0" y="37189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95250"/>
              <a:ext cx="2704920" cy="4671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497" y="9965476"/>
            <a:ext cx="22235958" cy="1903713"/>
            <a:chOff x="0" y="0"/>
            <a:chExt cx="2734121" cy="23108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34121" cy="231084"/>
            </a:xfrm>
            <a:custGeom>
              <a:avLst/>
              <a:gdLst/>
              <a:ahLst/>
              <a:cxnLst/>
              <a:rect l="l" t="t" r="r" b="b"/>
              <a:pathLst>
                <a:path w="2734121" h="231084">
                  <a:moveTo>
                    <a:pt x="0" y="0"/>
                  </a:moveTo>
                  <a:lnTo>
                    <a:pt x="2734121" y="0"/>
                  </a:lnTo>
                  <a:lnTo>
                    <a:pt x="2734121" y="231084"/>
                  </a:lnTo>
                  <a:lnTo>
                    <a:pt x="0" y="231084"/>
                  </a:lnTo>
                  <a:close/>
                </a:path>
              </a:pathLst>
            </a:custGeom>
            <a:solidFill>
              <a:srgbClr val="E3D9D1"/>
            </a:solidFill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0"/>
              <a:ext cx="2734121" cy="3263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9843" y="15726245"/>
            <a:ext cx="10691042" cy="10629835"/>
            <a:chOff x="-36038" y="-95250"/>
            <a:chExt cx="1424743" cy="1416586"/>
          </a:xfrm>
        </p:grpSpPr>
        <p:sp>
          <p:nvSpPr>
            <p:cNvPr id="27" name="Freeform 27"/>
            <p:cNvSpPr/>
            <p:nvPr/>
          </p:nvSpPr>
          <p:spPr>
            <a:xfrm>
              <a:off x="-36038" y="70395"/>
              <a:ext cx="1424743" cy="1250941"/>
            </a:xfrm>
            <a:custGeom>
              <a:avLst/>
              <a:gdLst/>
              <a:ahLst/>
              <a:cxnLst/>
              <a:rect l="l" t="t" r="r" b="b"/>
              <a:pathLst>
                <a:path w="1364871" h="1277299">
                  <a:moveTo>
                    <a:pt x="0" y="0"/>
                  </a:moveTo>
                  <a:lnTo>
                    <a:pt x="1364871" y="0"/>
                  </a:lnTo>
                  <a:lnTo>
                    <a:pt x="1364871" y="1277299"/>
                  </a:lnTo>
                  <a:lnTo>
                    <a:pt x="0" y="1277299"/>
                  </a:lnTo>
                  <a:close/>
                </a:path>
              </a:pathLst>
            </a:custGeom>
            <a:solidFill>
              <a:srgbClr val="E3D9D1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2600" dirty="0" smtClean="0">
                <a:latin typeface="Oswald" panose="020B0604020202020204" charset="0"/>
              </a:endParaRPr>
            </a:p>
            <a:p>
              <a:pPr algn="just"/>
              <a:endParaRPr lang="pt-BR" sz="2600" dirty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A crescente preocupação com os impactos ambientais causados pelo descarte inadequado de resíduos tem impulsionado o desenvolvimento de soluções que integrem tecnologia e sustentabilidade. Nesse contexto, a robótica educacional de baixo custo surge como uma alternativa viável para promover a aprendizagem interdisciplinar, aliando inovação técnica à conscientização ecológica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800" dirty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Este trabalho apresenta dois protótipos de robótica sustentável construídos com materiais recicláveis. O primeiro é uma mão robótica controlada por visão computacional, capaz de replicar movimentos humanos em tempo real. O segundo é um </a:t>
              </a:r>
              <a:r>
                <a:rPr lang="pt-BR" sz="2800" dirty="0" err="1">
                  <a:latin typeface="Oswald" panose="020B0604020202020204" charset="0"/>
                </a:rPr>
                <a:t>animatrônico</a:t>
              </a:r>
              <a:r>
                <a:rPr lang="pt-BR" sz="2800" dirty="0">
                  <a:latin typeface="Oswald" panose="020B0604020202020204" charset="0"/>
                </a:rPr>
                <a:t> </a:t>
              </a:r>
              <a:r>
                <a:rPr lang="pt-BR" sz="2800" dirty="0" smtClean="0">
                  <a:latin typeface="Oswald" panose="020B0604020202020204" charset="0"/>
                </a:rPr>
                <a:t>temático feito </a:t>
              </a:r>
              <a:r>
                <a:rPr lang="pt-BR" sz="2800" dirty="0">
                  <a:latin typeface="Oswald" panose="020B0604020202020204" charset="0"/>
                </a:rPr>
                <a:t>com resíduos diversos e controlado por </a:t>
              </a:r>
              <a:r>
                <a:rPr lang="pt-BR" sz="2800" dirty="0" err="1">
                  <a:latin typeface="Oswald" panose="020B0604020202020204" charset="0"/>
                </a:rPr>
                <a:t>Arduino</a:t>
              </a:r>
              <a:r>
                <a:rPr lang="pt-BR" sz="2800" dirty="0">
                  <a:latin typeface="Oswald" panose="020B0604020202020204" charset="0"/>
                </a:rPr>
                <a:t> e </a:t>
              </a:r>
              <a:r>
                <a:rPr lang="pt-BR" sz="2800" dirty="0" err="1">
                  <a:latin typeface="Oswald" panose="020B0604020202020204" charset="0"/>
                </a:rPr>
                <a:t>servomotores</a:t>
              </a:r>
              <a:r>
                <a:rPr lang="pt-BR" sz="2800" dirty="0">
                  <a:latin typeface="Oswald" panose="020B0604020202020204" charset="0"/>
                </a:rPr>
                <a:t>. Ambos os sistemas demonstram a viabilidade de aliar eficiência técnica, baixo custo e reaproveitamento de materiais, reforçando o papel da robótica como ferramenta educacional e de sensibilização ambiental.</a:t>
              </a:r>
            </a:p>
            <a:p>
              <a:pPr algn="just"/>
              <a:endParaRPr lang="pt-BR" sz="2600" dirty="0">
                <a:latin typeface="Oswald" panose="020B0604020202020204" charset="0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0"/>
              <a:ext cx="1364871" cy="13725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885998" y="15711920"/>
            <a:ext cx="8465276" cy="1609472"/>
            <a:chOff x="0" y="0"/>
            <a:chExt cx="1128126" cy="214486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128126" cy="214486"/>
            </a:xfrm>
            <a:custGeom>
              <a:avLst/>
              <a:gdLst/>
              <a:ahLst/>
              <a:cxnLst/>
              <a:rect l="l" t="t" r="r" b="b"/>
              <a:pathLst>
                <a:path w="1128126" h="214486">
                  <a:moveTo>
                    <a:pt x="0" y="0"/>
                  </a:moveTo>
                  <a:lnTo>
                    <a:pt x="1128126" y="0"/>
                  </a:lnTo>
                  <a:lnTo>
                    <a:pt x="1128126" y="214486"/>
                  </a:lnTo>
                  <a:lnTo>
                    <a:pt x="0" y="21448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0"/>
              <a:ext cx="1128126" cy="30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23478" y="15627080"/>
            <a:ext cx="8169714" cy="1400539"/>
            <a:chOff x="0" y="0"/>
            <a:chExt cx="1088738" cy="18664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8738" cy="186643"/>
            </a:xfrm>
            <a:custGeom>
              <a:avLst/>
              <a:gdLst/>
              <a:ahLst/>
              <a:cxnLst/>
              <a:rect l="l" t="t" r="r" b="b"/>
              <a:pathLst>
                <a:path w="1088738" h="186643">
                  <a:moveTo>
                    <a:pt x="0" y="0"/>
                  </a:moveTo>
                  <a:lnTo>
                    <a:pt x="1088738" y="0"/>
                  </a:lnTo>
                  <a:lnTo>
                    <a:pt x="1088738" y="186643"/>
                  </a:lnTo>
                  <a:lnTo>
                    <a:pt x="0" y="186643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95250"/>
              <a:ext cx="1088738" cy="2818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48035" y="26517409"/>
            <a:ext cx="10847494" cy="5779918"/>
            <a:chOff x="-21853" y="-47625"/>
            <a:chExt cx="1429300" cy="861818"/>
          </a:xfrm>
        </p:grpSpPr>
        <p:sp>
          <p:nvSpPr>
            <p:cNvPr id="36" name="Freeform 36"/>
            <p:cNvSpPr/>
            <p:nvPr/>
          </p:nvSpPr>
          <p:spPr>
            <a:xfrm>
              <a:off x="-21853" y="60190"/>
              <a:ext cx="1429300" cy="754003"/>
            </a:xfrm>
            <a:custGeom>
              <a:avLst/>
              <a:gdLst/>
              <a:ahLst/>
              <a:cxnLst/>
              <a:rect l="l" t="t" r="r" b="b"/>
              <a:pathLst>
                <a:path w="1364871" h="539256">
                  <a:moveTo>
                    <a:pt x="0" y="0"/>
                  </a:moveTo>
                  <a:lnTo>
                    <a:pt x="1364871" y="0"/>
                  </a:lnTo>
                  <a:lnTo>
                    <a:pt x="1364871" y="539256"/>
                  </a:lnTo>
                  <a:lnTo>
                    <a:pt x="0" y="53925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endParaRPr lang="pt-BR" dirty="0" smtClean="0"/>
            </a:p>
            <a:p>
              <a:endParaRPr lang="pt-BR" dirty="0" smtClean="0"/>
            </a:p>
            <a:p>
              <a:endParaRPr lang="pt-BR" dirty="0" smtClean="0"/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 smtClean="0">
                  <a:latin typeface="Oswald" panose="020B0604020202020204" charset="0"/>
                </a:rPr>
                <a:t>Desenvolver </a:t>
              </a:r>
              <a:r>
                <a:rPr lang="pt-BR" sz="2800" dirty="0">
                  <a:latin typeface="Oswald" panose="020B0604020202020204" charset="0"/>
                </a:rPr>
                <a:t>dois protótipos de robótica sustentável utilizando materiais reutilizáveis e tecnologia acessível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  <a:endParaRPr lang="pt-BR" sz="2800" dirty="0">
                <a:latin typeface="Oswal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latin typeface="Oswald" panose="020B0604020202020204" charset="0"/>
                </a:rPr>
                <a:t>Integrar conceitos de visão </a:t>
              </a:r>
              <a:r>
                <a:rPr lang="pt-BR" sz="2800" dirty="0" smtClean="0">
                  <a:latin typeface="Oswald" panose="020B0604020202020204" charset="0"/>
                </a:rPr>
                <a:t>computacional e automação em sistemas </a:t>
              </a:r>
              <a:r>
                <a:rPr lang="pt-BR" sz="2800" dirty="0">
                  <a:latin typeface="Oswald" panose="020B0604020202020204" charset="0"/>
                </a:rPr>
                <a:t>robóticos com fins educativos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  <a:endParaRPr lang="pt-BR" sz="2800" dirty="0">
                <a:latin typeface="Oswal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latin typeface="Oswald" panose="020B0604020202020204" charset="0"/>
                </a:rPr>
                <a:t>Avaliar a eficiência dos protótipos quanto à funcionalidade mecânica, precisão de movimentos e potencial didático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  <a:endParaRPr lang="pt-BR" sz="2800" dirty="0">
                <a:latin typeface="Oswald" panose="020B0604020202020204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pt-BR" sz="2800" dirty="0">
                  <a:latin typeface="Oswald" panose="020B0604020202020204" charset="0"/>
                </a:rPr>
                <a:t>Promover a conscientização sobre a importância da reciclagem e da preservação ambiental por meio de soluções tecnológicas criativas.</a:t>
              </a:r>
              <a:endParaRPr lang="pt-BR" sz="2800" dirty="0" smtClean="0">
                <a:latin typeface="Oswald" panose="020B0604020202020204" charset="0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47625"/>
              <a:ext cx="1364871" cy="5868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just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809432" y="26421512"/>
            <a:ext cx="8465276" cy="1639106"/>
            <a:chOff x="0" y="0"/>
            <a:chExt cx="1128126" cy="21843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8126" cy="218436"/>
            </a:xfrm>
            <a:custGeom>
              <a:avLst/>
              <a:gdLst/>
              <a:ahLst/>
              <a:cxnLst/>
              <a:rect l="l" t="t" r="r" b="b"/>
              <a:pathLst>
                <a:path w="1128126" h="218436">
                  <a:moveTo>
                    <a:pt x="0" y="0"/>
                  </a:moveTo>
                  <a:lnTo>
                    <a:pt x="1128126" y="0"/>
                  </a:lnTo>
                  <a:lnTo>
                    <a:pt x="1128126" y="218436"/>
                  </a:lnTo>
                  <a:lnTo>
                    <a:pt x="0" y="218436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0"/>
              <a:ext cx="1128126" cy="3136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723478" y="26206700"/>
            <a:ext cx="8230420" cy="1458131"/>
            <a:chOff x="0" y="0"/>
            <a:chExt cx="1096828" cy="19431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096828" cy="194318"/>
            </a:xfrm>
            <a:custGeom>
              <a:avLst/>
              <a:gdLst/>
              <a:ahLst/>
              <a:cxnLst/>
              <a:rect l="l" t="t" r="r" b="b"/>
              <a:pathLst>
                <a:path w="1096828" h="194318">
                  <a:moveTo>
                    <a:pt x="0" y="0"/>
                  </a:moveTo>
                  <a:lnTo>
                    <a:pt x="1096828" y="0"/>
                  </a:lnTo>
                  <a:lnTo>
                    <a:pt x="1096828" y="194318"/>
                  </a:lnTo>
                  <a:lnTo>
                    <a:pt x="0" y="19431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95250"/>
              <a:ext cx="1096828" cy="2895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920439" y="15966802"/>
            <a:ext cx="9859927" cy="8685217"/>
            <a:chOff x="-5929" y="-95250"/>
            <a:chExt cx="1304584" cy="1142297"/>
          </a:xfrm>
        </p:grpSpPr>
        <p:sp>
          <p:nvSpPr>
            <p:cNvPr id="45" name="Freeform 45"/>
            <p:cNvSpPr/>
            <p:nvPr/>
          </p:nvSpPr>
          <p:spPr>
            <a:xfrm>
              <a:off x="-5929" y="34361"/>
              <a:ext cx="1271319" cy="1012686"/>
            </a:xfrm>
            <a:custGeom>
              <a:avLst/>
              <a:gdLst/>
              <a:ahLst/>
              <a:cxnLst/>
              <a:rect l="l" t="t" r="r" b="b"/>
              <a:pathLst>
                <a:path w="1298655" h="974486">
                  <a:moveTo>
                    <a:pt x="0" y="0"/>
                  </a:moveTo>
                  <a:lnTo>
                    <a:pt x="1298655" y="0"/>
                  </a:lnTo>
                  <a:lnTo>
                    <a:pt x="1298655" y="974486"/>
                  </a:lnTo>
                  <a:lnTo>
                    <a:pt x="0" y="974486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2800" dirty="0" smtClean="0">
                <a:latin typeface="Oswald" panose="020B0604020202020204" charset="0"/>
              </a:endParaRPr>
            </a:p>
            <a:p>
              <a:pPr algn="just"/>
              <a:endParaRPr lang="pt-BR" sz="2800" dirty="0" smtClean="0">
                <a:latin typeface="Oswald" panose="020B0604020202020204" charset="0"/>
              </a:endParaRPr>
            </a:p>
            <a:p>
              <a:pPr algn="just"/>
              <a:endParaRPr lang="pt-BR" sz="2800" dirty="0" smtClean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Os testes realizados demonstraram que a mão robótica foi capaz de replicar gestos humanos simples com precisão satisfatória, validando a aplicação de visão computacional em estruturas recicláveis. O </a:t>
              </a:r>
              <a:r>
                <a:rPr lang="pt-BR" sz="2800" dirty="0" err="1">
                  <a:latin typeface="Oswald" panose="020B0604020202020204" charset="0"/>
                </a:rPr>
                <a:t>animatrônico</a:t>
              </a:r>
              <a:r>
                <a:rPr lang="pt-BR" sz="2800" dirty="0">
                  <a:latin typeface="Oswald" panose="020B0604020202020204" charset="0"/>
                </a:rPr>
                <a:t>, por sua vez, apresentou movimentos coordenados e responsivos, evidenciando a viabilidade da integração entre materiais reutilizados e componentes eletrônicos. Ambos os projetos destacaram-se não apenas pela funcionalidade, mas também pelo potencial pedagógico em disciplinas como programação, automação, robótica e educação ambiental. </a:t>
              </a:r>
              <a:endParaRPr lang="pt-BR" sz="2000" dirty="0">
                <a:latin typeface="Oswald" panose="020B0604020202020204" charset="0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0"/>
              <a:ext cx="1298655" cy="1069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711658" y="15952478"/>
            <a:ext cx="8512934" cy="1818968"/>
            <a:chOff x="0" y="0"/>
            <a:chExt cx="1134477" cy="24240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134477" cy="242405"/>
            </a:xfrm>
            <a:custGeom>
              <a:avLst/>
              <a:gdLst/>
              <a:ahLst/>
              <a:cxnLst/>
              <a:rect l="l" t="t" r="r" b="b"/>
              <a:pathLst>
                <a:path w="1134477" h="242405">
                  <a:moveTo>
                    <a:pt x="0" y="0"/>
                  </a:moveTo>
                  <a:lnTo>
                    <a:pt x="1134477" y="0"/>
                  </a:lnTo>
                  <a:lnTo>
                    <a:pt x="1134477" y="242405"/>
                  </a:lnTo>
                  <a:lnTo>
                    <a:pt x="0" y="24240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95250"/>
              <a:ext cx="1134477" cy="3376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549137" y="15813663"/>
            <a:ext cx="8392940" cy="1641055"/>
            <a:chOff x="0" y="0"/>
            <a:chExt cx="1118486" cy="21869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18486" cy="218695"/>
            </a:xfrm>
            <a:custGeom>
              <a:avLst/>
              <a:gdLst/>
              <a:ahLst/>
              <a:cxnLst/>
              <a:rect l="l" t="t" r="r" b="b"/>
              <a:pathLst>
                <a:path w="1118486" h="218695">
                  <a:moveTo>
                    <a:pt x="0" y="0"/>
                  </a:moveTo>
                  <a:lnTo>
                    <a:pt x="1118486" y="0"/>
                  </a:lnTo>
                  <a:lnTo>
                    <a:pt x="1118486" y="218695"/>
                  </a:lnTo>
                  <a:lnTo>
                    <a:pt x="0" y="218695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0"/>
              <a:ext cx="1118486" cy="3139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954929" y="24367353"/>
            <a:ext cx="9744902" cy="16545216"/>
            <a:chOff x="0" y="-95250"/>
            <a:chExt cx="1298655" cy="2204900"/>
          </a:xfrm>
        </p:grpSpPr>
        <p:sp>
          <p:nvSpPr>
            <p:cNvPr id="54" name="Freeform 54"/>
            <p:cNvSpPr/>
            <p:nvPr/>
          </p:nvSpPr>
          <p:spPr>
            <a:xfrm>
              <a:off x="0" y="62450"/>
              <a:ext cx="1298655" cy="2047200"/>
            </a:xfrm>
            <a:custGeom>
              <a:avLst/>
              <a:gdLst/>
              <a:ahLst/>
              <a:cxnLst/>
              <a:rect l="l" t="t" r="r" b="b"/>
              <a:pathLst>
                <a:path w="1298655" h="2010220">
                  <a:moveTo>
                    <a:pt x="0" y="0"/>
                  </a:moveTo>
                  <a:lnTo>
                    <a:pt x="1298655" y="0"/>
                  </a:lnTo>
                  <a:lnTo>
                    <a:pt x="1298655" y="2010220"/>
                  </a:lnTo>
                  <a:lnTo>
                    <a:pt x="0" y="2010220"/>
                  </a:lnTo>
                  <a:close/>
                </a:path>
              </a:pathLst>
            </a:custGeom>
            <a:solidFill>
              <a:srgbClr val="E9E6D7">
                <a:alpha val="54902"/>
              </a:srgbClr>
            </a:solidFill>
          </p:spPr>
          <p:txBody>
            <a:bodyPr/>
            <a:lstStyle/>
            <a:p>
              <a:pPr algn="just"/>
              <a:endParaRPr lang="pt-BR" sz="2800" dirty="0">
                <a:latin typeface="Oswald" panose="020B0604020202020204" charset="0"/>
              </a:endParaRPr>
            </a:p>
            <a:p>
              <a:pPr algn="just"/>
              <a:endParaRPr lang="pt-BR" sz="2800" dirty="0" smtClean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Os resultados obtidos com o desenvolvimento dos dois protótipos de robótica sustentável demonstram que é possível aliar inovação tecnológica, reutilização de materiais e acessibilidade em soluções práticas e educativas. A utilização de resíduos como papelão, arame, MDF e outros materiais recicláveis não comprometeu a funcionalidade dos sistemas, revelando-se uma estratégia eficiente tanto do ponto de vista técnico quanto ambiental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800" dirty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A mão robótica, controlada por visão computacional, apresentou desempenho satisfatório na reprodução de gestos simples em tempo real, evidenciando o potencial do uso de algoritmos de mapeamento aplicados a estruturas físicas de baixo custo. Já o </a:t>
              </a:r>
              <a:r>
                <a:rPr lang="pt-BR" sz="2800" dirty="0" err="1">
                  <a:latin typeface="Oswald" panose="020B0604020202020204" charset="0"/>
                </a:rPr>
                <a:t>animatrônico</a:t>
              </a:r>
              <a:r>
                <a:rPr lang="pt-BR" sz="2800" dirty="0">
                  <a:latin typeface="Oswald" panose="020B0604020202020204" charset="0"/>
                </a:rPr>
                <a:t> interativo, apesar de sua construção com resíduos reutilizados, demonstrou boa integração mecânica e eletrônica, reforçando a viabilidade da robótica sustentável em contextos educacionais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800" dirty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Além dos aspectos funcionais, ambos os protótipos destacaram-se como ferramentas didáticas eficazes, promovendo a interdisciplinaridade entre áreas como ciência, tecnologia, engenharia, artes e matemática (STEAM), ao mesmo tempo em que incentivam uma postura crítica e consciente sobre o reaproveitamento de materiais. A abordagem prática e criativa possibilita maior engajamento de estudantes, estimula o pensamento computacional e contribui para a formação cidadã com responsabilidade socioambiental</a:t>
              </a:r>
              <a:r>
                <a:rPr lang="pt-BR" sz="2800" dirty="0" smtClean="0">
                  <a:latin typeface="Oswald" panose="020B0604020202020204" charset="0"/>
                </a:rPr>
                <a:t>.</a:t>
              </a:r>
            </a:p>
            <a:p>
              <a:pPr algn="just"/>
              <a:endParaRPr lang="pt-BR" sz="2800" dirty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Como encaminhamento futuro, propõe-se o aprimoramento da precisão dos movimentos, especialmente no caso da mão robótica, bem como a adaptação dos dispositivos para outras finalidades, como próteses acessíveis ou instalações interativas em ambientes educativos e culturais. Conclui-se que a robótica sustentável é uma alternativa viável e promissora para integrar ensino, tecnologia e sustentabilidade, contribuindo para uma educação mais crítica, inclusiva e alinhada aos desafios contemporâneos.</a:t>
              </a:r>
            </a:p>
            <a:p>
              <a:pPr algn="just"/>
              <a:endParaRPr lang="pt-BR" sz="2800" dirty="0">
                <a:latin typeface="Oswald" panose="020B0604020202020204" charset="0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0"/>
              <a:ext cx="1298655" cy="2105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2711658" y="24329469"/>
            <a:ext cx="8751185" cy="1877231"/>
            <a:chOff x="0" y="0"/>
            <a:chExt cx="1166227" cy="25016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166227" cy="250169"/>
            </a:xfrm>
            <a:custGeom>
              <a:avLst/>
              <a:gdLst/>
              <a:ahLst/>
              <a:cxnLst/>
              <a:rect l="l" t="t" r="r" b="b"/>
              <a:pathLst>
                <a:path w="1166227" h="250169">
                  <a:moveTo>
                    <a:pt x="0" y="0"/>
                  </a:moveTo>
                  <a:lnTo>
                    <a:pt x="1166227" y="0"/>
                  </a:lnTo>
                  <a:lnTo>
                    <a:pt x="1166227" y="250169"/>
                  </a:lnTo>
                  <a:lnTo>
                    <a:pt x="0" y="250169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0"/>
              <a:ext cx="1166227" cy="3454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549137" y="24378664"/>
            <a:ext cx="8470069" cy="1544792"/>
            <a:chOff x="0" y="0"/>
            <a:chExt cx="1128765" cy="205867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128765" cy="205867"/>
            </a:xfrm>
            <a:custGeom>
              <a:avLst/>
              <a:gdLst/>
              <a:ahLst/>
              <a:cxnLst/>
              <a:rect l="l" t="t" r="r" b="b"/>
              <a:pathLst>
                <a:path w="1128765" h="205867">
                  <a:moveTo>
                    <a:pt x="0" y="0"/>
                  </a:moveTo>
                  <a:lnTo>
                    <a:pt x="1128765" y="0"/>
                  </a:lnTo>
                  <a:lnTo>
                    <a:pt x="1128765" y="205867"/>
                  </a:lnTo>
                  <a:lnTo>
                    <a:pt x="0" y="205867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76200"/>
              <a:ext cx="1128765" cy="2820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62" name="Freeform 62"/>
          <p:cNvSpPr/>
          <p:nvPr/>
        </p:nvSpPr>
        <p:spPr>
          <a:xfrm rot="-10800000">
            <a:off x="-243062" y="-3311098"/>
            <a:ext cx="23061399" cy="10582314"/>
          </a:xfrm>
          <a:custGeom>
            <a:avLst/>
            <a:gdLst/>
            <a:ahLst/>
            <a:cxnLst/>
            <a:rect l="l" t="t" r="r" b="b"/>
            <a:pathLst>
              <a:path w="23061399" h="10582314">
                <a:moveTo>
                  <a:pt x="0" y="0"/>
                </a:moveTo>
                <a:lnTo>
                  <a:pt x="23061399" y="0"/>
                </a:lnTo>
                <a:lnTo>
                  <a:pt x="23061399" y="10582313"/>
                </a:lnTo>
                <a:lnTo>
                  <a:pt x="0" y="1058231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 l="-1182" t="-4690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3" name="Freeform 63"/>
          <p:cNvSpPr/>
          <p:nvPr/>
        </p:nvSpPr>
        <p:spPr>
          <a:xfrm rot="-5400000" flipH="1" flipV="1">
            <a:off x="275445" y="-4585245"/>
            <a:ext cx="8928000" cy="9574263"/>
          </a:xfrm>
          <a:custGeom>
            <a:avLst/>
            <a:gdLst/>
            <a:ahLst/>
            <a:cxnLst/>
            <a:rect l="l" t="t" r="r" b="b"/>
            <a:pathLst>
              <a:path w="8928000" h="9574263">
                <a:moveTo>
                  <a:pt x="8928000" y="9574262"/>
                </a:moveTo>
                <a:lnTo>
                  <a:pt x="0" y="9574262"/>
                </a:lnTo>
                <a:lnTo>
                  <a:pt x="0" y="0"/>
                </a:lnTo>
                <a:lnTo>
                  <a:pt x="8928000" y="0"/>
                </a:lnTo>
                <a:lnTo>
                  <a:pt x="8928000" y="9574262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dirty="0"/>
          </a:p>
        </p:txBody>
      </p:sp>
      <p:sp>
        <p:nvSpPr>
          <p:cNvPr id="64" name="Freeform 64"/>
          <p:cNvSpPr/>
          <p:nvPr/>
        </p:nvSpPr>
        <p:spPr>
          <a:xfrm rot="-5400000">
            <a:off x="15557454" y="568531"/>
            <a:ext cx="3962218" cy="9549602"/>
          </a:xfrm>
          <a:custGeom>
            <a:avLst/>
            <a:gdLst/>
            <a:ahLst/>
            <a:cxnLst/>
            <a:rect l="l" t="t" r="r" b="b"/>
            <a:pathLst>
              <a:path w="3727401" h="9472195">
                <a:moveTo>
                  <a:pt x="0" y="0"/>
                </a:moveTo>
                <a:lnTo>
                  <a:pt x="3727402" y="0"/>
                </a:lnTo>
                <a:lnTo>
                  <a:pt x="3727402" y="9472195"/>
                </a:lnTo>
                <a:lnTo>
                  <a:pt x="0" y="94721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 l="-139523" b="-1077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5" name="Freeform 65"/>
          <p:cNvSpPr/>
          <p:nvPr/>
        </p:nvSpPr>
        <p:spPr>
          <a:xfrm>
            <a:off x="2953356" y="1368289"/>
            <a:ext cx="12966012" cy="3149199"/>
          </a:xfrm>
          <a:custGeom>
            <a:avLst/>
            <a:gdLst/>
            <a:ahLst/>
            <a:cxnLst/>
            <a:rect l="l" t="t" r="r" b="b"/>
            <a:pathLst>
              <a:path w="12966012" h="3149199">
                <a:moveTo>
                  <a:pt x="0" y="0"/>
                </a:moveTo>
                <a:lnTo>
                  <a:pt x="12966011" y="0"/>
                </a:lnTo>
                <a:lnTo>
                  <a:pt x="12966011" y="3149198"/>
                </a:lnTo>
                <a:lnTo>
                  <a:pt x="0" y="314919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6" name="Freeform 66"/>
          <p:cNvSpPr/>
          <p:nvPr/>
        </p:nvSpPr>
        <p:spPr>
          <a:xfrm>
            <a:off x="7895561" y="4568179"/>
            <a:ext cx="8279807" cy="2202884"/>
          </a:xfrm>
          <a:custGeom>
            <a:avLst/>
            <a:gdLst/>
            <a:ahLst/>
            <a:cxnLst/>
            <a:rect l="l" t="t" r="r" b="b"/>
            <a:pathLst>
              <a:path w="8279807" h="2202884">
                <a:moveTo>
                  <a:pt x="0" y="0"/>
                </a:moveTo>
                <a:lnTo>
                  <a:pt x="8279807" y="0"/>
                </a:lnTo>
                <a:lnTo>
                  <a:pt x="8279807" y="2202884"/>
                </a:lnTo>
                <a:lnTo>
                  <a:pt x="0" y="220288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7" name="TextBox 67"/>
          <p:cNvSpPr txBox="1"/>
          <p:nvPr/>
        </p:nvSpPr>
        <p:spPr>
          <a:xfrm>
            <a:off x="152022" y="12067476"/>
            <a:ext cx="22227823" cy="37702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pt-BR" sz="399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Daniel Kennedy Domingos da </a:t>
            </a:r>
            <a:r>
              <a:rPr lang="pt-BR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Silva</a:t>
            </a:r>
            <a:r>
              <a:rPr lang="en-US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¹</a:t>
            </a:r>
            <a:r>
              <a:rPr lang="en-US" sz="3999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Alberto Ferreira da </a:t>
            </a:r>
            <a:r>
              <a:rPr lang="en-US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Silva² e Jefferson </a:t>
            </a:r>
            <a:r>
              <a:rPr lang="en-US" sz="3999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Bezerra</a:t>
            </a:r>
            <a:r>
              <a:rPr lang="en-US" sz="3999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dos Santos</a:t>
            </a:r>
            <a:r>
              <a:rPr lang="en-US" sz="3999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endParaRPr lang="en-US" sz="3999" baseline="30000" dirty="0" smtClean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5599"/>
              </a:lnSpc>
            </a:pP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¹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 EREFEM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danielkennedi121@gmail.com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</a:p>
          <a:p>
            <a:pPr algn="ctr">
              <a:lnSpc>
                <a:spcPts val="5599"/>
              </a:lnSpc>
            </a:pPr>
            <a:r>
              <a:rPr lang="en-US" sz="3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2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Discente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da EREFEM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bettoosilva000@gmail.com, </a:t>
            </a:r>
            <a:r>
              <a:rPr lang="en-US" sz="3000" dirty="0" err="1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Pernambuco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                                      </a:t>
            </a:r>
            <a:r>
              <a:rPr lang="en-US" sz="3000" baseline="30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3</a:t>
            </a:r>
            <a:r>
              <a:rPr lang="en-US" sz="3000" baseline="30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Professor 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da EREFEM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Monsehor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José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Kerhle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jefferson.bsantos42@professor.educacao.pe.gov.br, </a:t>
            </a:r>
            <a:r>
              <a:rPr lang="en-US" sz="3000" dirty="0" err="1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Arcoverde</a:t>
            </a:r>
            <a:r>
              <a:rPr lang="en-US" sz="3000" dirty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, </a:t>
            </a:r>
            <a:r>
              <a:rPr lang="en-US" sz="3000" dirty="0" smtClean="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Pernambuco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 dirty="0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68" name="TextBox 68"/>
          <p:cNvSpPr txBox="1"/>
          <p:nvPr/>
        </p:nvSpPr>
        <p:spPr>
          <a:xfrm>
            <a:off x="594587" y="7872990"/>
            <a:ext cx="21185779" cy="2562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51"/>
              </a:lnSpc>
            </a:pPr>
            <a:r>
              <a:rPr lang="en-US" sz="1804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FEIRA DE CIÊNCIAS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9644" y="9871977"/>
            <a:ext cx="22182483" cy="22570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pt-BR" sz="5000" dirty="0">
                <a:latin typeface="Oswald" panose="020B0604020202020204" charset="0"/>
              </a:rPr>
              <a:t>ROBÓTICA SUSTENTÁVEL: INTEGRAÇÃO DE MÃO ROBÓTICA COM VISÃO COMPUTACIONAL E ANIMATRÔNICO COM MATERIAIS RECICLÁVEIS</a:t>
            </a:r>
            <a:r>
              <a:rPr lang="en-US" sz="3600" dirty="0" smtClean="0">
                <a:solidFill>
                  <a:srgbClr val="684769"/>
                </a:solidFill>
                <a:latin typeface="Oswald" panose="020B0604020202020204" charset="0"/>
                <a:ea typeface="Oswald"/>
                <a:cs typeface="Oswald"/>
                <a:sym typeface="Oswald"/>
              </a:rPr>
              <a:t> </a:t>
            </a:r>
            <a:endParaRPr lang="en-US" sz="3600" dirty="0">
              <a:solidFill>
                <a:srgbClr val="684769"/>
              </a:solidFill>
              <a:latin typeface="Oswald" panose="020B0604020202020204" charset="0"/>
              <a:ea typeface="Oswald"/>
              <a:cs typeface="Oswald"/>
              <a:sym typeface="Oswald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2001457" y="15788120"/>
            <a:ext cx="7586565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INTRODUÇÃO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-335485" y="26282900"/>
            <a:ext cx="12163499" cy="115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81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OBJETIVOS</a:t>
            </a:r>
          </a:p>
        </p:txBody>
      </p:sp>
      <p:grpSp>
        <p:nvGrpSpPr>
          <p:cNvPr id="72" name="Group 72"/>
          <p:cNvGrpSpPr/>
          <p:nvPr/>
        </p:nvGrpSpPr>
        <p:grpSpPr>
          <a:xfrm>
            <a:off x="1347694" y="31975503"/>
            <a:ext cx="9306903" cy="2497205"/>
            <a:chOff x="0" y="0"/>
            <a:chExt cx="1269336" cy="34058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269336" cy="340585"/>
            </a:xfrm>
            <a:custGeom>
              <a:avLst/>
              <a:gdLst/>
              <a:ahLst/>
              <a:cxnLst/>
              <a:rect l="l" t="t" r="r" b="b"/>
              <a:pathLst>
                <a:path w="1269336" h="340585">
                  <a:moveTo>
                    <a:pt x="0" y="0"/>
                  </a:moveTo>
                  <a:lnTo>
                    <a:pt x="1269336" y="0"/>
                  </a:lnTo>
                  <a:lnTo>
                    <a:pt x="1269336" y="340585"/>
                  </a:lnTo>
                  <a:lnTo>
                    <a:pt x="0" y="340585"/>
                  </a:lnTo>
                  <a:close/>
                </a:path>
              </a:pathLst>
            </a:custGeom>
            <a:solidFill>
              <a:srgbClr val="099594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0"/>
              <a:ext cx="1269336" cy="435835"/>
            </a:xfrm>
            <a:prstGeom prst="rect">
              <a:avLst/>
            </a:prstGeom>
          </p:spPr>
          <p:txBody>
            <a:bodyPr lIns="49637" tIns="49637" rIns="49637" bIns="49637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137422" y="31922016"/>
            <a:ext cx="9200884" cy="2102908"/>
            <a:chOff x="0" y="0"/>
            <a:chExt cx="1254876" cy="28680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254876" cy="286808"/>
            </a:xfrm>
            <a:custGeom>
              <a:avLst/>
              <a:gdLst/>
              <a:ahLst/>
              <a:cxnLst/>
              <a:rect l="l" t="t" r="r" b="b"/>
              <a:pathLst>
                <a:path w="1254876" h="286808">
                  <a:moveTo>
                    <a:pt x="0" y="0"/>
                  </a:moveTo>
                  <a:lnTo>
                    <a:pt x="1254876" y="0"/>
                  </a:lnTo>
                  <a:lnTo>
                    <a:pt x="1254876" y="286808"/>
                  </a:lnTo>
                  <a:lnTo>
                    <a:pt x="0" y="286808"/>
                  </a:lnTo>
                  <a:close/>
                </a:path>
              </a:pathLst>
            </a:custGeom>
            <a:solidFill>
              <a:srgbClr val="68476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0" y="-95250"/>
              <a:ext cx="1254876" cy="382058"/>
            </a:xfrm>
            <a:prstGeom prst="rect">
              <a:avLst/>
            </a:prstGeom>
          </p:spPr>
          <p:txBody>
            <a:bodyPr lIns="49637" tIns="49637" rIns="49637" bIns="49637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sp>
        <p:nvSpPr>
          <p:cNvPr id="78" name="TextBox 78"/>
          <p:cNvSpPr txBox="1"/>
          <p:nvPr/>
        </p:nvSpPr>
        <p:spPr>
          <a:xfrm>
            <a:off x="-841227" y="32331630"/>
            <a:ext cx="13359830" cy="111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98"/>
              </a:lnSpc>
            </a:pPr>
            <a:r>
              <a:rPr lang="en-US" sz="7816" b="1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MATERIAL E MÉTODOS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1920437" y="16030226"/>
            <a:ext cx="9596991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RESULTADOS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3774497" y="24594009"/>
            <a:ext cx="6313503" cy="1139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00"/>
              </a:lnSpc>
            </a:pPr>
            <a:r>
              <a:rPr lang="en-US" sz="8000" b="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CONCLUSÃO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12200485" y="26035250"/>
            <a:ext cx="8818721" cy="424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845635" y="17624879"/>
            <a:ext cx="9919361" cy="49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  <a:spcBef>
                <a:spcPct val="0"/>
              </a:spcBef>
            </a:pPr>
            <a:endParaRPr lang="en-US" sz="2999" dirty="0">
              <a:solidFill>
                <a:srgbClr val="0000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726141" y="27728874"/>
            <a:ext cx="10210022" cy="86177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endParaRPr lang="pt-BR" sz="2800" dirty="0">
              <a:latin typeface="Oswald" panose="020B0604020202020204" charset="0"/>
            </a:endParaRPr>
          </a:p>
          <a:p>
            <a:endParaRPr lang="pt-BR" sz="2800" dirty="0">
              <a:latin typeface="Oswald" panose="020B0604020202020204" charset="0"/>
            </a:endParaRPr>
          </a:p>
        </p:txBody>
      </p:sp>
      <p:grpSp>
        <p:nvGrpSpPr>
          <p:cNvPr id="84" name="Group 84"/>
          <p:cNvGrpSpPr/>
          <p:nvPr/>
        </p:nvGrpSpPr>
        <p:grpSpPr>
          <a:xfrm>
            <a:off x="424536" y="34214443"/>
            <a:ext cx="10970992" cy="7144364"/>
            <a:chOff x="-40113" y="-147236"/>
            <a:chExt cx="1462050" cy="1180773"/>
          </a:xfrm>
        </p:grpSpPr>
        <p:sp>
          <p:nvSpPr>
            <p:cNvPr id="85" name="Freeform 85"/>
            <p:cNvSpPr/>
            <p:nvPr/>
          </p:nvSpPr>
          <p:spPr>
            <a:xfrm>
              <a:off x="-40113" y="-147236"/>
              <a:ext cx="1462050" cy="1180773"/>
            </a:xfrm>
            <a:custGeom>
              <a:avLst/>
              <a:gdLst/>
              <a:ahLst/>
              <a:cxnLst/>
              <a:rect l="l" t="t" r="r" b="b"/>
              <a:pathLst>
                <a:path w="1328790" h="1025882">
                  <a:moveTo>
                    <a:pt x="0" y="0"/>
                  </a:moveTo>
                  <a:lnTo>
                    <a:pt x="1328790" y="0"/>
                  </a:lnTo>
                  <a:lnTo>
                    <a:pt x="1328790" y="1025882"/>
                  </a:lnTo>
                  <a:lnTo>
                    <a:pt x="0" y="1025882"/>
                  </a:lnTo>
                  <a:close/>
                </a:path>
              </a:pathLst>
            </a:custGeom>
            <a:solidFill>
              <a:srgbClr val="E3D9D1">
                <a:alpha val="63922"/>
              </a:srgbClr>
            </a:solidFill>
          </p:spPr>
          <p:txBody>
            <a:bodyPr/>
            <a:lstStyle/>
            <a:p>
              <a:pPr algn="just"/>
              <a:endParaRPr lang="pt-BR" sz="2800" dirty="0">
                <a:latin typeface="Oswald" panose="020B0604020202020204" charset="0"/>
              </a:endParaRPr>
            </a:p>
            <a:p>
              <a:pPr algn="just"/>
              <a:r>
                <a:rPr lang="pt-BR" sz="2800" dirty="0">
                  <a:latin typeface="Oswald" panose="020B0604020202020204" charset="0"/>
                </a:rPr>
                <a:t>A metodologia adotada baseou-se na construção de dois sistemas robóticos com enfoque sustentável. O primeiro, uma mão robótica, foi confeccionado com materiais recicláveis e equipado com um sistema de visão computacional para replicar movimentos humanos em tempo real, a partir de algoritmos de mapeamento de pontos de referência. O segundo, um </a:t>
              </a:r>
              <a:r>
                <a:rPr lang="pt-BR" sz="2800" dirty="0" err="1" smtClean="0">
                  <a:latin typeface="Oswald" panose="020B0604020202020204" charset="0"/>
                </a:rPr>
                <a:t>animatrônico</a:t>
              </a:r>
              <a:r>
                <a:rPr lang="pt-BR" sz="2800" dirty="0" smtClean="0">
                  <a:latin typeface="Oswald" panose="020B0604020202020204" charset="0"/>
                </a:rPr>
                <a:t>, </a:t>
              </a:r>
              <a:r>
                <a:rPr lang="pt-BR" sz="2800" dirty="0">
                  <a:latin typeface="Oswald" panose="020B0604020202020204" charset="0"/>
                </a:rPr>
                <a:t>foi desenvolvido a partir de resíduos como papelão, arame, palitos e MDF, sendo controlado por </a:t>
              </a:r>
              <a:r>
                <a:rPr lang="pt-BR" sz="2800" dirty="0" err="1">
                  <a:latin typeface="Oswald" panose="020B0604020202020204" charset="0"/>
                </a:rPr>
                <a:t>microcontrolador</a:t>
              </a:r>
              <a:r>
                <a:rPr lang="pt-BR" sz="2800" dirty="0">
                  <a:latin typeface="Oswald" panose="020B0604020202020204" charset="0"/>
                </a:rPr>
                <a:t> </a:t>
              </a:r>
              <a:r>
                <a:rPr lang="pt-BR" sz="2800" dirty="0" err="1">
                  <a:latin typeface="Oswald" panose="020B0604020202020204" charset="0"/>
                </a:rPr>
                <a:t>Arduino</a:t>
              </a:r>
              <a:r>
                <a:rPr lang="pt-BR" sz="2800" dirty="0">
                  <a:latin typeface="Oswald" panose="020B0604020202020204" charset="0"/>
                </a:rPr>
                <a:t> e </a:t>
              </a:r>
              <a:r>
                <a:rPr lang="pt-BR" sz="2800" dirty="0" err="1">
                  <a:latin typeface="Oswald" panose="020B0604020202020204" charset="0"/>
                </a:rPr>
                <a:t>servomotores</a:t>
              </a:r>
              <a:r>
                <a:rPr lang="pt-BR" sz="2800" dirty="0">
                  <a:latin typeface="Oswald" panose="020B0604020202020204" charset="0"/>
                </a:rPr>
                <a:t>. 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0" y="-95250"/>
              <a:ext cx="1328790" cy="1121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771"/>
                </a:lnSpc>
              </a:pPr>
              <a:endParaRPr/>
            </a:p>
          </p:txBody>
        </p:sp>
      </p:grpSp>
      <p:pic>
        <p:nvPicPr>
          <p:cNvPr id="25" name="Imagem 24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661138" y="38315123"/>
            <a:ext cx="2027963" cy="2198838"/>
          </a:xfrm>
          <a:prstGeom prst="rect">
            <a:avLst/>
          </a:prstGeom>
        </p:spPr>
      </p:pic>
      <p:sp>
        <p:nvSpPr>
          <p:cNvPr id="88" name="CaixaDeTexto 87"/>
          <p:cNvSpPr txBox="1"/>
          <p:nvPr/>
        </p:nvSpPr>
        <p:spPr>
          <a:xfrm>
            <a:off x="594587" y="37832923"/>
            <a:ext cx="4218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latin typeface="Oswald" panose="020B0604020202020204" charset="0"/>
              </a:rPr>
              <a:t>Figura 1: </a:t>
            </a:r>
            <a:r>
              <a:rPr lang="pt-BR" sz="2000" dirty="0" smtClean="0">
                <a:latin typeface="Oswald" panose="020B0604020202020204" charset="0"/>
              </a:rPr>
              <a:t>Imagem do circuito da  mão.</a:t>
            </a:r>
            <a:endParaRPr lang="pt-BR" sz="2000" dirty="0">
              <a:latin typeface="Oswald" panose="020B0604020202020204" charset="0"/>
            </a:endParaRPr>
          </a:p>
        </p:txBody>
      </p:sp>
      <p:pic>
        <p:nvPicPr>
          <p:cNvPr id="89" name="Imagem 88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081" y="38267336"/>
            <a:ext cx="2227744" cy="2217787"/>
          </a:xfrm>
          <a:prstGeom prst="rect">
            <a:avLst/>
          </a:prstGeom>
        </p:spPr>
      </p:pic>
      <p:sp>
        <p:nvSpPr>
          <p:cNvPr id="90" name="CaixaDeTexto 89"/>
          <p:cNvSpPr txBox="1"/>
          <p:nvPr/>
        </p:nvSpPr>
        <p:spPr>
          <a:xfrm flipH="1">
            <a:off x="5838688" y="37900051"/>
            <a:ext cx="4203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Oswald" panose="020B0604020202020204" charset="0"/>
              </a:rPr>
              <a:t>Figura </a:t>
            </a:r>
            <a:r>
              <a:rPr lang="pt-BR" b="1" dirty="0" smtClean="0">
                <a:latin typeface="Oswald" panose="020B0604020202020204" charset="0"/>
              </a:rPr>
              <a:t>2: </a:t>
            </a:r>
            <a:r>
              <a:rPr lang="pt-BR" dirty="0">
                <a:latin typeface="Oswald" panose="020B0604020202020204" charset="0"/>
              </a:rPr>
              <a:t>Imagem do circuito </a:t>
            </a:r>
            <a:r>
              <a:rPr lang="pt-BR" dirty="0" smtClean="0">
                <a:latin typeface="Oswald" panose="020B0604020202020204" charset="0"/>
              </a:rPr>
              <a:t>do </a:t>
            </a:r>
            <a:r>
              <a:rPr lang="pt-BR" dirty="0" err="1" smtClean="0">
                <a:latin typeface="Oswald" panose="020B0604020202020204" charset="0"/>
              </a:rPr>
              <a:t>animatrônico</a:t>
            </a:r>
            <a:r>
              <a:rPr lang="pt-BR" dirty="0" smtClean="0">
                <a:latin typeface="Oswald" panose="020B0604020202020204" charset="0"/>
              </a:rPr>
              <a:t>.</a:t>
            </a:r>
            <a:endParaRPr lang="pt-BR" dirty="0"/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0727" y="38343961"/>
            <a:ext cx="2404834" cy="2141162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9515" y="38346082"/>
            <a:ext cx="2077689" cy="2139041"/>
          </a:xfrm>
          <a:prstGeom prst="rect">
            <a:avLst/>
          </a:prstGeom>
        </p:spPr>
      </p:pic>
      <p:sp>
        <p:nvSpPr>
          <p:cNvPr id="87" name="CaixaDeTexto 86"/>
          <p:cNvSpPr txBox="1"/>
          <p:nvPr/>
        </p:nvSpPr>
        <p:spPr>
          <a:xfrm>
            <a:off x="697278" y="40699955"/>
            <a:ext cx="353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Oswald" panose="020B0604020202020204" charset="0"/>
              </a:rPr>
              <a:t>Fonte</a:t>
            </a:r>
            <a:r>
              <a:rPr lang="pt-BR" dirty="0" smtClean="0">
                <a:latin typeface="Oswald" panose="020B0604020202020204" charset="0"/>
              </a:rPr>
              <a:t>: Autor </a:t>
            </a:r>
            <a:endParaRPr lang="pt-BR" dirty="0">
              <a:latin typeface="Oswald" panose="020B0604020202020204" charset="0"/>
            </a:endParaRPr>
          </a:p>
        </p:txBody>
      </p:sp>
      <p:sp>
        <p:nvSpPr>
          <p:cNvPr id="91" name="CaixaDeTexto 90"/>
          <p:cNvSpPr txBox="1"/>
          <p:nvPr/>
        </p:nvSpPr>
        <p:spPr>
          <a:xfrm>
            <a:off x="5693010" y="40668318"/>
            <a:ext cx="3537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Oswald" panose="020B0604020202020204" charset="0"/>
              </a:rPr>
              <a:t>Fonte</a:t>
            </a:r>
            <a:r>
              <a:rPr lang="pt-BR" dirty="0" smtClean="0">
                <a:latin typeface="Oswald" panose="020B0604020202020204" charset="0"/>
              </a:rPr>
              <a:t>: Autor </a:t>
            </a:r>
            <a:endParaRPr lang="pt-BR" dirty="0">
              <a:latin typeface="Oswald" panose="020B06040202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746</Words>
  <Application>Microsoft Office PowerPoint</Application>
  <PresentationFormat>Personalizar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Oswald Bold</vt:lpstr>
      <vt:lpstr>Calibri</vt:lpstr>
      <vt:lpstr>Arial</vt:lpstr>
      <vt:lpstr>Oswald</vt:lpstr>
      <vt:lpstr>Office Theme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Cópia de Banner Jovem_FEIRA DE CIÊNCIAS</dc:title>
  <dc:creator>Jeffrey24</dc:creator>
  <cp:lastModifiedBy>Jeffrey24</cp:lastModifiedBy>
  <cp:revision>44</cp:revision>
  <dcterms:created xsi:type="dcterms:W3CDTF">2006-08-16T00:00:00Z</dcterms:created>
  <dcterms:modified xsi:type="dcterms:W3CDTF">2025-07-03T13:24:15Z</dcterms:modified>
  <dc:identifier>DAGrraieB0A</dc:identifier>
</cp:coreProperties>
</file>