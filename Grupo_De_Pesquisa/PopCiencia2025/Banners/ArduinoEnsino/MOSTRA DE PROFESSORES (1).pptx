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2700"/>
  <p:notesSz cx="6858000" cy="9144000"/>
  <p:embeddedFontLst>
    <p:embeddedFont>
      <p:font typeface="Oswald" panose="020B0604020202020204" charset="0"/>
      <p:regular r:id="rId4"/>
      <p:bold r:id="rId5"/>
    </p:embeddedFont>
    <p:embeddedFont>
      <p:font typeface="Open Sans" panose="020B0604020202020204" charset="0"/>
      <p:bold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XDbHz5khJS8DUOAnV71rrZt2+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132" y="-53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avLst/>
            <a:gdLst/>
            <a:ahLst/>
            <a:cxnLst/>
            <a:rect l="l" t="t" r="r" b="b"/>
            <a:pathLst>
              <a:path w="3712995" h="8472538" extrusionOk="0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avLst/>
              <a:gdLst/>
              <a:ahLst/>
              <a:cxnLst/>
              <a:rect l="l" t="t" r="r" b="b"/>
              <a:pathLst>
                <a:path w="2758009" h="334757" extrusionOk="0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avLst/>
              <a:gdLst/>
              <a:ahLst/>
              <a:cxnLst/>
              <a:rect l="l" t="t" r="r" b="b"/>
              <a:pathLst>
                <a:path w="1355228" h="456505" extrusionOk="0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avLst/>
              <a:gdLst/>
              <a:ahLst/>
              <a:cxnLst/>
              <a:rect l="l" t="t" r="r" b="b"/>
              <a:pathLst>
                <a:path w="2601381" h="289057" extrusionOk="0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avLst/>
            <a:gdLst/>
            <a:ahLst/>
            <a:cxnLst/>
            <a:rect l="l" t="t" r="r" b="b"/>
            <a:pathLst>
              <a:path w="4323198" h="9864937" extrusionOk="0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321806"/>
            <a:ext cx="14613820" cy="7484925"/>
            <a:chOff x="0" y="-85725"/>
            <a:chExt cx="1577875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avLst/>
              <a:gdLst/>
              <a:ahLst/>
              <a:cxnLst/>
              <a:rect l="l" t="t" r="r" b="b"/>
              <a:pathLst>
                <a:path w="1568667" h="722433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9208" y="-85725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endParaRPr lang="pt-BR" sz="2600" b="1" dirty="0" smtClean="0"/>
            </a:p>
            <a:p>
              <a:endParaRPr lang="pt-BR" sz="2600" b="1" dirty="0"/>
            </a:p>
            <a:p>
              <a:endParaRPr lang="pt-BR" sz="2600" b="1" dirty="0" smtClean="0"/>
            </a:p>
            <a:p>
              <a:endParaRPr lang="pt-BR" sz="2600" b="1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Demonstrar 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o potencial do uso da plataforma </a:t>
              </a:r>
              <a:r>
                <a:rPr lang="pt-BR" sz="2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Arduino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como ferramenta interdisciplinar no ensino de ciências, tecnologia e sustentabilidade, por meio do desenvolvimento de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protótipos educacionais de baixo custo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que integrem conceitos de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robótica, automação, eletrônica, programação e análise de dados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, promovendo a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aprendizagem ativa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e a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consciência socioambiental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em contextos educacionais</a:t>
              </a: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Objetivos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Específicos</a:t>
              </a:r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Integrar 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os conhecimentos de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ciência, tecnologia, engenharia, artes e matemática (STEAM)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em práticas educacionais acessíveis </a:t>
              </a: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 colaborativas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Estimular a </a:t>
              </a:r>
              <a:r>
                <a:rPr lang="pt-BR" sz="2600" b="1" dirty="0">
                  <a:latin typeface="Arial" panose="020B0604020202020204" pitchFamily="34" charset="0"/>
                  <a:cs typeface="Arial" panose="020B0604020202020204" pitchFamily="34" charset="0"/>
                </a:rPr>
                <a:t>criatividade e o pensamento crítico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dos estudantes por meio da prototipagem e experimentação </a:t>
              </a: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prática da programação.</a:t>
              </a:r>
              <a:endParaRPr lang="pt-BR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642710"/>
            <a:ext cx="14628843" cy="14358927"/>
            <a:chOff x="0" y="-85725"/>
            <a:chExt cx="1579497" cy="155035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avLst/>
              <a:gdLst/>
              <a:ahLst/>
              <a:cxnLst/>
              <a:rect l="l" t="t" r="r" b="b"/>
              <a:pathLst>
                <a:path w="1579497" h="1464629" extrusionOk="0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85725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BR" sz="2800" dirty="0"/>
                <a:t>O </a:t>
              </a:r>
              <a:r>
                <a:rPr lang="pt-BR" sz="2800" dirty="0" smtClean="0"/>
                <a:t>processo metodológico </a:t>
              </a:r>
              <a:r>
                <a:rPr lang="pt-BR" sz="2800" dirty="0"/>
                <a:t>foi estruturado em três eixos formativos principais:</a:t>
              </a:r>
            </a:p>
            <a:p>
              <a:pPr algn="just">
                <a:lnSpc>
                  <a:spcPct val="150000"/>
                </a:lnSpc>
              </a:pPr>
              <a:r>
                <a:rPr lang="pt-BR" sz="2800" b="1" dirty="0"/>
                <a:t>Raciocínio Lógico e Pensamento Computacional:</a:t>
              </a:r>
              <a:r>
                <a:rPr lang="pt-BR" sz="2800" dirty="0"/>
                <a:t> os estudantes foram introduzidos aos fundamentos da programação estruturada em C/C++ e à lógica de controle aplicada à robótica, desenvolvendo habilidades de resolução de problemas e depuração de código.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800" b="1" dirty="0"/>
                <a:t>Integração de Sistemas e Eletrônica Aplicada:</a:t>
              </a:r>
              <a:r>
                <a:rPr lang="pt-BR" sz="2800" dirty="0"/>
                <a:t> foram trabalhados conceitos de sensores, atuadores e circuitos elétricos, promovendo o entendimento de como diferentes componentes interagem para compor sistemas automatizados e responsivos.</a:t>
              </a:r>
            </a:p>
            <a:p>
              <a:pPr algn="just">
                <a:lnSpc>
                  <a:spcPct val="150000"/>
                </a:lnSpc>
              </a:pPr>
              <a:r>
                <a:rPr lang="pt-BR" sz="2800" b="1" dirty="0"/>
                <a:t>Sustentabilidade, Criatividade e Design Experimental:</a:t>
              </a:r>
              <a:r>
                <a:rPr lang="pt-BR" sz="2800" dirty="0"/>
                <a:t> estimulou-se o uso de materiais recicláveis e reaproveitados na construção dos protótipos, incentivando a consciência ecológica e o pensamento criativo no planejamento e execução dos projetos.</a:t>
              </a:r>
            </a:p>
            <a:p>
              <a:pPr>
                <a:lnSpc>
                  <a:spcPct val="150000"/>
                </a:lnSpc>
              </a:pPr>
              <a:endParaRPr lang="pt-BR" sz="2600" dirty="0" smtClean="0"/>
            </a:p>
            <a:p>
              <a:pPr>
                <a:lnSpc>
                  <a:spcPct val="150000"/>
                </a:lnSpc>
              </a:pPr>
              <a:endParaRPr lang="pt-BR" sz="2600" dirty="0" smtClean="0"/>
            </a:p>
            <a:p>
              <a:pPr>
                <a:lnSpc>
                  <a:spcPct val="150000"/>
                </a:lnSpc>
              </a:pPr>
              <a:endParaRPr lang="pt-BR" sz="2600" dirty="0"/>
            </a:p>
            <a:p>
              <a:pPr>
                <a:lnSpc>
                  <a:spcPct val="150000"/>
                </a:lnSpc>
              </a:pPr>
              <a:endParaRPr lang="pt-BR" sz="2600" dirty="0" smtClean="0"/>
            </a:p>
            <a:p>
              <a:pPr>
                <a:lnSpc>
                  <a:spcPct val="150000"/>
                </a:lnSpc>
              </a:pPr>
              <a:endParaRPr lang="pt-BR" sz="2600" dirty="0"/>
            </a:p>
            <a:p>
              <a:pPr>
                <a:lnSpc>
                  <a:spcPct val="150000"/>
                </a:lnSpc>
              </a:pPr>
              <a:endParaRPr lang="pt-BR" sz="2600" dirty="0" smtClean="0"/>
            </a:p>
            <a:p>
              <a:pPr>
                <a:lnSpc>
                  <a:spcPct val="150000"/>
                </a:lnSpc>
              </a:pPr>
              <a:endParaRPr lang="pt-BR" sz="2600" dirty="0"/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avLst/>
              <a:gdLst/>
              <a:ahLst/>
              <a:cxnLst/>
              <a:rect l="l" t="t" r="r" b="b"/>
              <a:pathLst>
                <a:path w="1423661" h="1578113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 dirty="0" err="1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iiii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avLst/>
              <a:gdLst/>
              <a:ahLst/>
              <a:cxnLst/>
              <a:rect l="l" t="t" r="r" b="b"/>
              <a:pathLst>
                <a:path w="1423661" h="1080487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105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37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TÍTULO DO TRABALHO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dirty="0" smtClean="0">
                <a:latin typeface="Oswald"/>
                <a:ea typeface="Oswald"/>
                <a:cs typeface="Oswald"/>
                <a:sym typeface="Oswald"/>
              </a:rPr>
              <a:t>Jefferson </a:t>
            </a:r>
            <a:r>
              <a:rPr lang="en-US" sz="3000" dirty="0" err="1" smtClean="0"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3000" dirty="0" smtClean="0"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¹Professor(a) do(a) </a:t>
            </a: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Colégio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ou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Escola XXXXXX, E-mail XXXX, </a:t>
            </a: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Cidade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, Estado;(</a:t>
            </a: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Descrição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tamanho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: 30) 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PROFESSORES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 dirty="0"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6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avLst/>
            <a:gdLst/>
            <a:ahLst/>
            <a:cxnLst/>
            <a:rect l="l" t="t" r="r" b="b"/>
            <a:pathLst>
              <a:path w="4520413" h="1767000" extrusionOk="0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avLst/>
            <a:gdLst/>
            <a:ahLst/>
            <a:cxnLst/>
            <a:rect l="l" t="t" r="r" b="b"/>
            <a:pathLst>
              <a:path w="3114865" h="3639784" extrusionOk="0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avLst/>
            <a:gdLst/>
            <a:ahLst/>
            <a:cxnLst/>
            <a:rect l="l" t="t" r="r" b="b"/>
            <a:pathLst>
              <a:path w="3335656" h="1050227" extrusionOk="0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2203" t="-235062" r="-25552" b="-390574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avLst/>
            <a:gdLst/>
            <a:ahLst/>
            <a:cxnLst/>
            <a:rect l="l" t="t" r="r" b="b"/>
            <a:pathLst>
              <a:path w="4690637" h="2662466" extrusionOk="0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3" b="1" i="0" u="none" strike="noStrike" cap="non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avLst/>
            <a:gdLst/>
            <a:ahLst/>
            <a:cxnLst/>
            <a:rect l="l" t="t" r="r" b="b"/>
            <a:pathLst>
              <a:path w="6857899" h="1864512" extrusionOk="0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avLst/>
            <a:gdLst/>
            <a:ahLst/>
            <a:cxnLst/>
            <a:rect l="l" t="t" r="r" b="b"/>
            <a:pathLst>
              <a:path w="5718033" h="1744000" extrusionOk="0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avLst/>
              <a:gdLst/>
              <a:ahLst/>
              <a:cxnLst/>
              <a:rect l="l" t="t" r="r" b="b"/>
              <a:pathLst>
                <a:path w="4125115" h="1069555" extrusionOk="0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l="-29637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avLst/>
              <a:gdLst/>
              <a:ahLst/>
              <a:cxnLst/>
              <a:rect l="l" t="t" r="r" b="b"/>
              <a:pathLst>
                <a:path w="2214777" h="1012847" extrusionOk="0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49979" t="-400918" r="-191107" b="-7664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avLst/>
              <a:gdLst/>
              <a:ahLst/>
              <a:cxnLst/>
              <a:rect l="l" t="t" r="r" b="b"/>
              <a:pathLst>
                <a:path w="4411842" h="1142573" extrusionOk="0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68144" b="-89110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avLst/>
            <a:gdLst/>
            <a:ahLst/>
            <a:cxnLst/>
            <a:rect l="l" t="t" r="r" b="b"/>
            <a:pathLst>
              <a:path w="615775" h="1005347" extrusionOk="0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avLst/>
            <a:gdLst/>
            <a:ahLst/>
            <a:cxnLst/>
            <a:rect l="l" t="t" r="r" b="b"/>
            <a:pathLst>
              <a:path w="2355724" h="2717490" extrusionOk="0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avLst/>
            <a:gdLst/>
            <a:ahLst/>
            <a:cxnLst/>
            <a:rect l="l" t="t" r="r" b="b"/>
            <a:pathLst>
              <a:path w="3911138" h="1094154" extrusionOk="0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avLst/>
            <a:gdLst/>
            <a:ahLst/>
            <a:cxnLst/>
            <a:rect l="l" t="t" r="r" b="b"/>
            <a:pathLst>
              <a:path w="3641518" h="1760067" extrusionOk="0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" descr="image5.png"/>
          <p:cNvSpPr/>
          <p:nvPr/>
        </p:nvSpPr>
        <p:spPr>
          <a:xfrm rot="10800000">
            <a:off x="58930" y="77864"/>
            <a:ext cx="5846544" cy="5871159"/>
          </a:xfrm>
          <a:custGeom>
            <a:avLst/>
            <a:gdLst/>
            <a:ahLst/>
            <a:cxnLst/>
            <a:rect l="l" t="t" r="r" b="b"/>
            <a:pathLst>
              <a:path w="9923907" h="9965690" extrusionOk="0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r="-100324" b="-99485"/>
            </a:stretch>
          </a:blipFill>
          <a:ln>
            <a:noFill/>
          </a:ln>
        </p:spPr>
      </p:sp>
      <p:sp>
        <p:nvSpPr>
          <p:cNvPr id="169" name="Google Shape;169;p1" descr="image4.png"/>
          <p:cNvSpPr/>
          <p:nvPr/>
        </p:nvSpPr>
        <p:spPr>
          <a:xfrm rot="10800000">
            <a:off x="-155980" y="89995"/>
            <a:ext cx="1950682" cy="1945682"/>
          </a:xfrm>
          <a:custGeom>
            <a:avLst/>
            <a:gdLst/>
            <a:ahLst/>
            <a:cxnLst/>
            <a:rect l="l" t="t" r="r" b="b"/>
            <a:pathLst>
              <a:path w="3220720" h="3212465" extrusionOk="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r="-97902" b="-98416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avLst/>
              <a:gdLst/>
              <a:ahLst/>
              <a:cxnLst/>
              <a:rect l="l" t="t" r="r" b="b"/>
              <a:pathLst>
                <a:path w="1568667" h="827471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Este trabalho apresenta a aplicação do </a:t>
              </a:r>
              <a:r>
                <a:rPr lang="pt-BR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Arduino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como ferramenta educacional e tecnológica em três projetos distintos, evidenciando sua versatilidade para integrar tecnologia, sustentabilidade e práticas de ensino. O estudo parte da necessidade de promover metodologias ativas que conciliem baixo custo, inovação, interdisciplinaridade e sustentabilidade, permitindo a criação de soluções acessíveis e funcionais em contextos educacionais. Nesse sentido, a plataforma </a:t>
              </a:r>
              <a:r>
                <a:rPr lang="pt-BR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Arduino</a:t>
              </a:r>
              <a:r>
                <a:rPr lang="pt-BR" sz="2600" dirty="0">
                  <a:latin typeface="Arial" panose="020B0604020202020204" pitchFamily="34" charset="0"/>
                  <a:cs typeface="Arial" panose="020B0604020202020204" pitchFamily="34" charset="0"/>
                </a:rPr>
                <a:t> se destaca como um recurso aberto e acessível que estimula a criatividade, a aprendizagem prática e a consciência socioambiental</a:t>
              </a:r>
              <a:r>
                <a:rPr lang="pt-BR" sz="2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Oswald" panose="020B060402020202020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" name="Imagem 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814" y="35597805"/>
            <a:ext cx="5281093" cy="6184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355</Words>
  <Application>Microsoft Office PowerPoint</Application>
  <PresentationFormat>Personalizar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Jeffrey24</cp:lastModifiedBy>
  <cp:revision>4</cp:revision>
  <dcterms:created xsi:type="dcterms:W3CDTF">2006-08-16T00:00:00Z</dcterms:created>
  <dcterms:modified xsi:type="dcterms:W3CDTF">2025-10-21T21:00:30Z</dcterms:modified>
</cp:coreProperties>
</file>