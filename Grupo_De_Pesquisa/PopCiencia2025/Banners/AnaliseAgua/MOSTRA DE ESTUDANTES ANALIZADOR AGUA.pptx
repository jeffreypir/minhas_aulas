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7700" cy="43192700"/>
  <p:notesSz cx="6858000" cy="9144000"/>
  <p:embeddedFontLst>
    <p:embeddedFont>
      <p:font typeface="Oswald" panose="020B0604020202020204" charset="0"/>
      <p:regular r:id="rId4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Open Sans" panose="020B0604020202020204" charset="0"/>
      <p:bold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tRg73fWWK6U87ut5c4ycNaHvO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83" autoAdjust="0"/>
  </p:normalViewPr>
  <p:slideViewPr>
    <p:cSldViewPr snapToGrid="0">
      <p:cViewPr>
        <p:scale>
          <a:sx n="40" d="100"/>
          <a:sy n="40" d="100"/>
        </p:scale>
        <p:origin x="60" y="5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19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jpg"/><Relationship Id="rId2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A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3957982" y="-2944918"/>
            <a:ext cx="3712995" cy="8472538"/>
          </a:xfrm>
          <a:custGeom>
            <a:avLst/>
            <a:gdLst/>
            <a:ahLst/>
            <a:cxnLst/>
            <a:rect l="l" t="t" r="r" b="b"/>
            <a:pathLst>
              <a:path w="3712995" h="8472538" extrusionOk="0">
                <a:moveTo>
                  <a:pt x="0" y="0"/>
                </a:moveTo>
                <a:lnTo>
                  <a:pt x="3712995" y="0"/>
                </a:lnTo>
                <a:lnTo>
                  <a:pt x="3712995" y="8472539"/>
                </a:lnTo>
                <a:lnTo>
                  <a:pt x="0" y="84725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969762" y="2562023"/>
            <a:ext cx="27050161" cy="4124025"/>
            <a:chOff x="0" y="-85725"/>
            <a:chExt cx="2758009" cy="420482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2758009" cy="334757"/>
            </a:xfrm>
            <a:custGeom>
              <a:avLst/>
              <a:gdLst/>
              <a:ahLst/>
              <a:cxnLst/>
              <a:rect l="l" t="t" r="r" b="b"/>
              <a:pathLst>
                <a:path w="2758009" h="334757" extrusionOk="0">
                  <a:moveTo>
                    <a:pt x="0" y="0"/>
                  </a:moveTo>
                  <a:lnTo>
                    <a:pt x="2758009" y="0"/>
                  </a:lnTo>
                  <a:lnTo>
                    <a:pt x="2758009" y="334757"/>
                  </a:lnTo>
                  <a:lnTo>
                    <a:pt x="0" y="334757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85725"/>
              <a:ext cx="2758009" cy="420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920583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2093663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2" y="0"/>
                </a:lnTo>
                <a:lnTo>
                  <a:pt x="2403972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4365077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676905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965825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16200000" y="36036475"/>
            <a:ext cx="15995641" cy="6399900"/>
            <a:chOff x="0" y="-85725"/>
            <a:chExt cx="1355228" cy="54223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355228" cy="456505"/>
            </a:xfrm>
            <a:custGeom>
              <a:avLst/>
              <a:gdLst/>
              <a:ahLst/>
              <a:cxnLst/>
              <a:rect l="l" t="t" r="r" b="b"/>
              <a:pathLst>
                <a:path w="1355228" h="456505" extrusionOk="0">
                  <a:moveTo>
                    <a:pt x="0" y="0"/>
                  </a:moveTo>
                  <a:lnTo>
                    <a:pt x="1355228" y="0"/>
                  </a:lnTo>
                  <a:lnTo>
                    <a:pt x="135522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85725"/>
              <a:ext cx="1355228" cy="542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4243405" y="-273004"/>
            <a:ext cx="25513973" cy="3675805"/>
            <a:chOff x="0" y="-85725"/>
            <a:chExt cx="2601381" cy="374782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2601381" cy="289057"/>
            </a:xfrm>
            <a:custGeom>
              <a:avLst/>
              <a:gdLst/>
              <a:ahLst/>
              <a:cxnLst/>
              <a:rect l="l" t="t" r="r" b="b"/>
              <a:pathLst>
                <a:path w="2601381" h="289057" extrusionOk="0">
                  <a:moveTo>
                    <a:pt x="0" y="0"/>
                  </a:moveTo>
                  <a:lnTo>
                    <a:pt x="2601381" y="0"/>
                  </a:lnTo>
                  <a:lnTo>
                    <a:pt x="2601381" y="289057"/>
                  </a:lnTo>
                  <a:lnTo>
                    <a:pt x="0" y="289057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85725"/>
              <a:ext cx="2601381" cy="374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950" tIns="90950" rIns="90950" bIns="9095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"/>
          <p:cNvSpPr/>
          <p:nvPr/>
        </p:nvSpPr>
        <p:spPr>
          <a:xfrm>
            <a:off x="2546083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4817497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7221470" y="40796027"/>
            <a:ext cx="2403973" cy="2403973"/>
          </a:xfrm>
          <a:custGeom>
            <a:avLst/>
            <a:gdLst/>
            <a:ahLst/>
            <a:cxnLst/>
            <a:rect l="l" t="t" r="r" b="b"/>
            <a:pathLst>
              <a:path w="2403973" h="2403973" extrusionOk="0">
                <a:moveTo>
                  <a:pt x="0" y="0"/>
                </a:moveTo>
                <a:lnTo>
                  <a:pt x="2403973" y="0"/>
                </a:lnTo>
                <a:lnTo>
                  <a:pt x="2403973" y="2403973"/>
                </a:lnTo>
                <a:lnTo>
                  <a:pt x="0" y="2403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28122826" y="-1838108"/>
            <a:ext cx="4323198" cy="9864937"/>
          </a:xfrm>
          <a:custGeom>
            <a:avLst/>
            <a:gdLst/>
            <a:ahLst/>
            <a:cxnLst/>
            <a:rect l="l" t="t" r="r" b="b"/>
            <a:pathLst>
              <a:path w="4323198" h="9864937" extrusionOk="0">
                <a:moveTo>
                  <a:pt x="0" y="0"/>
                </a:moveTo>
                <a:lnTo>
                  <a:pt x="4323198" y="0"/>
                </a:lnTo>
                <a:lnTo>
                  <a:pt x="4323198" y="9864937"/>
                </a:lnTo>
                <a:lnTo>
                  <a:pt x="0" y="986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3" name="Google Shape;103;p1"/>
          <p:cNvGrpSpPr/>
          <p:nvPr/>
        </p:nvGrpSpPr>
        <p:grpSpPr>
          <a:xfrm>
            <a:off x="1246323" y="8237246"/>
            <a:ext cx="14247208" cy="2593677"/>
            <a:chOff x="0" y="-85725"/>
            <a:chExt cx="1538292" cy="280043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05" name="Google Shape;105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64994" y="8065912"/>
            <a:ext cx="14247208" cy="2593677"/>
            <a:chOff x="0" y="-85725"/>
            <a:chExt cx="1538292" cy="280043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964994" y="19321806"/>
            <a:ext cx="14528538" cy="7951697"/>
            <a:chOff x="0" y="-85725"/>
            <a:chExt cx="1568667" cy="808158"/>
          </a:xfrm>
        </p:grpSpPr>
        <p:sp>
          <p:nvSpPr>
            <p:cNvPr id="110" name="Google Shape;110;p1"/>
            <p:cNvSpPr/>
            <p:nvPr/>
          </p:nvSpPr>
          <p:spPr>
            <a:xfrm>
              <a:off x="0" y="0"/>
              <a:ext cx="1568667" cy="722433"/>
            </a:xfrm>
            <a:custGeom>
              <a:avLst/>
              <a:gdLst/>
              <a:ahLst/>
              <a:cxnLst/>
              <a:rect l="l" t="t" r="r" b="b"/>
              <a:pathLst>
                <a:path w="1568667" h="722433" extrusionOk="0">
                  <a:moveTo>
                    <a:pt x="0" y="0"/>
                  </a:moveTo>
                  <a:lnTo>
                    <a:pt x="1568667" y="0"/>
                  </a:lnTo>
                  <a:lnTo>
                    <a:pt x="1568667" y="722433"/>
                  </a:lnTo>
                  <a:lnTo>
                    <a:pt x="0" y="72243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11" name="Google Shape;111;p1"/>
            <p:cNvSpPr txBox="1"/>
            <p:nvPr/>
          </p:nvSpPr>
          <p:spPr>
            <a:xfrm>
              <a:off x="0" y="-85725"/>
              <a:ext cx="1568667" cy="7887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endParaRPr lang="pt-BR" sz="2600" dirty="0" smtClean="0"/>
            </a:p>
            <a:p>
              <a:endParaRPr lang="pt-BR" sz="2600" dirty="0"/>
            </a:p>
            <a:p>
              <a:endParaRPr lang="pt-BR" sz="2600" dirty="0" smtClean="0"/>
            </a:p>
            <a:p>
              <a:endParaRPr lang="pt-BR" sz="2600" dirty="0"/>
            </a:p>
            <a:p>
              <a:pPr algn="just">
                <a:lnSpc>
                  <a:spcPct val="150000"/>
                </a:lnSpc>
              </a:pPr>
              <a:r>
                <a:rPr lang="pt-BR" sz="2600" dirty="0" smtClean="0"/>
                <a:t>Desenvolver </a:t>
              </a:r>
              <a:r>
                <a:rPr lang="pt-BR" sz="2600" dirty="0"/>
                <a:t>um sistema integrado de monitoramento e tratamento de poluentes aquáticos, utilizando sensores e </a:t>
              </a:r>
              <a:r>
                <a:rPr lang="pt-BR" sz="2600" dirty="0" err="1"/>
                <a:t>nanopartículas</a:t>
              </a:r>
              <a:r>
                <a:rPr lang="pt-BR" sz="2600" dirty="0"/>
                <a:t> magnéticas sintetizadas a partir de resíduos metálicos, controlado por plataforma </a:t>
              </a:r>
              <a:r>
                <a:rPr lang="pt-BR" sz="2600" dirty="0" err="1"/>
                <a:t>Arduino</a:t>
              </a:r>
              <a:r>
                <a:rPr lang="pt-BR" sz="2600" dirty="0" smtClean="0"/>
                <a:t>.</a:t>
              </a:r>
            </a:p>
            <a:p>
              <a:r>
                <a:rPr lang="pt-BR" sz="2600" b="1" dirty="0" smtClean="0"/>
                <a:t>Objetivos Específicos</a:t>
              </a:r>
              <a:endParaRPr lang="pt-BR" sz="2600" dirty="0"/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Utilizar o </a:t>
              </a:r>
              <a:r>
                <a:rPr lang="pt-BR" sz="2600" dirty="0" err="1"/>
                <a:t>Arduino</a:t>
              </a:r>
              <a:r>
                <a:rPr lang="pt-BR" sz="2600" dirty="0"/>
                <a:t> como unidade de controle e processamento dos dados, integrando sensores óptico (TCRT5000), TDS e ultrassônico (HC-SR04) para o </a:t>
              </a:r>
              <a:r>
                <a:rPr lang="pt-BR" sz="2600" dirty="0" smtClean="0"/>
                <a:t>monitoramento contínuo da </a:t>
              </a:r>
              <a:r>
                <a:rPr lang="pt-BR" sz="2600" dirty="0"/>
                <a:t>qualidade da água.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 smtClean="0"/>
                <a:t>Avaliar </a:t>
              </a:r>
              <a:r>
                <a:rPr lang="pt-BR" sz="2600" dirty="0"/>
                <a:t>a resposta e sensibilidade dos sensores em diferentes condições de contaminação, correlacionando dados de turbidez e condutividade elétrica.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2600" dirty="0"/>
                <a:t>Verificar a eficácia do sistema na redução da turbidez e na melhoria da qualidade da amostra após o processo de tratamento.</a:t>
              </a:r>
            </a:p>
            <a:p>
              <a:pPr algn="just">
                <a:lnSpc>
                  <a:spcPct val="150000"/>
                </a:lnSpc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"/>
          <p:cNvGrpSpPr/>
          <p:nvPr/>
        </p:nvGrpSpPr>
        <p:grpSpPr>
          <a:xfrm>
            <a:off x="1246323" y="18180792"/>
            <a:ext cx="14247208" cy="2593677"/>
            <a:chOff x="0" y="-85725"/>
            <a:chExt cx="1538292" cy="280043"/>
          </a:xfrm>
        </p:grpSpPr>
        <p:sp>
          <p:nvSpPr>
            <p:cNvPr id="113" name="Google Shape;113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14" name="Google Shape;114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964994" y="18009458"/>
            <a:ext cx="14247208" cy="2593677"/>
            <a:chOff x="0" y="-85725"/>
            <a:chExt cx="1538292" cy="280043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538292" cy="194318"/>
            </a:xfrm>
            <a:custGeom>
              <a:avLst/>
              <a:gdLst/>
              <a:ahLst/>
              <a:cxnLst/>
              <a:rect l="l" t="t" r="r" b="b"/>
              <a:pathLst>
                <a:path w="1538292" h="194318" extrusionOk="0">
                  <a:moveTo>
                    <a:pt x="0" y="0"/>
                  </a:moveTo>
                  <a:lnTo>
                    <a:pt x="1538292" y="0"/>
                  </a:lnTo>
                  <a:lnTo>
                    <a:pt x="1538292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17" name="Google Shape;117;p1"/>
            <p:cNvSpPr txBox="1"/>
            <p:nvPr/>
          </p:nvSpPr>
          <p:spPr>
            <a:xfrm>
              <a:off x="0" y="-85725"/>
              <a:ext cx="1538292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964994" y="27642710"/>
            <a:ext cx="14628843" cy="14358927"/>
            <a:chOff x="0" y="-85725"/>
            <a:chExt cx="1579497" cy="155035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1579497" cy="1464629"/>
            </a:xfrm>
            <a:custGeom>
              <a:avLst/>
              <a:gdLst/>
              <a:ahLst/>
              <a:cxnLst/>
              <a:rect l="l" t="t" r="r" b="b"/>
              <a:pathLst>
                <a:path w="1579497" h="1464629" extrusionOk="0">
                  <a:moveTo>
                    <a:pt x="0" y="0"/>
                  </a:moveTo>
                  <a:lnTo>
                    <a:pt x="1579497" y="0"/>
                  </a:lnTo>
                  <a:lnTo>
                    <a:pt x="1579497" y="1464629"/>
                  </a:lnTo>
                  <a:lnTo>
                    <a:pt x="0" y="1464629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0" name="Google Shape;120;p1"/>
            <p:cNvSpPr txBox="1"/>
            <p:nvPr/>
          </p:nvSpPr>
          <p:spPr>
            <a:xfrm>
              <a:off x="0" y="-85725"/>
              <a:ext cx="1579496" cy="15503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r>
                <a:rPr lang="pt-BR" sz="2600" dirty="0" smtClean="0"/>
                <a:t>A </a:t>
              </a:r>
              <a:r>
                <a:rPr lang="pt-BR" sz="2600" dirty="0"/>
                <a:t>metodologia adotada foi dividida em três etapas principais: </a:t>
              </a:r>
              <a:r>
                <a:rPr lang="pt-BR" sz="2600" b="1" dirty="0"/>
                <a:t>(i) síntese e funcionalização das </a:t>
              </a:r>
              <a:r>
                <a:rPr lang="pt-BR" sz="2600" b="1" dirty="0" err="1"/>
                <a:t>nanopartículas</a:t>
              </a:r>
              <a:r>
                <a:rPr lang="pt-BR" sz="2600" b="1" dirty="0"/>
                <a:t> magnéticas (NM-LAS)</a:t>
              </a:r>
              <a:r>
                <a:rPr lang="pt-BR" sz="2600" dirty="0"/>
                <a:t>, </a:t>
              </a:r>
              <a:r>
                <a:rPr lang="pt-BR" sz="2600" b="1" dirty="0"/>
                <a:t>(</a:t>
              </a:r>
              <a:r>
                <a:rPr lang="pt-BR" sz="2600" b="1" dirty="0" err="1"/>
                <a:t>ii</a:t>
              </a:r>
              <a:r>
                <a:rPr lang="pt-BR" sz="2600" b="1" dirty="0"/>
                <a:t>) desenvolvimento do módulo eletrônico de sensoriamento e controle</a:t>
              </a:r>
              <a:r>
                <a:rPr lang="pt-BR" sz="2600" dirty="0"/>
                <a:t>, e </a:t>
              </a:r>
              <a:r>
                <a:rPr lang="pt-BR" sz="2600" b="1" dirty="0"/>
                <a:t>(</a:t>
              </a:r>
              <a:r>
                <a:rPr lang="pt-BR" sz="2600" b="1" dirty="0" err="1"/>
                <a:t>iii</a:t>
              </a:r>
              <a:r>
                <a:rPr lang="pt-BR" sz="2600" b="1" dirty="0"/>
                <a:t>) integração experimental para testes em amostras aquosas contaminadas</a:t>
              </a:r>
              <a:r>
                <a:rPr lang="pt-BR" sz="2600" dirty="0" smtClean="0"/>
                <a:t>. As </a:t>
              </a:r>
              <a:r>
                <a:rPr lang="pt-BR" sz="2600" smtClean="0"/>
                <a:t>etapas foram desenvolvidas </a:t>
              </a:r>
              <a:r>
                <a:rPr lang="pt-BR" sz="2600" dirty="0" smtClean="0"/>
                <a:t>em parceria com  o grupo de pesquisa em </a:t>
              </a:r>
              <a:r>
                <a:rPr lang="pt-BR" sz="2600" dirty="0"/>
                <a:t>q</a:t>
              </a:r>
              <a:r>
                <a:rPr lang="pt-BR" sz="2600" dirty="0" smtClean="0"/>
                <a:t>uímica. O fluxograma e os esquemas a seguir  ilustram o processo de funcionamento do protótipo. </a:t>
              </a:r>
            </a:p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>
            <a:off x="1248265" y="26459793"/>
            <a:ext cx="14345563" cy="2593677"/>
            <a:chOff x="0" y="-85725"/>
            <a:chExt cx="1548911" cy="280043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1548911" cy="194318"/>
            </a:xfrm>
            <a:custGeom>
              <a:avLst/>
              <a:gdLst/>
              <a:ahLst/>
              <a:cxnLst/>
              <a:rect l="l" t="t" r="r" b="b"/>
              <a:pathLst>
                <a:path w="1548911" h="194318" extrusionOk="0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23" name="Google Shape;123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"/>
          <p:cNvGrpSpPr/>
          <p:nvPr/>
        </p:nvGrpSpPr>
        <p:grpSpPr>
          <a:xfrm>
            <a:off x="964994" y="26288458"/>
            <a:ext cx="14345563" cy="2593677"/>
            <a:chOff x="0" y="-85725"/>
            <a:chExt cx="1548911" cy="280043"/>
          </a:xfrm>
        </p:grpSpPr>
        <p:sp>
          <p:nvSpPr>
            <p:cNvPr id="125" name="Google Shape;125;p1"/>
            <p:cNvSpPr/>
            <p:nvPr/>
          </p:nvSpPr>
          <p:spPr>
            <a:xfrm>
              <a:off x="0" y="0"/>
              <a:ext cx="1548911" cy="194318"/>
            </a:xfrm>
            <a:custGeom>
              <a:avLst/>
              <a:gdLst/>
              <a:ahLst/>
              <a:cxnLst/>
              <a:rect l="l" t="t" r="r" b="b"/>
              <a:pathLst>
                <a:path w="1548911" h="194318" extrusionOk="0">
                  <a:moveTo>
                    <a:pt x="0" y="0"/>
                  </a:moveTo>
                  <a:lnTo>
                    <a:pt x="1548911" y="0"/>
                  </a:lnTo>
                  <a:lnTo>
                    <a:pt x="1548911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26" name="Google Shape;126;p1"/>
            <p:cNvSpPr txBox="1"/>
            <p:nvPr/>
          </p:nvSpPr>
          <p:spPr>
            <a:xfrm>
              <a:off x="0" y="-85725"/>
              <a:ext cx="1548911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"/>
          <p:cNvGrpSpPr/>
          <p:nvPr/>
        </p:nvGrpSpPr>
        <p:grpSpPr>
          <a:xfrm>
            <a:off x="17724745" y="9222418"/>
            <a:ext cx="13185533" cy="15409979"/>
            <a:chOff x="0" y="-85725"/>
            <a:chExt cx="1423661" cy="1663838"/>
          </a:xfrm>
        </p:grpSpPr>
        <p:sp>
          <p:nvSpPr>
            <p:cNvPr id="128" name="Google Shape;128;p1"/>
            <p:cNvSpPr/>
            <p:nvPr/>
          </p:nvSpPr>
          <p:spPr>
            <a:xfrm>
              <a:off x="0" y="0"/>
              <a:ext cx="1423661" cy="1578113"/>
            </a:xfrm>
            <a:custGeom>
              <a:avLst/>
              <a:gdLst/>
              <a:ahLst/>
              <a:cxnLst/>
              <a:rect l="l" t="t" r="r" b="b"/>
              <a:pathLst>
                <a:path w="1423661" h="1578113" extrusionOk="0">
                  <a:moveTo>
                    <a:pt x="0" y="0"/>
                  </a:moveTo>
                  <a:lnTo>
                    <a:pt x="1423661" y="0"/>
                  </a:lnTo>
                  <a:lnTo>
                    <a:pt x="1423661" y="1578113"/>
                  </a:lnTo>
                  <a:lnTo>
                    <a:pt x="0" y="1578113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29" name="Google Shape;129;p1"/>
            <p:cNvSpPr txBox="1"/>
            <p:nvPr/>
          </p:nvSpPr>
          <p:spPr>
            <a:xfrm>
              <a:off x="0" y="-85725"/>
              <a:ext cx="1423661" cy="16638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r>
                <a:rPr lang="pt-BR" sz="2600" dirty="0" smtClean="0"/>
                <a:t>Os </a:t>
              </a:r>
              <a:r>
                <a:rPr lang="pt-BR" sz="2600" dirty="0"/>
                <a:t>resultados obtidos demonstraram a eficiência do sistema na detecção de variações físico-químicas em soluções simuladas de poluentes aquáticos. O </a:t>
              </a:r>
              <a:r>
                <a:rPr lang="pt-BR" sz="2600" b="1" dirty="0"/>
                <a:t>sensor TDS</a:t>
              </a:r>
              <a:r>
                <a:rPr lang="pt-BR" sz="2600" dirty="0"/>
                <a:t> apresentou boa sensibilidade à adição de sais, com aumento de 70 </a:t>
              </a:r>
              <a:r>
                <a:rPr lang="pt-BR" sz="2600" dirty="0" err="1"/>
                <a:t>ppm</a:t>
              </a:r>
              <a:r>
                <a:rPr lang="pt-BR" sz="2600" dirty="0"/>
                <a:t> para 2395 </a:t>
              </a:r>
              <a:r>
                <a:rPr lang="pt-BR" sz="2600" dirty="0" err="1"/>
                <a:t>ppm</a:t>
              </a:r>
              <a:r>
                <a:rPr lang="pt-BR" sz="2600" dirty="0"/>
                <a:t> após a adição de 2g de sal, confirmando sua precisão na medição da condutividade. Já o </a:t>
              </a:r>
              <a:r>
                <a:rPr lang="pt-BR" sz="2600" b="1" dirty="0"/>
                <a:t>sensor óptico TCRT5000</a:t>
              </a:r>
              <a:r>
                <a:rPr lang="pt-BR" sz="2600" dirty="0"/>
                <a:t> evidenciou alterações na turbidez e intensidade da cor das amostras, especialmente na presença das NM-LAS, que atuaram </a:t>
              </a:r>
              <a:r>
                <a:rPr lang="pt-BR" sz="2600"/>
                <a:t>na </a:t>
              </a:r>
              <a:r>
                <a:rPr lang="pt-BR" sz="2600" b="1" smtClean="0"/>
                <a:t>absorção </a:t>
              </a:r>
              <a:r>
                <a:rPr lang="pt-BR" sz="2600" b="1" dirty="0"/>
                <a:t>e remoção parcial dos contaminantes</a:t>
              </a:r>
              <a:r>
                <a:rPr lang="pt-BR" sz="2600" dirty="0" smtClean="0"/>
                <a:t>.</a:t>
              </a:r>
            </a:p>
            <a:p>
              <a:pPr lvl="0" algn="just">
                <a:lnSpc>
                  <a:spcPct val="150000"/>
                </a:lnSpc>
              </a:pPr>
              <a:r>
                <a:rPr lang="pt-BR" sz="2800" dirty="0"/>
                <a:t>Do ponto de vista educacional, o projeto também se destacou como ferramenta interdisciplinar, integrando conhecimentos de </a:t>
              </a:r>
              <a:r>
                <a:rPr lang="pt-BR" sz="2800" b="1" dirty="0"/>
                <a:t>química experimental, eletrônica, programação e sustentabilidade</a:t>
              </a:r>
              <a:r>
                <a:rPr lang="pt-BR" sz="2800" dirty="0"/>
                <a:t>. Essa combinação reforça o potencial de projetos </a:t>
              </a:r>
              <a:r>
                <a:rPr lang="pt-BR" sz="2800" dirty="0" err="1"/>
                <a:t>maker</a:t>
              </a:r>
              <a:r>
                <a:rPr lang="pt-BR" sz="2800" dirty="0"/>
                <a:t> e STEM no ensino </a:t>
              </a:r>
              <a:r>
                <a:rPr lang="pt-BR" sz="2800" dirty="0" smtClean="0"/>
                <a:t>médio.</a:t>
              </a:r>
            </a:p>
            <a:p>
              <a:pPr lvl="0" algn="just">
                <a:lnSpc>
                  <a:spcPct val="150000"/>
                </a:lnSpc>
              </a:pPr>
              <a:endParaRPr lang="pt-BR" sz="2800" dirty="0" smtClean="0"/>
            </a:p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endParaRPr lang="pt-BR" sz="2600" dirty="0"/>
            </a:p>
            <a:p>
              <a:pPr lvl="0" algn="just">
                <a:lnSpc>
                  <a:spcPct val="150000"/>
                </a:lnSpc>
              </a:pPr>
              <a:endParaRPr lang="pt-BR" sz="2600" dirty="0" smtClean="0"/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lang="pt-BR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lvl="0" algn="just">
                <a:lnSpc>
                  <a:spcPct val="150000"/>
                </a:lnSpc>
              </a:pP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"/>
          <p:cNvGrpSpPr/>
          <p:nvPr/>
        </p:nvGrpSpPr>
        <p:grpSpPr>
          <a:xfrm>
            <a:off x="17980069" y="8269724"/>
            <a:ext cx="12930209" cy="2593677"/>
            <a:chOff x="0" y="-85725"/>
            <a:chExt cx="1396093" cy="280043"/>
          </a:xfrm>
        </p:grpSpPr>
        <p:sp>
          <p:nvSpPr>
            <p:cNvPr id="131" name="Google Shape;131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32" name="Google Shape;132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"/>
          <p:cNvGrpSpPr/>
          <p:nvPr/>
        </p:nvGrpSpPr>
        <p:grpSpPr>
          <a:xfrm>
            <a:off x="17724745" y="8055860"/>
            <a:ext cx="12930209" cy="2593677"/>
            <a:chOff x="0" y="-85725"/>
            <a:chExt cx="1396093" cy="280043"/>
          </a:xfrm>
        </p:grpSpPr>
        <p:sp>
          <p:nvSpPr>
            <p:cNvPr id="134" name="Google Shape;134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35" name="Google Shape;135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"/>
          <p:cNvGrpSpPr/>
          <p:nvPr/>
        </p:nvGrpSpPr>
        <p:grpSpPr>
          <a:xfrm>
            <a:off x="17724745" y="25792965"/>
            <a:ext cx="13185533" cy="10801112"/>
            <a:chOff x="0" y="-85725"/>
            <a:chExt cx="1423661" cy="1166212"/>
          </a:xfrm>
        </p:grpSpPr>
        <p:sp>
          <p:nvSpPr>
            <p:cNvPr id="137" name="Google Shape;137;p1"/>
            <p:cNvSpPr/>
            <p:nvPr/>
          </p:nvSpPr>
          <p:spPr>
            <a:xfrm>
              <a:off x="0" y="0"/>
              <a:ext cx="1423661" cy="1080487"/>
            </a:xfrm>
            <a:custGeom>
              <a:avLst/>
              <a:gdLst/>
              <a:ahLst/>
              <a:cxnLst/>
              <a:rect l="l" t="t" r="r" b="b"/>
              <a:pathLst>
                <a:path w="1423661" h="1080487" extrusionOk="0">
                  <a:moveTo>
                    <a:pt x="0" y="0"/>
                  </a:moveTo>
                  <a:lnTo>
                    <a:pt x="1423661" y="0"/>
                  </a:lnTo>
                  <a:lnTo>
                    <a:pt x="1423661" y="1080487"/>
                  </a:lnTo>
                  <a:lnTo>
                    <a:pt x="0" y="1080487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38" name="Google Shape;138;p1"/>
            <p:cNvSpPr txBox="1"/>
            <p:nvPr/>
          </p:nvSpPr>
          <p:spPr>
            <a:xfrm>
              <a:off x="0" y="-85725"/>
              <a:ext cx="1423661" cy="116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endParaRPr lang="pt-BR" sz="2600" dirty="0" smtClean="0"/>
            </a:p>
            <a:p>
              <a:endParaRPr lang="pt-BR" sz="2600" dirty="0" smtClean="0"/>
            </a:p>
            <a:p>
              <a:endParaRPr lang="pt-BR" sz="2600" dirty="0"/>
            </a:p>
            <a:p>
              <a:endParaRPr lang="pt-BR" sz="2600" dirty="0" smtClean="0"/>
            </a:p>
            <a:p>
              <a:endParaRPr lang="pt-BR" sz="2600" dirty="0"/>
            </a:p>
            <a:p>
              <a:endParaRPr lang="pt-BR" sz="2600" dirty="0" smtClean="0"/>
            </a:p>
            <a:p>
              <a:endParaRPr lang="pt-BR" sz="2600" dirty="0"/>
            </a:p>
            <a:p>
              <a:endParaRPr lang="pt-BR" sz="2600" dirty="0"/>
            </a:p>
            <a:p>
              <a:pPr algn="just">
                <a:lnSpc>
                  <a:spcPct val="150000"/>
                </a:lnSpc>
              </a:pPr>
              <a:r>
                <a:rPr lang="pt-BR" sz="2600" dirty="0" smtClean="0"/>
                <a:t>Conclui-se </a:t>
              </a:r>
              <a:r>
                <a:rPr lang="pt-BR" sz="2600" dirty="0"/>
                <a:t>que o sistema combinado de sensores e </a:t>
              </a:r>
              <a:r>
                <a:rPr lang="pt-BR" sz="2600" dirty="0" err="1"/>
                <a:t>nanopartículas</a:t>
              </a:r>
              <a:r>
                <a:rPr lang="pt-BR" sz="2600" dirty="0"/>
                <a:t> apresenta potencial significativo para </a:t>
              </a:r>
              <a:r>
                <a:rPr lang="pt-BR" sz="2600" b="1" dirty="0"/>
                <a:t>monitoramento e tratamento de poluentes aquáticos</a:t>
              </a:r>
              <a:r>
                <a:rPr lang="pt-BR" sz="2600" dirty="0"/>
                <a:t> em contextos de baixo custo e fácil replicação. A integração entre a plataforma </a:t>
              </a:r>
              <a:r>
                <a:rPr lang="pt-BR" sz="2600" dirty="0" err="1"/>
                <a:t>Arduino</a:t>
              </a:r>
              <a:r>
                <a:rPr lang="pt-BR" sz="2600" dirty="0"/>
                <a:t> e as NM-LAS sintetizadas a partir de materiais reaproveitados mostrou-se funcional, acessível e sustentável</a:t>
              </a:r>
              <a:r>
                <a:rPr lang="pt-BR" sz="2600" dirty="0" smtClean="0"/>
                <a:t>.</a:t>
              </a:r>
            </a:p>
            <a:p>
              <a:pPr algn="just">
                <a:lnSpc>
                  <a:spcPct val="150000"/>
                </a:lnSpc>
              </a:pPr>
              <a:endParaRPr lang="pt-BR" sz="2600" dirty="0"/>
            </a:p>
            <a:p>
              <a:pPr algn="just">
                <a:lnSpc>
                  <a:spcPct val="150000"/>
                </a:lnSpc>
              </a:pPr>
              <a:r>
                <a:rPr lang="pt-BR" sz="2600" dirty="0"/>
                <a:t>A abordagem proposta promove não apenas a inovação tecnológica, mas também a formação de competências científicas e ambientais, reforçando o papel da </a:t>
              </a:r>
              <a:r>
                <a:rPr lang="pt-BR" sz="2600" b="1" dirty="0"/>
                <a:t>educação aplicada</a:t>
              </a:r>
              <a:r>
                <a:rPr lang="pt-BR" sz="2600" dirty="0"/>
                <a:t> na busca por soluções reais para os desafios ecológicos. Em etapas futuras, recomenda-se o aprimoramento da </a:t>
              </a:r>
              <a:r>
                <a:rPr lang="pt-BR" sz="2600" b="1" dirty="0"/>
                <a:t>eficiência </a:t>
              </a:r>
              <a:r>
                <a:rPr lang="pt-BR" sz="2600" b="1"/>
                <a:t>de </a:t>
              </a:r>
              <a:r>
                <a:rPr lang="pt-BR" sz="2600" b="1" smtClean="0"/>
                <a:t>absorção </a:t>
              </a:r>
              <a:r>
                <a:rPr lang="pt-BR" sz="2600" b="1" dirty="0"/>
                <a:t>das </a:t>
              </a:r>
              <a:r>
                <a:rPr lang="pt-BR" sz="2600" b="1" dirty="0" err="1"/>
                <a:t>nanopartículas</a:t>
              </a:r>
              <a:r>
                <a:rPr lang="pt-BR" sz="2600" dirty="0"/>
                <a:t>, bem como a expansão do sistema para o monitoramento remoto via </a:t>
              </a:r>
              <a:r>
                <a:rPr lang="pt-BR" sz="2600" dirty="0" err="1" smtClean="0"/>
                <a:t>IoT</a:t>
              </a:r>
              <a:r>
                <a:rPr lang="pt-BR" sz="2600" dirty="0" smtClean="0"/>
                <a:t> e modificação da câmara de análise para os experimentos.</a:t>
              </a:r>
              <a:endParaRPr lang="pt-BR" sz="2600" dirty="0"/>
            </a:p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18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18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18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"/>
          <p:cNvGrpSpPr/>
          <p:nvPr/>
        </p:nvGrpSpPr>
        <p:grpSpPr>
          <a:xfrm>
            <a:off x="17980069" y="24202522"/>
            <a:ext cx="12930209" cy="2593677"/>
            <a:chOff x="0" y="-85725"/>
            <a:chExt cx="1396093" cy="280043"/>
          </a:xfrm>
        </p:grpSpPr>
        <p:sp>
          <p:nvSpPr>
            <p:cNvPr id="140" name="Google Shape;140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  <a:ln>
              <a:noFill/>
            </a:ln>
          </p:spPr>
        </p:sp>
        <p:sp>
          <p:nvSpPr>
            <p:cNvPr id="141" name="Google Shape;141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"/>
          <p:cNvGrpSpPr/>
          <p:nvPr/>
        </p:nvGrpSpPr>
        <p:grpSpPr>
          <a:xfrm>
            <a:off x="17724745" y="24031188"/>
            <a:ext cx="12930209" cy="2593677"/>
            <a:chOff x="0" y="-85725"/>
            <a:chExt cx="1396093" cy="280043"/>
          </a:xfrm>
        </p:grpSpPr>
        <p:sp>
          <p:nvSpPr>
            <p:cNvPr id="143" name="Google Shape;143;p1"/>
            <p:cNvSpPr/>
            <p:nvPr/>
          </p:nvSpPr>
          <p:spPr>
            <a:xfrm>
              <a:off x="0" y="0"/>
              <a:ext cx="1396093" cy="194318"/>
            </a:xfrm>
            <a:custGeom>
              <a:avLst/>
              <a:gdLst/>
              <a:ahLst/>
              <a:cxnLst/>
              <a:rect l="l" t="t" r="r" b="b"/>
              <a:pathLst>
                <a:path w="1396093" h="194318" extrusionOk="0">
                  <a:moveTo>
                    <a:pt x="0" y="0"/>
                  </a:moveTo>
                  <a:lnTo>
                    <a:pt x="1396093" y="0"/>
                  </a:lnTo>
                  <a:lnTo>
                    <a:pt x="1396093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099594"/>
            </a:solidFill>
            <a:ln>
              <a:noFill/>
            </a:ln>
          </p:spPr>
        </p:sp>
        <p:sp>
          <p:nvSpPr>
            <p:cNvPr id="144" name="Google Shape;144;p1"/>
            <p:cNvSpPr txBox="1"/>
            <p:nvPr/>
          </p:nvSpPr>
          <p:spPr>
            <a:xfrm>
              <a:off x="0" y="-85725"/>
              <a:ext cx="1396093" cy="2800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marL="0" marR="0" lvl="0" indent="0" algn="ctr" rtl="0">
                <a:lnSpc>
                  <a:spcPct val="264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"/>
          <p:cNvSpPr txBox="1"/>
          <p:nvPr/>
        </p:nvSpPr>
        <p:spPr>
          <a:xfrm>
            <a:off x="4243405" y="3679595"/>
            <a:ext cx="21934443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0017"/>
              </a:lnSpc>
            </a:pPr>
            <a:r>
              <a:rPr lang="pt-BR" sz="6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SISTEMA </a:t>
            </a:r>
            <a:r>
              <a:rPr lang="pt-BR" sz="6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ARDUINO PARA MONITORAMENTO AMBIENTAL: USO COMBINADO DE SENSORES E NANOPARTÍCULAS NA DETECÇÃO E TRATAMENTO DE POLUENTES AQUÁTICOS</a:t>
            </a:r>
            <a:endParaRPr sz="6000" dirty="0"/>
          </a:p>
        </p:txBody>
      </p:sp>
      <p:sp>
        <p:nvSpPr>
          <p:cNvPr id="146" name="Google Shape;146;p1"/>
          <p:cNvSpPr txBox="1"/>
          <p:nvPr/>
        </p:nvSpPr>
        <p:spPr>
          <a:xfrm>
            <a:off x="6229239" y="6619373"/>
            <a:ext cx="20471700" cy="148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Jefferson </a:t>
            </a:r>
            <a:r>
              <a:rPr lang="en-US" sz="2800" dirty="0" err="1" smtClean="0">
                <a:latin typeface="Oswald"/>
                <a:ea typeface="Oswald"/>
                <a:cs typeface="Oswald"/>
                <a:sym typeface="Oswald"/>
              </a:rPr>
              <a:t>Bezerra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 dos Santo</a:t>
            </a: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¹, 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Maria Jamile Arcoverde da 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Silva</a:t>
            </a: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² e </a:t>
            </a: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Ingrid </a:t>
            </a:r>
            <a:r>
              <a:rPr lang="en-US" sz="2800" dirty="0" err="1">
                <a:latin typeface="Oswald"/>
                <a:ea typeface="Oswald"/>
                <a:cs typeface="Oswald"/>
                <a:sym typeface="Oswald"/>
              </a:rPr>
              <a:t>Iara</a:t>
            </a:r>
            <a:r>
              <a:rPr lang="en-US" sz="2800" dirty="0">
                <a:latin typeface="Oswald"/>
                <a:ea typeface="Oswald"/>
                <a:cs typeface="Oswald"/>
                <a:sym typeface="Oswald"/>
              </a:rPr>
              <a:t> da Silva </a:t>
            </a:r>
            <a:r>
              <a:rPr lang="en-US" sz="2800" dirty="0" smtClean="0">
                <a:latin typeface="Oswald"/>
                <a:ea typeface="Oswald"/>
                <a:cs typeface="Oswald"/>
                <a:sym typeface="Oswald"/>
              </a:rPr>
              <a:t>Britto³  </a:t>
            </a:r>
            <a:endParaRPr sz="1200" dirty="0"/>
          </a:p>
          <a:p>
            <a:pPr lvl="0" algn="ctr">
              <a:lnSpc>
                <a:spcPct val="115000"/>
              </a:lnSpc>
            </a:pPr>
            <a:r>
              <a:rPr lang="en-US" sz="2800" b="0" i="0" u="none" strike="noStrike" cap="none" dirty="0" smtClean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     ¹P</a:t>
            </a:r>
            <a:r>
              <a:rPr lang="pt-BR" sz="2800" dirty="0" err="1">
                <a:latin typeface="Oswald"/>
                <a:ea typeface="Oswald"/>
                <a:cs typeface="Oswald"/>
                <a:sym typeface="Oswald"/>
              </a:rPr>
              <a:t>rofessor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 da EREFEM Monsenhor José </a:t>
            </a:r>
            <a:r>
              <a:rPr lang="pt-BR" sz="2800" dirty="0" err="1"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jefferson.bsantos42@professor.educacao.pe.gov.br,Arcoverde,Pernambuco.</a:t>
            </a:r>
            <a:endParaRPr lang="pt-BR" sz="2800" dirty="0">
              <a:latin typeface="Oswald"/>
              <a:ea typeface="Oswald"/>
              <a:cs typeface="Oswald"/>
              <a:sym typeface="Oswald"/>
            </a:endParaRPr>
          </a:p>
          <a:p>
            <a:pPr lvl="0" algn="ctr">
              <a:lnSpc>
                <a:spcPct val="115000"/>
              </a:lnSpc>
            </a:pPr>
            <a:r>
              <a:rPr lang="pt-BR" sz="2800" dirty="0" smtClean="0">
                <a:latin typeface="Oswald" panose="020B0604020202020204" charset="0"/>
                <a:ea typeface="Calibri" panose="020F0502020204030204" pitchFamily="34" charset="0"/>
              </a:rPr>
              <a:t>                                        </a:t>
            </a:r>
            <a:r>
              <a:rPr lang="pt-BR" sz="2800" baseline="30000" dirty="0" smtClean="0">
                <a:latin typeface="Oswald" panose="020B0604020202020204" charset="0"/>
                <a:ea typeface="Calibri" panose="020F0502020204030204" pitchFamily="34" charset="0"/>
              </a:rPr>
              <a:t>2,3</a:t>
            </a:r>
            <a:r>
              <a:rPr lang="pt-BR" sz="2800" dirty="0" smtClean="0">
                <a:latin typeface="Oswald" panose="020B0604020202020204" charset="0"/>
                <a:ea typeface="Calibri" panose="020F0502020204030204" pitchFamily="34" charset="0"/>
              </a:rPr>
              <a:t>Estudante 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da 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EREFEM Monsenhor José </a:t>
            </a:r>
            <a:r>
              <a:rPr lang="pt-BR" sz="2800" dirty="0" err="1" smtClean="0"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, jefferson.bsantos42@professor.educacao.pe.gov.br,Arcoverde</a:t>
            </a:r>
            <a:r>
              <a:rPr lang="pt-BR" sz="2800" dirty="0"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pt-BR" sz="2800" dirty="0" smtClean="0">
                <a:latin typeface="Oswald"/>
                <a:ea typeface="Oswald"/>
                <a:cs typeface="Oswald"/>
                <a:sym typeface="Oswald"/>
              </a:rPr>
              <a:t>Pernambuco.</a:t>
            </a:r>
            <a:endParaRPr sz="1200" dirty="0"/>
          </a:p>
        </p:txBody>
      </p:sp>
      <p:sp>
        <p:nvSpPr>
          <p:cNvPr id="147" name="Google Shape;147;p1"/>
          <p:cNvSpPr txBox="1"/>
          <p:nvPr/>
        </p:nvSpPr>
        <p:spPr>
          <a:xfrm>
            <a:off x="5905502" y="831351"/>
            <a:ext cx="22068704" cy="22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21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MOSTRA DE ESTUDANTES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1248265" y="9222291"/>
            <a:ext cx="13674509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INTRODUÇÃO</a:t>
            </a:r>
            <a:endParaRPr/>
          </a:p>
        </p:txBody>
      </p:sp>
      <p:sp>
        <p:nvSpPr>
          <p:cNvPr id="149" name="Google Shape;149;p1"/>
          <p:cNvSpPr txBox="1"/>
          <p:nvPr/>
        </p:nvSpPr>
        <p:spPr>
          <a:xfrm>
            <a:off x="1246323" y="19165837"/>
            <a:ext cx="13676451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OBJETIVOS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1248265" y="27444838"/>
            <a:ext cx="13923486" cy="1151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2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METODOLOGIA</a:t>
            </a:r>
            <a:endParaRPr/>
          </a:p>
        </p:txBody>
      </p:sp>
      <p:sp>
        <p:nvSpPr>
          <p:cNvPr id="151" name="Google Shape;151;p1"/>
          <p:cNvSpPr txBox="1"/>
          <p:nvPr/>
        </p:nvSpPr>
        <p:spPr>
          <a:xfrm>
            <a:off x="17971036" y="9251020"/>
            <a:ext cx="12683918" cy="92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96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RESULTADOS E DISCUSSÃO</a:t>
            </a:r>
            <a:endParaRPr/>
          </a:p>
        </p:txBody>
      </p:sp>
      <p:sp>
        <p:nvSpPr>
          <p:cNvPr id="152" name="Google Shape;152;p1"/>
          <p:cNvSpPr txBox="1"/>
          <p:nvPr/>
        </p:nvSpPr>
        <p:spPr>
          <a:xfrm>
            <a:off x="17820461" y="25310198"/>
            <a:ext cx="12919256" cy="108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21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CONCLUSÕES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27869094" y="39711105"/>
            <a:ext cx="4520413" cy="1767000"/>
          </a:xfrm>
          <a:custGeom>
            <a:avLst/>
            <a:gdLst/>
            <a:ahLst/>
            <a:cxnLst/>
            <a:rect l="l" t="t" r="r" b="b"/>
            <a:pathLst>
              <a:path w="4520413" h="1767000" extrusionOk="0">
                <a:moveTo>
                  <a:pt x="0" y="0"/>
                </a:moveTo>
                <a:lnTo>
                  <a:pt x="4520412" y="0"/>
                </a:lnTo>
                <a:lnTo>
                  <a:pt x="4520412" y="1767000"/>
                </a:lnTo>
                <a:lnTo>
                  <a:pt x="0" y="176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95600"/>
            </a:stretch>
          </a:blipFill>
          <a:ln>
            <a:noFill/>
          </a:ln>
        </p:spPr>
      </p:sp>
      <p:sp>
        <p:nvSpPr>
          <p:cNvPr id="154" name="Google Shape;154;p1"/>
          <p:cNvSpPr/>
          <p:nvPr/>
        </p:nvSpPr>
        <p:spPr>
          <a:xfrm>
            <a:off x="28571868" y="36794878"/>
            <a:ext cx="3114865" cy="3639784"/>
          </a:xfrm>
          <a:custGeom>
            <a:avLst/>
            <a:gdLst/>
            <a:ahLst/>
            <a:cxnLst/>
            <a:rect l="l" t="t" r="r" b="b"/>
            <a:pathLst>
              <a:path w="3114865" h="3639784" extrusionOk="0">
                <a:moveTo>
                  <a:pt x="0" y="0"/>
                </a:moveTo>
                <a:lnTo>
                  <a:pt x="3114864" y="0"/>
                </a:lnTo>
                <a:lnTo>
                  <a:pt x="3114864" y="3639783"/>
                </a:lnTo>
                <a:lnTo>
                  <a:pt x="0" y="3639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5" name="Google Shape;155;p1"/>
          <p:cNvSpPr/>
          <p:nvPr/>
        </p:nvSpPr>
        <p:spPr>
          <a:xfrm>
            <a:off x="28356571" y="41386148"/>
            <a:ext cx="3335656" cy="1050227"/>
          </a:xfrm>
          <a:custGeom>
            <a:avLst/>
            <a:gdLst/>
            <a:ahLst/>
            <a:cxnLst/>
            <a:rect l="l" t="t" r="r" b="b"/>
            <a:pathLst>
              <a:path w="3335656" h="1050227" extrusionOk="0">
                <a:moveTo>
                  <a:pt x="0" y="0"/>
                </a:moveTo>
                <a:lnTo>
                  <a:pt x="3335656" y="0"/>
                </a:lnTo>
                <a:lnTo>
                  <a:pt x="3335656" y="1050227"/>
                </a:lnTo>
                <a:lnTo>
                  <a:pt x="0" y="10502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2203" t="-235062" r="-25552" b="-390574"/>
            </a:stretch>
          </a:blipFill>
          <a:ln>
            <a:noFill/>
          </a:ln>
        </p:spPr>
      </p:sp>
      <p:sp>
        <p:nvSpPr>
          <p:cNvPr id="156" name="Google Shape;156;p1"/>
          <p:cNvSpPr/>
          <p:nvPr/>
        </p:nvSpPr>
        <p:spPr>
          <a:xfrm>
            <a:off x="24000690" y="37447405"/>
            <a:ext cx="4690637" cy="2662466"/>
          </a:xfrm>
          <a:custGeom>
            <a:avLst/>
            <a:gdLst/>
            <a:ahLst/>
            <a:cxnLst/>
            <a:rect l="l" t="t" r="r" b="b"/>
            <a:pathLst>
              <a:path w="4690637" h="2662466" extrusionOk="0">
                <a:moveTo>
                  <a:pt x="0" y="0"/>
                </a:moveTo>
                <a:lnTo>
                  <a:pt x="4690636" y="0"/>
                </a:lnTo>
                <a:lnTo>
                  <a:pt x="4690636" y="2662466"/>
                </a:lnTo>
                <a:lnTo>
                  <a:pt x="0" y="2662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6171"/>
            </a:stretch>
          </a:blipFill>
          <a:ln>
            <a:noFill/>
          </a:ln>
        </p:spPr>
      </p:sp>
      <p:sp>
        <p:nvSpPr>
          <p:cNvPr id="157" name="Google Shape;157;p1"/>
          <p:cNvSpPr txBox="1"/>
          <p:nvPr/>
        </p:nvSpPr>
        <p:spPr>
          <a:xfrm>
            <a:off x="24281103" y="40475005"/>
            <a:ext cx="4129810" cy="152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93" b="1" i="0" u="none" strike="noStrike" cap="none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MOSTRA CIENTÍFICA DO SERTÃO DO MOXOTÓ IPANEMA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6881391" y="37337027"/>
            <a:ext cx="6857899" cy="1864512"/>
          </a:xfrm>
          <a:custGeom>
            <a:avLst/>
            <a:gdLst/>
            <a:ahLst/>
            <a:cxnLst/>
            <a:rect l="l" t="t" r="r" b="b"/>
            <a:pathLst>
              <a:path w="6857899" h="1864512" extrusionOk="0">
                <a:moveTo>
                  <a:pt x="0" y="0"/>
                </a:moveTo>
                <a:lnTo>
                  <a:pt x="6857899" y="0"/>
                </a:lnTo>
                <a:lnTo>
                  <a:pt x="6857899" y="1864513"/>
                </a:lnTo>
                <a:lnTo>
                  <a:pt x="0" y="1864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9" name="Google Shape;159;p1"/>
          <p:cNvSpPr/>
          <p:nvPr/>
        </p:nvSpPr>
        <p:spPr>
          <a:xfrm>
            <a:off x="17520707" y="39370920"/>
            <a:ext cx="5718033" cy="1744000"/>
          </a:xfrm>
          <a:custGeom>
            <a:avLst/>
            <a:gdLst/>
            <a:ahLst/>
            <a:cxnLst/>
            <a:rect l="l" t="t" r="r" b="b"/>
            <a:pathLst>
              <a:path w="5718033" h="1744000" extrusionOk="0">
                <a:moveTo>
                  <a:pt x="0" y="0"/>
                </a:moveTo>
                <a:lnTo>
                  <a:pt x="5718032" y="0"/>
                </a:lnTo>
                <a:lnTo>
                  <a:pt x="5718032" y="1744000"/>
                </a:lnTo>
                <a:lnTo>
                  <a:pt x="0" y="174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0" name="Google Shape;160;p1"/>
          <p:cNvGrpSpPr/>
          <p:nvPr/>
        </p:nvGrpSpPr>
        <p:grpSpPr>
          <a:xfrm>
            <a:off x="16465151" y="41266896"/>
            <a:ext cx="7793966" cy="971369"/>
            <a:chOff x="0" y="0"/>
            <a:chExt cx="10391956" cy="1295159"/>
          </a:xfrm>
        </p:grpSpPr>
        <p:sp>
          <p:nvSpPr>
            <p:cNvPr id="161" name="Google Shape;161;p1"/>
            <p:cNvSpPr/>
            <p:nvPr/>
          </p:nvSpPr>
          <p:spPr>
            <a:xfrm>
              <a:off x="2080443" y="152586"/>
              <a:ext cx="4125115" cy="1069555"/>
            </a:xfrm>
            <a:custGeom>
              <a:avLst/>
              <a:gdLst/>
              <a:ahLst/>
              <a:cxnLst/>
              <a:rect l="l" t="t" r="r" b="b"/>
              <a:pathLst>
                <a:path w="4125115" h="1069555" extrusionOk="0">
                  <a:moveTo>
                    <a:pt x="0" y="0"/>
                  </a:moveTo>
                  <a:lnTo>
                    <a:pt x="4125116" y="0"/>
                  </a:lnTo>
                  <a:lnTo>
                    <a:pt x="4125116" y="1069554"/>
                  </a:lnTo>
                  <a:lnTo>
                    <a:pt x="0" y="10695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l="-29637"/>
              </a:stretch>
            </a:blipFill>
            <a:ln>
              <a:noFill/>
            </a:ln>
          </p:spPr>
        </p:sp>
        <p:sp>
          <p:nvSpPr>
            <p:cNvPr id="162" name="Google Shape;162;p1"/>
            <p:cNvSpPr/>
            <p:nvPr/>
          </p:nvSpPr>
          <p:spPr>
            <a:xfrm>
              <a:off x="0" y="0"/>
              <a:ext cx="2214777" cy="1012847"/>
            </a:xfrm>
            <a:custGeom>
              <a:avLst/>
              <a:gdLst/>
              <a:ahLst/>
              <a:cxnLst/>
              <a:rect l="l" t="t" r="r" b="b"/>
              <a:pathLst>
                <a:path w="2214777" h="1012847" extrusionOk="0">
                  <a:moveTo>
                    <a:pt x="0" y="0"/>
                  </a:moveTo>
                  <a:lnTo>
                    <a:pt x="2214777" y="0"/>
                  </a:lnTo>
                  <a:lnTo>
                    <a:pt x="2214777" y="1012847"/>
                  </a:lnTo>
                  <a:lnTo>
                    <a:pt x="0" y="10128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l="-49979" t="-400918" r="-191107" b="-76648"/>
              </a:stretch>
            </a:blipFill>
            <a:ln>
              <a:noFill/>
            </a:ln>
          </p:spPr>
        </p:sp>
        <p:sp>
          <p:nvSpPr>
            <p:cNvPr id="163" name="Google Shape;163;p1"/>
            <p:cNvSpPr/>
            <p:nvPr/>
          </p:nvSpPr>
          <p:spPr>
            <a:xfrm>
              <a:off x="5980114" y="152586"/>
              <a:ext cx="4411842" cy="1142573"/>
            </a:xfrm>
            <a:custGeom>
              <a:avLst/>
              <a:gdLst/>
              <a:ahLst/>
              <a:cxnLst/>
              <a:rect l="l" t="t" r="r" b="b"/>
              <a:pathLst>
                <a:path w="4411842" h="1142573" extrusionOk="0">
                  <a:moveTo>
                    <a:pt x="0" y="0"/>
                  </a:moveTo>
                  <a:lnTo>
                    <a:pt x="4411843" y="0"/>
                  </a:lnTo>
                  <a:lnTo>
                    <a:pt x="4411843" y="1142573"/>
                  </a:lnTo>
                  <a:lnTo>
                    <a:pt x="0" y="11425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t="-68144" b="-89110"/>
              </a:stretch>
            </a:blipFill>
            <a:ln>
              <a:noFill/>
            </a:ln>
          </p:spPr>
        </p:sp>
      </p:grpSp>
      <p:sp>
        <p:nvSpPr>
          <p:cNvPr id="164" name="Google Shape;164;p1"/>
          <p:cNvSpPr/>
          <p:nvPr/>
        </p:nvSpPr>
        <p:spPr>
          <a:xfrm>
            <a:off x="29582010" y="786619"/>
            <a:ext cx="615775" cy="1005347"/>
          </a:xfrm>
          <a:custGeom>
            <a:avLst/>
            <a:gdLst/>
            <a:ahLst/>
            <a:cxnLst/>
            <a:rect l="l" t="t" r="r" b="b"/>
            <a:pathLst>
              <a:path w="615775" h="1005347" extrusionOk="0">
                <a:moveTo>
                  <a:pt x="0" y="0"/>
                </a:moveTo>
                <a:lnTo>
                  <a:pt x="615775" y="0"/>
                </a:lnTo>
                <a:lnTo>
                  <a:pt x="615775" y="1005346"/>
                </a:lnTo>
                <a:lnTo>
                  <a:pt x="0" y="1005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5" name="Google Shape;165;p1"/>
          <p:cNvSpPr/>
          <p:nvPr/>
        </p:nvSpPr>
        <p:spPr>
          <a:xfrm>
            <a:off x="29019923" y="1791965"/>
            <a:ext cx="2355724" cy="2717490"/>
          </a:xfrm>
          <a:custGeom>
            <a:avLst/>
            <a:gdLst/>
            <a:ahLst/>
            <a:cxnLst/>
            <a:rect l="l" t="t" r="r" b="b"/>
            <a:pathLst>
              <a:path w="2355724" h="2717490" extrusionOk="0">
                <a:moveTo>
                  <a:pt x="0" y="0"/>
                </a:moveTo>
                <a:lnTo>
                  <a:pt x="2355724" y="0"/>
                </a:lnTo>
                <a:lnTo>
                  <a:pt x="2355724" y="2717490"/>
                </a:lnTo>
                <a:lnTo>
                  <a:pt x="0" y="27174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6" name="Google Shape;166;p1"/>
          <p:cNvSpPr/>
          <p:nvPr/>
        </p:nvSpPr>
        <p:spPr>
          <a:xfrm>
            <a:off x="28284503" y="6686048"/>
            <a:ext cx="3911138" cy="1094154"/>
          </a:xfrm>
          <a:custGeom>
            <a:avLst/>
            <a:gdLst/>
            <a:ahLst/>
            <a:cxnLst/>
            <a:rect l="l" t="t" r="r" b="b"/>
            <a:pathLst>
              <a:path w="3911138" h="1094154" extrusionOk="0">
                <a:moveTo>
                  <a:pt x="0" y="0"/>
                </a:moveTo>
                <a:lnTo>
                  <a:pt x="3911138" y="0"/>
                </a:lnTo>
                <a:lnTo>
                  <a:pt x="3911138" y="1094154"/>
                </a:lnTo>
                <a:lnTo>
                  <a:pt x="0" y="1094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1"/>
          <p:cNvSpPr/>
          <p:nvPr/>
        </p:nvSpPr>
        <p:spPr>
          <a:xfrm>
            <a:off x="28446739" y="4719005"/>
            <a:ext cx="3641518" cy="1760067"/>
          </a:xfrm>
          <a:custGeom>
            <a:avLst/>
            <a:gdLst/>
            <a:ahLst/>
            <a:cxnLst/>
            <a:rect l="l" t="t" r="r" b="b"/>
            <a:pathLst>
              <a:path w="3641518" h="1760067" extrusionOk="0">
                <a:moveTo>
                  <a:pt x="0" y="0"/>
                </a:moveTo>
                <a:lnTo>
                  <a:pt x="3641518" y="0"/>
                </a:lnTo>
                <a:lnTo>
                  <a:pt x="3641518" y="1760067"/>
                </a:lnTo>
                <a:lnTo>
                  <a:pt x="0" y="1760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1" descr="image5.png"/>
          <p:cNvSpPr/>
          <p:nvPr/>
        </p:nvSpPr>
        <p:spPr>
          <a:xfrm rot="10800000">
            <a:off x="58930" y="77864"/>
            <a:ext cx="5846544" cy="5871159"/>
          </a:xfrm>
          <a:custGeom>
            <a:avLst/>
            <a:gdLst/>
            <a:ahLst/>
            <a:cxnLst/>
            <a:rect l="l" t="t" r="r" b="b"/>
            <a:pathLst>
              <a:path w="9923907" h="9965690" extrusionOk="0">
                <a:moveTo>
                  <a:pt x="9923907" y="9965690"/>
                </a:moveTo>
                <a:lnTo>
                  <a:pt x="0" y="9965690"/>
                </a:lnTo>
                <a:lnTo>
                  <a:pt x="0" y="0"/>
                </a:lnTo>
                <a:lnTo>
                  <a:pt x="9923907" y="0"/>
                </a:lnTo>
                <a:lnTo>
                  <a:pt x="9923907" y="996569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r="-100324" b="-99485"/>
            </a:stretch>
          </a:blipFill>
          <a:ln>
            <a:noFill/>
          </a:ln>
        </p:spPr>
      </p:sp>
      <p:sp>
        <p:nvSpPr>
          <p:cNvPr id="169" name="Google Shape;169;p1" descr="image4.png"/>
          <p:cNvSpPr/>
          <p:nvPr/>
        </p:nvSpPr>
        <p:spPr>
          <a:xfrm rot="10800000">
            <a:off x="-155980" y="89995"/>
            <a:ext cx="1950682" cy="1945682"/>
          </a:xfrm>
          <a:custGeom>
            <a:avLst/>
            <a:gdLst/>
            <a:ahLst/>
            <a:cxnLst/>
            <a:rect l="l" t="t" r="r" b="b"/>
            <a:pathLst>
              <a:path w="3220720" h="3212465" extrusionOk="0">
                <a:moveTo>
                  <a:pt x="3220720" y="3212465"/>
                </a:moveTo>
                <a:lnTo>
                  <a:pt x="0" y="3212465"/>
                </a:lnTo>
                <a:lnTo>
                  <a:pt x="0" y="0"/>
                </a:lnTo>
                <a:lnTo>
                  <a:pt x="3220720" y="0"/>
                </a:lnTo>
                <a:lnTo>
                  <a:pt x="3220720" y="3212465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r="-97902" b="-98416"/>
            </a:stretch>
          </a:blipFill>
          <a:ln>
            <a:noFill/>
          </a:ln>
        </p:spPr>
      </p:sp>
      <p:grpSp>
        <p:nvGrpSpPr>
          <p:cNvPr id="170" name="Google Shape;170;p1"/>
          <p:cNvGrpSpPr/>
          <p:nvPr/>
        </p:nvGrpSpPr>
        <p:grpSpPr>
          <a:xfrm>
            <a:off x="964994" y="10069441"/>
            <a:ext cx="14528538" cy="8457752"/>
            <a:chOff x="0" y="-85725"/>
            <a:chExt cx="1568667" cy="913196"/>
          </a:xfrm>
        </p:grpSpPr>
        <p:sp>
          <p:nvSpPr>
            <p:cNvPr id="171" name="Google Shape;171;p1"/>
            <p:cNvSpPr/>
            <p:nvPr/>
          </p:nvSpPr>
          <p:spPr>
            <a:xfrm>
              <a:off x="0" y="0"/>
              <a:ext cx="1568667" cy="827471"/>
            </a:xfrm>
            <a:custGeom>
              <a:avLst/>
              <a:gdLst/>
              <a:ahLst/>
              <a:cxnLst/>
              <a:rect l="l" t="t" r="r" b="b"/>
              <a:pathLst>
                <a:path w="1568667" h="827471" extrusionOk="0">
                  <a:moveTo>
                    <a:pt x="0" y="0"/>
                  </a:moveTo>
                  <a:lnTo>
                    <a:pt x="1568667" y="0"/>
                  </a:lnTo>
                  <a:lnTo>
                    <a:pt x="1568667" y="827471"/>
                  </a:lnTo>
                  <a:lnTo>
                    <a:pt x="0" y="827471"/>
                  </a:lnTo>
                  <a:close/>
                </a:path>
              </a:pathLst>
            </a:custGeom>
            <a:solidFill>
              <a:srgbClr val="684769">
                <a:alpha val="17254"/>
              </a:srgbClr>
            </a:solidFill>
            <a:ln>
              <a:noFill/>
            </a:ln>
          </p:spPr>
        </p:sp>
        <p:sp>
          <p:nvSpPr>
            <p:cNvPr id="172" name="Google Shape;172;p1"/>
            <p:cNvSpPr txBox="1"/>
            <p:nvPr/>
          </p:nvSpPr>
          <p:spPr>
            <a:xfrm>
              <a:off x="0" y="-85725"/>
              <a:ext cx="1568667" cy="913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900" tIns="41900" rIns="41900" bIns="41900" anchor="ctr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r>
                <a:rPr lang="pt-BR" sz="2600" dirty="0"/>
                <a:t>A contaminação das águas por compostos orgânicos, </a:t>
              </a:r>
              <a:r>
                <a:rPr lang="pt-BR" sz="2600" dirty="0" err="1"/>
                <a:t>microplásticos</a:t>
              </a:r>
              <a:r>
                <a:rPr lang="pt-BR" sz="2600" dirty="0"/>
                <a:t> e surfactantes representa um dos maiores desafios ambientais contemporâneos, impactando ecossistemas aquáticos e comunidades humanas que dependem desses recursos. Nesse contexto, o desenvolvimento de tecnologias acessíveis e sustentáveis é essencial para a mitigação dos efeitos desses poluentes. O presente projeto propõe a integração entre </a:t>
              </a:r>
              <a:r>
                <a:rPr lang="pt-BR" sz="2600" b="1" dirty="0"/>
                <a:t>sensores eletrônicos e </a:t>
              </a:r>
              <a:r>
                <a:rPr lang="pt-BR" sz="2600" b="1" dirty="0" err="1"/>
                <a:t>nanopartículas</a:t>
              </a:r>
              <a:r>
                <a:rPr lang="pt-BR" sz="2600" b="1" dirty="0"/>
                <a:t> magnéticas (NM)</a:t>
              </a:r>
              <a:r>
                <a:rPr lang="pt-BR" sz="2600" dirty="0"/>
                <a:t>, associando </a:t>
              </a:r>
              <a:r>
                <a:rPr lang="pt-BR" sz="2600" b="1" dirty="0" err="1"/>
                <a:t>Arduino</a:t>
              </a:r>
              <a:r>
                <a:rPr lang="pt-BR" sz="2600" b="1" dirty="0"/>
                <a:t> e nanotecnologia</a:t>
              </a:r>
              <a:r>
                <a:rPr lang="pt-BR" sz="2600" dirty="0"/>
                <a:t> em um sistema híbrido capaz de </a:t>
              </a:r>
              <a:r>
                <a:rPr lang="pt-BR" sz="2600" b="1" dirty="0"/>
                <a:t>detectar e tratar contaminantes em tempo </a:t>
              </a:r>
              <a:r>
                <a:rPr lang="pt-BR" sz="2600" b="1" dirty="0" smtClean="0"/>
                <a:t>real</a:t>
              </a:r>
              <a:r>
                <a:rPr lang="pt-BR" sz="2600" dirty="0" smtClean="0"/>
                <a:t>. </a:t>
              </a:r>
            </a:p>
            <a:p>
              <a:pPr lvl="0" algn="just">
                <a:lnSpc>
                  <a:spcPct val="150000"/>
                </a:lnSpc>
              </a:pPr>
              <a:r>
                <a:rPr lang="pt-BR" sz="2600" dirty="0" smtClean="0"/>
                <a:t>A </a:t>
              </a:r>
              <a:r>
                <a:rPr lang="pt-BR" sz="2600" dirty="0"/>
                <a:t>iniciativa busca aliar </a:t>
              </a:r>
              <a:r>
                <a:rPr lang="pt-BR" sz="2600" b="1" dirty="0"/>
                <a:t>educação científica, inovação e sustentabilidade</a:t>
              </a:r>
              <a:r>
                <a:rPr lang="pt-BR" sz="2600" dirty="0"/>
                <a:t>, demonstrando como materiais de baixo custo e processos caseiros de síntese podem gerar soluções tecnológicas eficazes. O projeto também visa despertar a consciência ambiental e fomentar o aprendizado interdisciplinar em temas de </a:t>
              </a:r>
              <a:r>
                <a:rPr lang="pt-BR" sz="2600" b="1" dirty="0"/>
                <a:t>química, física, eletrônica e ciências ambientais</a:t>
              </a:r>
              <a:r>
                <a:rPr lang="pt-BR" sz="2600" dirty="0"/>
                <a:t>, integrando conceitos práticos e teóricos de forma aplicada.</a:t>
              </a:r>
              <a:endParaRPr sz="2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" name="Imagem 6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740708" y="31917515"/>
            <a:ext cx="4669627" cy="2701186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6" t="-4310" r="19193" b="-459"/>
          <a:stretch/>
        </p:blipFill>
        <p:spPr>
          <a:xfrm rot="5400000">
            <a:off x="9715084" y="35939791"/>
            <a:ext cx="6710234" cy="4658984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7810" y="17476379"/>
            <a:ext cx="6676953" cy="3354330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0461" y="20936656"/>
            <a:ext cx="6772669" cy="3622077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6295" y="17476379"/>
            <a:ext cx="6222450" cy="3368466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2657" y="20935576"/>
            <a:ext cx="6283927" cy="3598685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85" y="32345692"/>
            <a:ext cx="9426314" cy="96567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656</Words>
  <Application>Microsoft Office PowerPoint</Application>
  <PresentationFormat>Personalizar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Oswald</vt:lpstr>
      <vt:lpstr>Calibri</vt:lpstr>
      <vt:lpstr>Arial</vt:lpstr>
      <vt:lpstr>Open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Jeffrey24</dc:creator>
  <cp:lastModifiedBy>Jeffrey24</cp:lastModifiedBy>
  <cp:revision>28</cp:revision>
  <dcterms:created xsi:type="dcterms:W3CDTF">2006-08-16T00:00:00Z</dcterms:created>
  <dcterms:modified xsi:type="dcterms:W3CDTF">2025-10-23T13:01:21Z</dcterms:modified>
</cp:coreProperties>
</file>