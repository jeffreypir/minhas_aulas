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7700" cy="43192700"/>
  <p:notesSz cx="6858000" cy="9144000"/>
  <p:embeddedFontLst>
    <p:embeddedFont>
      <p:font typeface="Oswald" panose="020B0604020202020204" charset="0"/>
      <p:regular r:id="rId4"/>
      <p:bold r:id="rId5"/>
    </p:embeddedFont>
    <p:embeddedFont>
      <p:font typeface="Open Sans" panose="020B0604020202020204" charset="0"/>
      <p:bold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tRg73fWWK6U87ut5c4ycNaHvO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132" y="-3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jpe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jp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jp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A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3957982" y="-2944918"/>
            <a:ext cx="3712995" cy="8472538"/>
          </a:xfrm>
          <a:custGeom>
            <a:avLst/>
            <a:gdLst/>
            <a:ahLst/>
            <a:cxnLst/>
            <a:rect l="l" t="t" r="r" b="b"/>
            <a:pathLst>
              <a:path w="3712995" h="8472538" extrusionOk="0">
                <a:moveTo>
                  <a:pt x="0" y="0"/>
                </a:moveTo>
                <a:lnTo>
                  <a:pt x="3712995" y="0"/>
                </a:lnTo>
                <a:lnTo>
                  <a:pt x="3712995" y="8472539"/>
                </a:lnTo>
                <a:lnTo>
                  <a:pt x="0" y="8472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969762" y="2562023"/>
            <a:ext cx="27050161" cy="4124025"/>
            <a:chOff x="0" y="-85725"/>
            <a:chExt cx="2758009" cy="420482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2758009" cy="334757"/>
            </a:xfrm>
            <a:custGeom>
              <a:avLst/>
              <a:gdLst/>
              <a:ahLst/>
              <a:cxnLst/>
              <a:rect l="l" t="t" r="r" b="b"/>
              <a:pathLst>
                <a:path w="2758009" h="334757" extrusionOk="0">
                  <a:moveTo>
                    <a:pt x="0" y="0"/>
                  </a:moveTo>
                  <a:lnTo>
                    <a:pt x="2758009" y="0"/>
                  </a:lnTo>
                  <a:lnTo>
                    <a:pt x="2758009" y="334757"/>
                  </a:lnTo>
                  <a:lnTo>
                    <a:pt x="0" y="334757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85725"/>
              <a:ext cx="2758009" cy="420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920583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209366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2" y="0"/>
                </a:lnTo>
                <a:lnTo>
                  <a:pt x="2403972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436507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7690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96582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16200000" y="36036475"/>
            <a:ext cx="15995641" cy="6399900"/>
            <a:chOff x="0" y="-85725"/>
            <a:chExt cx="1355228" cy="54223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355228" cy="456505"/>
            </a:xfrm>
            <a:custGeom>
              <a:avLst/>
              <a:gdLst/>
              <a:ahLst/>
              <a:cxnLst/>
              <a:rect l="l" t="t" r="r" b="b"/>
              <a:pathLst>
                <a:path w="1355228" h="456505" extrusionOk="0">
                  <a:moveTo>
                    <a:pt x="0" y="0"/>
                  </a:moveTo>
                  <a:lnTo>
                    <a:pt x="1355228" y="0"/>
                  </a:lnTo>
                  <a:lnTo>
                    <a:pt x="135522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85725"/>
              <a:ext cx="1355228" cy="542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4243405" y="-273004"/>
            <a:ext cx="25513973" cy="3675805"/>
            <a:chOff x="0" y="-85725"/>
            <a:chExt cx="2601381" cy="374782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2601381" cy="289057"/>
            </a:xfrm>
            <a:custGeom>
              <a:avLst/>
              <a:gdLst/>
              <a:ahLst/>
              <a:cxnLst/>
              <a:rect l="l" t="t" r="r" b="b"/>
              <a:pathLst>
                <a:path w="2601381" h="289057" extrusionOk="0">
                  <a:moveTo>
                    <a:pt x="0" y="0"/>
                  </a:moveTo>
                  <a:lnTo>
                    <a:pt x="2601381" y="0"/>
                  </a:lnTo>
                  <a:lnTo>
                    <a:pt x="2601381" y="289057"/>
                  </a:lnTo>
                  <a:lnTo>
                    <a:pt x="0" y="289057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85725"/>
              <a:ext cx="2601381" cy="374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254608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481749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722147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28122826" y="-1838108"/>
            <a:ext cx="4323198" cy="9864937"/>
          </a:xfrm>
          <a:custGeom>
            <a:avLst/>
            <a:gdLst/>
            <a:ahLst/>
            <a:cxnLst/>
            <a:rect l="l" t="t" r="r" b="b"/>
            <a:pathLst>
              <a:path w="4323198" h="9864937" extrusionOk="0">
                <a:moveTo>
                  <a:pt x="0" y="0"/>
                </a:moveTo>
                <a:lnTo>
                  <a:pt x="4323198" y="0"/>
                </a:lnTo>
                <a:lnTo>
                  <a:pt x="4323198" y="9864937"/>
                </a:lnTo>
                <a:lnTo>
                  <a:pt x="0" y="986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3" name="Google Shape;103;p1"/>
          <p:cNvGrpSpPr/>
          <p:nvPr/>
        </p:nvGrpSpPr>
        <p:grpSpPr>
          <a:xfrm>
            <a:off x="1246323" y="8237246"/>
            <a:ext cx="14247208" cy="2593677"/>
            <a:chOff x="0" y="-85725"/>
            <a:chExt cx="1538292" cy="280043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05" name="Google Shape;105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64994" y="8065912"/>
            <a:ext cx="14247208" cy="2593677"/>
            <a:chOff x="0" y="-85725"/>
            <a:chExt cx="1538292" cy="280043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964994" y="19200515"/>
            <a:ext cx="14528538" cy="7606216"/>
            <a:chOff x="0" y="-98821"/>
            <a:chExt cx="1568667" cy="821254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1568667" cy="722433"/>
            </a:xfrm>
            <a:custGeom>
              <a:avLst/>
              <a:gdLst/>
              <a:ahLst/>
              <a:cxnLst/>
              <a:rect l="l" t="t" r="r" b="b"/>
              <a:pathLst>
                <a:path w="1568667" h="722433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722433"/>
                  </a:lnTo>
                  <a:lnTo>
                    <a:pt x="0" y="72243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11" name="Google Shape;111;p1"/>
            <p:cNvSpPr txBox="1"/>
            <p:nvPr/>
          </p:nvSpPr>
          <p:spPr>
            <a:xfrm>
              <a:off x="0" y="-98821"/>
              <a:ext cx="1568667" cy="808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endParaRPr lang="pt-BR" sz="2600" b="1" dirty="0" smtClean="0"/>
            </a:p>
            <a:p>
              <a:pPr>
                <a:lnSpc>
                  <a:spcPct val="150000"/>
                </a:lnSpc>
              </a:pPr>
              <a:endParaRPr lang="pt-BR" sz="2600" b="1" dirty="0"/>
            </a:p>
            <a:p>
              <a:pPr>
                <a:lnSpc>
                  <a:spcPct val="150000"/>
                </a:lnSpc>
              </a:pPr>
              <a:endParaRPr lang="pt-BR" sz="2600" b="1" dirty="0" smtClean="0"/>
            </a:p>
            <a:p>
              <a:pPr>
                <a:lnSpc>
                  <a:spcPct val="150000"/>
                </a:lnSpc>
              </a:pPr>
              <a:endParaRPr lang="pt-BR" sz="2600" b="1" dirty="0"/>
            </a:p>
            <a:p>
              <a:pPr algn="just">
                <a:lnSpc>
                  <a:spcPct val="150000"/>
                </a:lnSpc>
              </a:pPr>
              <a:r>
                <a:rPr lang="pt-BR" sz="2600" dirty="0" smtClean="0"/>
                <a:t>Demonstrar </a:t>
              </a:r>
              <a:r>
                <a:rPr lang="pt-BR" sz="2600" dirty="0"/>
                <a:t>como sensores acessíveis, acoplados a técnicas estatísticas fundamentais, podem ser utilizados para </a:t>
              </a:r>
              <a:r>
                <a:rPr lang="pt-BR" sz="2600" b="1" dirty="0"/>
                <a:t>monitorar e analisar dados ambientais</a:t>
              </a:r>
              <a:r>
                <a:rPr lang="pt-BR" sz="2600" dirty="0"/>
                <a:t> em tempo real, promovendo soluções educativas e replicáveis para a agricultura inteligente.</a:t>
              </a:r>
            </a:p>
            <a:p>
              <a:pPr algn="just">
                <a:lnSpc>
                  <a:spcPct val="150000"/>
                </a:lnSpc>
              </a:pPr>
              <a:r>
                <a:rPr lang="pt-BR" sz="2600" b="1" dirty="0"/>
                <a:t>Objetivos específicos:</a:t>
              </a:r>
              <a:endParaRPr lang="pt-BR" sz="2600" dirty="0"/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Implementar um sistema baseado em </a:t>
              </a:r>
              <a:r>
                <a:rPr lang="pt-BR" sz="2600" b="1" dirty="0" err="1"/>
                <a:t>Arduino</a:t>
              </a:r>
              <a:r>
                <a:rPr lang="pt-BR" sz="2600" b="1" dirty="0"/>
                <a:t> Nano</a:t>
              </a:r>
              <a:r>
                <a:rPr lang="pt-BR" sz="2600" dirty="0"/>
                <a:t>, capaz de registrar temperatura, umidade do ar e umidade do solo;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 smtClean="0"/>
                <a:t>Integrar </a:t>
              </a:r>
              <a:r>
                <a:rPr lang="pt-BR" sz="2600" dirty="0"/>
                <a:t>o sistema com scripts em </a:t>
              </a:r>
              <a:r>
                <a:rPr lang="pt-BR" sz="2600" b="1" dirty="0"/>
                <a:t>Python</a:t>
              </a:r>
              <a:r>
                <a:rPr lang="pt-BR" sz="2600" dirty="0"/>
                <a:t> para cálculos estatísticos (média, mediana, desvio-padrão, intervalo interquartil</a:t>
              </a:r>
              <a:r>
                <a:rPr lang="pt-BR" sz="2600" dirty="0" smtClean="0"/>
                <a:t>);</a:t>
              </a:r>
              <a:endParaRPr lang="pt-BR" sz="2600" dirty="0"/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Demonstrar aplicações práticas para </a:t>
              </a:r>
              <a:r>
                <a:rPr lang="pt-BR" sz="2600" b="1" dirty="0"/>
                <a:t>educação científica</a:t>
              </a:r>
              <a:r>
                <a:rPr lang="pt-BR" sz="2600" dirty="0"/>
                <a:t> e </a:t>
              </a:r>
              <a:r>
                <a:rPr lang="pt-BR" sz="2600" b="1" dirty="0"/>
                <a:t>gestão sustentável de recursos hídricos e agrícolas</a:t>
              </a:r>
              <a:r>
                <a:rPr lang="pt-BR" sz="2600" dirty="0"/>
                <a:t>.</a:t>
              </a:r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246323" y="18180792"/>
            <a:ext cx="14247208" cy="2593677"/>
            <a:chOff x="0" y="-85725"/>
            <a:chExt cx="1538292" cy="280043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14" name="Google Shape;114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964994" y="18009458"/>
            <a:ext cx="14247208" cy="2593677"/>
            <a:chOff x="0" y="-85725"/>
            <a:chExt cx="1538292" cy="280043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964994" y="27559327"/>
            <a:ext cx="14628843" cy="14442310"/>
            <a:chOff x="0" y="-94728"/>
            <a:chExt cx="1579497" cy="1559357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579497" cy="1464629"/>
            </a:xfrm>
            <a:custGeom>
              <a:avLst/>
              <a:gdLst/>
              <a:ahLst/>
              <a:cxnLst/>
              <a:rect l="l" t="t" r="r" b="b"/>
              <a:pathLst>
                <a:path w="1579497" h="1464629" extrusionOk="0">
                  <a:moveTo>
                    <a:pt x="0" y="0"/>
                  </a:moveTo>
                  <a:lnTo>
                    <a:pt x="1579497" y="0"/>
                  </a:lnTo>
                  <a:lnTo>
                    <a:pt x="1579497" y="1464629"/>
                  </a:lnTo>
                  <a:lnTo>
                    <a:pt x="0" y="1464629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0" name="Google Shape;120;p1"/>
            <p:cNvSpPr txBox="1"/>
            <p:nvPr/>
          </p:nvSpPr>
          <p:spPr>
            <a:xfrm>
              <a:off x="0" y="-94728"/>
              <a:ext cx="1579496" cy="15503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A metodologia adotada foi organizada em </a:t>
              </a:r>
              <a:r>
                <a:rPr lang="pt-BR" sz="2600" b="1" dirty="0"/>
                <a:t>três etapas principais</a:t>
              </a:r>
              <a:r>
                <a:rPr lang="pt-BR" sz="2600" dirty="0"/>
                <a:t>: (i) </a:t>
              </a:r>
              <a:r>
                <a:rPr lang="pt-BR" sz="2600" b="1" dirty="0"/>
                <a:t>Aquisição de Dados</a:t>
              </a:r>
              <a:r>
                <a:rPr lang="pt-BR" sz="2600" dirty="0"/>
                <a:t>, com sensores DHT11 e HD-38 conectados ao </a:t>
              </a:r>
              <a:r>
                <a:rPr lang="pt-BR" sz="2600" dirty="0" err="1"/>
                <a:t>Arduino</a:t>
              </a:r>
              <a:r>
                <a:rPr lang="pt-BR" sz="2600" dirty="0"/>
                <a:t> Nano para medir temperatura, umidade do ar e umidade do solo em intervalos regulares; (</a:t>
              </a:r>
              <a:r>
                <a:rPr lang="pt-BR" sz="2600" dirty="0" err="1"/>
                <a:t>ii</a:t>
              </a:r>
              <a:r>
                <a:rPr lang="pt-BR" sz="2600" dirty="0"/>
                <a:t>) </a:t>
              </a:r>
              <a:r>
                <a:rPr lang="pt-BR" sz="2600" b="1" dirty="0"/>
                <a:t>Armazenamento e Processamento</a:t>
              </a:r>
              <a:r>
                <a:rPr lang="pt-BR" sz="2600" dirty="0"/>
                <a:t>, utilizando cartão SD para registro local e integração com scripts em Python para análise estatística dos dados, incluindo média, mediana, desvio-padrão e intervalo interquartil; e (</a:t>
              </a:r>
              <a:r>
                <a:rPr lang="pt-BR" sz="2600" dirty="0" err="1"/>
                <a:t>iii</a:t>
              </a:r>
              <a:r>
                <a:rPr lang="pt-BR" sz="2600" dirty="0"/>
                <a:t>) </a:t>
              </a:r>
              <a:r>
                <a:rPr lang="pt-BR" sz="2600" b="1" dirty="0"/>
                <a:t>Interpretação e Visualização</a:t>
              </a:r>
              <a:r>
                <a:rPr lang="pt-BR" sz="2600" dirty="0"/>
                <a:t>, onde os dados processados são avaliados para identificação de padrões, tendências e valores atípicos. Para maior clareza, cada etapa pode ser representada por </a:t>
              </a:r>
              <a:r>
                <a:rPr lang="pt-BR" sz="2600" b="1" dirty="0" smtClean="0"/>
                <a:t>fluxograma </a:t>
              </a:r>
              <a:r>
                <a:rPr lang="pt-BR" sz="2600" b="1" dirty="0"/>
                <a:t>de processo e </a:t>
              </a:r>
              <a:r>
                <a:rPr lang="pt-BR" sz="2600" b="1" dirty="0" smtClean="0"/>
                <a:t>esquema </a:t>
              </a:r>
              <a:r>
                <a:rPr lang="pt-BR" sz="2600" b="1" dirty="0"/>
                <a:t>do </a:t>
              </a:r>
              <a:r>
                <a:rPr lang="pt-BR" sz="2600" b="1" dirty="0" smtClean="0"/>
                <a:t>sistema</a:t>
              </a:r>
              <a:r>
                <a:rPr lang="pt-BR" sz="2600" dirty="0" smtClean="0"/>
                <a:t> </a:t>
              </a:r>
              <a:r>
                <a:rPr lang="pt-BR" sz="2600" dirty="0"/>
                <a:t>ilustrando a aquisição de sinais, armazenamento, análise estatística e interpretação de resultados</a:t>
              </a:r>
              <a:r>
                <a:rPr lang="pt-BR" sz="2600" dirty="0" smtClean="0"/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>
            <a:off x="1248265" y="26459793"/>
            <a:ext cx="14345563" cy="2593677"/>
            <a:chOff x="0" y="-85725"/>
            <a:chExt cx="1548911" cy="280043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23" name="Google Shape;123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"/>
          <p:cNvGrpSpPr/>
          <p:nvPr/>
        </p:nvGrpSpPr>
        <p:grpSpPr>
          <a:xfrm>
            <a:off x="964994" y="26262488"/>
            <a:ext cx="14345563" cy="2593677"/>
            <a:chOff x="0" y="-85725"/>
            <a:chExt cx="1548911" cy="280043"/>
          </a:xfrm>
        </p:grpSpPr>
        <p:sp>
          <p:nvSpPr>
            <p:cNvPr id="125" name="Google Shape;125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26" name="Google Shape;126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"/>
          <p:cNvGrpSpPr/>
          <p:nvPr/>
        </p:nvGrpSpPr>
        <p:grpSpPr>
          <a:xfrm>
            <a:off x="17724745" y="9222418"/>
            <a:ext cx="13185533" cy="15409979"/>
            <a:chOff x="0" y="-85725"/>
            <a:chExt cx="1423661" cy="1663838"/>
          </a:xfrm>
        </p:grpSpPr>
        <p:sp>
          <p:nvSpPr>
            <p:cNvPr id="128" name="Google Shape;128;p1"/>
            <p:cNvSpPr/>
            <p:nvPr/>
          </p:nvSpPr>
          <p:spPr>
            <a:xfrm>
              <a:off x="0" y="0"/>
              <a:ext cx="1423661" cy="1578113"/>
            </a:xfrm>
            <a:custGeom>
              <a:avLst/>
              <a:gdLst/>
              <a:ahLst/>
              <a:cxnLst/>
              <a:rect l="l" t="t" r="r" b="b"/>
              <a:pathLst>
                <a:path w="1423661" h="1578113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578113"/>
                  </a:lnTo>
                  <a:lnTo>
                    <a:pt x="0" y="157811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9" name="Google Shape;129;p1"/>
            <p:cNvSpPr txBox="1"/>
            <p:nvPr/>
          </p:nvSpPr>
          <p:spPr>
            <a:xfrm>
              <a:off x="0" y="-85725"/>
              <a:ext cx="1423661" cy="1663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Os resultados parciais mostraram variações consistentes na </a:t>
              </a:r>
              <a:r>
                <a:rPr lang="pt-BR" sz="2600" b="1" dirty="0"/>
                <a:t>temperatura ao longo do dia</a:t>
              </a:r>
              <a:r>
                <a:rPr lang="pt-BR" sz="2600" dirty="0"/>
                <a:t> e estabilidade relativa na </a:t>
              </a:r>
              <a:r>
                <a:rPr lang="pt-BR" sz="2600" b="1" dirty="0"/>
                <a:t>umidade do solo</a:t>
              </a:r>
              <a:r>
                <a:rPr lang="pt-BR" sz="2600" dirty="0"/>
                <a:t>. A análise estatística permitiu identificar tendências diárias e valores atípicos pontuais, evidenciando a confiabilidade dos sensores e a precisão do sistema embarcado. A integração entre hardware acessível e métodos estatísticos demonstrou-se eficaz para </a:t>
              </a:r>
              <a:r>
                <a:rPr lang="pt-BR" sz="2600" b="1" dirty="0"/>
                <a:t>monitoramento ambiental replicável</a:t>
              </a:r>
              <a:r>
                <a:rPr lang="pt-BR" sz="2600" dirty="0"/>
                <a:t>, com potencial para aplicações em </a:t>
              </a:r>
              <a:r>
                <a:rPr lang="pt-BR" sz="2600" b="1" dirty="0"/>
                <a:t>educação científica</a:t>
              </a:r>
              <a:r>
                <a:rPr lang="pt-BR" sz="2600" dirty="0"/>
                <a:t>, gestão de irrigação e </a:t>
              </a:r>
              <a:r>
                <a:rPr lang="pt-BR" sz="2600" b="1" dirty="0"/>
                <a:t>sustentabilidade agrícola</a:t>
              </a:r>
              <a:r>
                <a:rPr lang="pt-BR" sz="2600" dirty="0" smtClean="0"/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"/>
          <p:cNvGrpSpPr/>
          <p:nvPr/>
        </p:nvGrpSpPr>
        <p:grpSpPr>
          <a:xfrm>
            <a:off x="17980069" y="8269724"/>
            <a:ext cx="12930209" cy="2593677"/>
            <a:chOff x="0" y="-85725"/>
            <a:chExt cx="1396093" cy="280043"/>
          </a:xfrm>
        </p:grpSpPr>
        <p:sp>
          <p:nvSpPr>
            <p:cNvPr id="131" name="Google Shape;131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32" name="Google Shape;132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"/>
          <p:cNvGrpSpPr/>
          <p:nvPr/>
        </p:nvGrpSpPr>
        <p:grpSpPr>
          <a:xfrm>
            <a:off x="17724745" y="8098390"/>
            <a:ext cx="12930209" cy="2593677"/>
            <a:chOff x="0" y="-85725"/>
            <a:chExt cx="1396093" cy="280043"/>
          </a:xfrm>
        </p:grpSpPr>
        <p:sp>
          <p:nvSpPr>
            <p:cNvPr id="134" name="Google Shape;134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35" name="Google Shape;135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"/>
          <p:cNvGrpSpPr/>
          <p:nvPr/>
        </p:nvGrpSpPr>
        <p:grpSpPr>
          <a:xfrm>
            <a:off x="17724745" y="25792965"/>
            <a:ext cx="13185533" cy="10801112"/>
            <a:chOff x="0" y="-85725"/>
            <a:chExt cx="1423661" cy="1166212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1423661" cy="1080487"/>
            </a:xfrm>
            <a:custGeom>
              <a:avLst/>
              <a:gdLst/>
              <a:ahLst/>
              <a:cxnLst/>
              <a:rect l="l" t="t" r="r" b="b"/>
              <a:pathLst>
                <a:path w="1423661" h="1080487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080487"/>
                  </a:lnTo>
                  <a:lnTo>
                    <a:pt x="0" y="1080487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38" name="Google Shape;138;p1"/>
            <p:cNvSpPr txBox="1"/>
            <p:nvPr/>
          </p:nvSpPr>
          <p:spPr>
            <a:xfrm>
              <a:off x="0" y="-85725"/>
              <a:ext cx="1423661" cy="116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Conclui-se </a:t>
              </a:r>
              <a:r>
                <a:rPr lang="pt-BR" sz="2600" dirty="0"/>
                <a:t>que o desenvolvimento do sistema baseado em </a:t>
              </a:r>
              <a:r>
                <a:rPr lang="pt-BR" sz="2600" dirty="0" err="1"/>
                <a:t>Arduino</a:t>
              </a:r>
              <a:r>
                <a:rPr lang="pt-BR" sz="2600" dirty="0"/>
                <a:t> para coleta e análise de dados ambientais oferece uma solução </a:t>
              </a:r>
              <a:r>
                <a:rPr lang="pt-BR" sz="2600" b="1" dirty="0"/>
                <a:t>educativa, de baixo custo e replicável</a:t>
              </a:r>
              <a:r>
                <a:rPr lang="pt-BR" sz="2600" dirty="0"/>
                <a:t>, capaz de auxiliar agricultores, estudantes e gestores ambientais no </a:t>
              </a:r>
              <a:r>
                <a:rPr lang="pt-BR" sz="2600" b="1" dirty="0"/>
                <a:t>monitoramento contínuo de variáveis críticas</a:t>
              </a:r>
              <a:r>
                <a:rPr lang="pt-BR" sz="2600" dirty="0"/>
                <a:t>. A combinação de </a:t>
              </a:r>
              <a:r>
                <a:rPr lang="pt-BR" sz="2600" b="1" dirty="0"/>
                <a:t>sensores acessíveis, armazenamento de dados e análise estatística</a:t>
              </a:r>
              <a:r>
                <a:rPr lang="pt-BR" sz="2600" dirty="0"/>
                <a:t> permite gerar informações confiáveis, promovendo </a:t>
              </a:r>
              <a:r>
                <a:rPr lang="pt-BR" sz="2600" b="1" dirty="0"/>
                <a:t>autonomia tecnológica</a:t>
              </a:r>
              <a:r>
                <a:rPr lang="pt-BR" sz="2600" dirty="0"/>
                <a:t>, educação científica e soluções adequadas à realidade do semiárido brasileiro</a:t>
              </a:r>
              <a:r>
                <a:rPr lang="pt-BR" sz="2600" dirty="0" smtClean="0"/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17980069" y="24202522"/>
            <a:ext cx="12930209" cy="2593677"/>
            <a:chOff x="0" y="-85725"/>
            <a:chExt cx="1396093" cy="280043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41" name="Google Shape;141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17724745" y="24031188"/>
            <a:ext cx="12930209" cy="2593677"/>
            <a:chOff x="0" y="-85725"/>
            <a:chExt cx="1396093" cy="280043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44" name="Google Shape;144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4243405" y="3679595"/>
            <a:ext cx="21934443" cy="2517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0017"/>
              </a:lnSpc>
            </a:pPr>
            <a:r>
              <a:rPr lang="pt-BR" sz="7437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APLICAÇÕES DO ARDUINO NA AGRICULTURA: COLETA E ANÁLISE DE DADOS</a:t>
            </a:r>
            <a:endParaRPr dirty="0"/>
          </a:p>
        </p:txBody>
      </p:sp>
      <p:sp>
        <p:nvSpPr>
          <p:cNvPr id="146" name="Google Shape;146;p1"/>
          <p:cNvSpPr txBox="1"/>
          <p:nvPr/>
        </p:nvSpPr>
        <p:spPr>
          <a:xfrm>
            <a:off x="2546083" y="6619373"/>
            <a:ext cx="25124894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       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Jefferson </a:t>
            </a:r>
            <a:r>
              <a:rPr lang="en-US" sz="2800" dirty="0" err="1"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 dos 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Santos¹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2800" dirty="0" err="1">
                <a:latin typeface="Oswald"/>
                <a:ea typeface="Oswald"/>
                <a:cs typeface="Oswald"/>
                <a:sym typeface="Oswald"/>
              </a:rPr>
              <a:t>Rayssa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 Albuquerque 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Silva²,  </a:t>
            </a:r>
            <a:r>
              <a:rPr lang="en-US" sz="2800" dirty="0" err="1">
                <a:latin typeface="Oswald"/>
                <a:ea typeface="Oswald"/>
                <a:cs typeface="Oswald"/>
                <a:sym typeface="Oswald"/>
              </a:rPr>
              <a:t>Iandra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800" dirty="0" err="1">
                <a:latin typeface="Oswald"/>
                <a:ea typeface="Oswald"/>
                <a:cs typeface="Oswald"/>
                <a:sym typeface="Oswald"/>
              </a:rPr>
              <a:t>Valéria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 de Oliveira  e 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Filipe de Souza Jorge³ </a:t>
            </a: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sz="1200" dirty="0"/>
          </a:p>
          <a:p>
            <a:pPr lvl="0" algn="ctr">
              <a:lnSpc>
                <a:spcPct val="115000"/>
              </a:lnSpc>
            </a:pP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                           ¹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Professor 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da EREFEM Monsenhor José </a:t>
            </a:r>
            <a:r>
              <a:rPr lang="pt-BR" sz="2800" dirty="0" err="1"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jefferson.bsantos42@professor.educacao.pe.gov.br,Arcoverde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Pernambuco. </a:t>
            </a:r>
          </a:p>
          <a:p>
            <a:pPr lvl="0" algn="ctr">
              <a:lnSpc>
                <a:spcPct val="115000"/>
              </a:lnSpc>
            </a:pPr>
            <a:r>
              <a:rPr lang="pt-BR" sz="2800" baseline="30000" dirty="0" smtClean="0">
                <a:latin typeface="Oswald" panose="020B0604020202020204" charset="0"/>
                <a:ea typeface="Calibri" panose="020F0502020204030204" pitchFamily="34" charset="0"/>
              </a:rPr>
              <a:t>2,3,4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Estudante 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da EREFEM Monsenhor José </a:t>
            </a:r>
            <a:r>
              <a:rPr lang="pt-BR" sz="2800" dirty="0" err="1"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jeffrey24arduino@gmail.com, Arcoverde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Pernambuco.</a:t>
            </a:r>
            <a:endParaRPr sz="1200" dirty="0" smtClean="0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5905502" y="831351"/>
            <a:ext cx="22068704" cy="22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MOSTRA DE ESTUDANTES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1248265" y="9222291"/>
            <a:ext cx="13674509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INTRODUÇÃO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1246323" y="19165837"/>
            <a:ext cx="13676451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OBJETIVOS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1248265" y="27444838"/>
            <a:ext cx="13923486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METODOLOGIA</a:t>
            </a:r>
            <a:endParaRPr/>
          </a:p>
        </p:txBody>
      </p:sp>
      <p:sp>
        <p:nvSpPr>
          <p:cNvPr id="151" name="Google Shape;151;p1"/>
          <p:cNvSpPr txBox="1"/>
          <p:nvPr/>
        </p:nvSpPr>
        <p:spPr>
          <a:xfrm>
            <a:off x="17971036" y="9365198"/>
            <a:ext cx="12683918" cy="92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6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RESULTADOS E DISCUSSÃO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17820461" y="25310198"/>
            <a:ext cx="12919256" cy="108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CONCLUSÕES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27869094" y="39711105"/>
            <a:ext cx="4520413" cy="1767000"/>
          </a:xfrm>
          <a:custGeom>
            <a:avLst/>
            <a:gdLst/>
            <a:ahLst/>
            <a:cxnLst/>
            <a:rect l="l" t="t" r="r" b="b"/>
            <a:pathLst>
              <a:path w="4520413" h="1767000" extrusionOk="0">
                <a:moveTo>
                  <a:pt x="0" y="0"/>
                </a:moveTo>
                <a:lnTo>
                  <a:pt x="4520412" y="0"/>
                </a:lnTo>
                <a:lnTo>
                  <a:pt x="4520412" y="1767000"/>
                </a:lnTo>
                <a:lnTo>
                  <a:pt x="0" y="17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5600"/>
            </a:stretch>
          </a:blipFill>
          <a:ln>
            <a:noFill/>
          </a:ln>
        </p:spPr>
      </p:sp>
      <p:sp>
        <p:nvSpPr>
          <p:cNvPr id="154" name="Google Shape;154;p1"/>
          <p:cNvSpPr/>
          <p:nvPr/>
        </p:nvSpPr>
        <p:spPr>
          <a:xfrm>
            <a:off x="28571868" y="36794878"/>
            <a:ext cx="3114865" cy="3639784"/>
          </a:xfrm>
          <a:custGeom>
            <a:avLst/>
            <a:gdLst/>
            <a:ahLst/>
            <a:cxnLst/>
            <a:rect l="l" t="t" r="r" b="b"/>
            <a:pathLst>
              <a:path w="3114865" h="3639784" extrusionOk="0">
                <a:moveTo>
                  <a:pt x="0" y="0"/>
                </a:moveTo>
                <a:lnTo>
                  <a:pt x="3114864" y="0"/>
                </a:lnTo>
                <a:lnTo>
                  <a:pt x="3114864" y="3639783"/>
                </a:lnTo>
                <a:lnTo>
                  <a:pt x="0" y="3639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1"/>
          <p:cNvSpPr/>
          <p:nvPr/>
        </p:nvSpPr>
        <p:spPr>
          <a:xfrm>
            <a:off x="28356571" y="41386148"/>
            <a:ext cx="3335656" cy="1050227"/>
          </a:xfrm>
          <a:custGeom>
            <a:avLst/>
            <a:gdLst/>
            <a:ahLst/>
            <a:cxnLst/>
            <a:rect l="l" t="t" r="r" b="b"/>
            <a:pathLst>
              <a:path w="3335656" h="1050227" extrusionOk="0">
                <a:moveTo>
                  <a:pt x="0" y="0"/>
                </a:moveTo>
                <a:lnTo>
                  <a:pt x="3335656" y="0"/>
                </a:lnTo>
                <a:lnTo>
                  <a:pt x="3335656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2203" t="-235062" r="-25552" b="-390574"/>
            </a:stretch>
          </a:blipFill>
          <a:ln>
            <a:noFill/>
          </a:ln>
        </p:spPr>
      </p:sp>
      <p:sp>
        <p:nvSpPr>
          <p:cNvPr id="156" name="Google Shape;156;p1"/>
          <p:cNvSpPr/>
          <p:nvPr/>
        </p:nvSpPr>
        <p:spPr>
          <a:xfrm>
            <a:off x="24000690" y="37447405"/>
            <a:ext cx="4690637" cy="2662466"/>
          </a:xfrm>
          <a:custGeom>
            <a:avLst/>
            <a:gdLst/>
            <a:ahLst/>
            <a:cxnLst/>
            <a:rect l="l" t="t" r="r" b="b"/>
            <a:pathLst>
              <a:path w="4690637" h="2662466" extrusionOk="0">
                <a:moveTo>
                  <a:pt x="0" y="0"/>
                </a:moveTo>
                <a:lnTo>
                  <a:pt x="4690636" y="0"/>
                </a:lnTo>
                <a:lnTo>
                  <a:pt x="4690636" y="2662466"/>
                </a:lnTo>
                <a:lnTo>
                  <a:pt x="0" y="2662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6171"/>
            </a:stretch>
          </a:blipFill>
          <a:ln>
            <a:noFill/>
          </a:ln>
        </p:spPr>
      </p:sp>
      <p:sp>
        <p:nvSpPr>
          <p:cNvPr id="157" name="Google Shape;157;p1"/>
          <p:cNvSpPr txBox="1"/>
          <p:nvPr/>
        </p:nvSpPr>
        <p:spPr>
          <a:xfrm>
            <a:off x="24281103" y="40475005"/>
            <a:ext cx="4129810" cy="152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93" b="1" i="0" u="none" strike="noStrike" cap="none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MOSTRA CIENTÍFICA DO SERTÃO DO MOXOTÓ IPANEMA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6881391" y="37337027"/>
            <a:ext cx="6857899" cy="1864512"/>
          </a:xfrm>
          <a:custGeom>
            <a:avLst/>
            <a:gdLst/>
            <a:ahLst/>
            <a:cxnLst/>
            <a:rect l="l" t="t" r="r" b="b"/>
            <a:pathLst>
              <a:path w="6857899" h="1864512" extrusionOk="0">
                <a:moveTo>
                  <a:pt x="0" y="0"/>
                </a:moveTo>
                <a:lnTo>
                  <a:pt x="6857899" y="0"/>
                </a:lnTo>
                <a:lnTo>
                  <a:pt x="6857899" y="1864513"/>
                </a:lnTo>
                <a:lnTo>
                  <a:pt x="0" y="1864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9" name="Google Shape;159;p1"/>
          <p:cNvSpPr/>
          <p:nvPr/>
        </p:nvSpPr>
        <p:spPr>
          <a:xfrm>
            <a:off x="17520707" y="39370920"/>
            <a:ext cx="5718033" cy="1744000"/>
          </a:xfrm>
          <a:custGeom>
            <a:avLst/>
            <a:gdLst/>
            <a:ahLst/>
            <a:cxnLst/>
            <a:rect l="l" t="t" r="r" b="b"/>
            <a:pathLst>
              <a:path w="5718033" h="1744000" extrusionOk="0">
                <a:moveTo>
                  <a:pt x="0" y="0"/>
                </a:moveTo>
                <a:lnTo>
                  <a:pt x="5718032" y="0"/>
                </a:lnTo>
                <a:lnTo>
                  <a:pt x="5718032" y="1744000"/>
                </a:lnTo>
                <a:lnTo>
                  <a:pt x="0" y="17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0" name="Google Shape;160;p1"/>
          <p:cNvGrpSpPr/>
          <p:nvPr/>
        </p:nvGrpSpPr>
        <p:grpSpPr>
          <a:xfrm>
            <a:off x="16465151" y="41266896"/>
            <a:ext cx="7793966" cy="971369"/>
            <a:chOff x="0" y="0"/>
            <a:chExt cx="10391956" cy="1295159"/>
          </a:xfrm>
        </p:grpSpPr>
        <p:sp>
          <p:nvSpPr>
            <p:cNvPr id="161" name="Google Shape;161;p1"/>
            <p:cNvSpPr/>
            <p:nvPr/>
          </p:nvSpPr>
          <p:spPr>
            <a:xfrm>
              <a:off x="2080443" y="152586"/>
              <a:ext cx="4125115" cy="1069555"/>
            </a:xfrm>
            <a:custGeom>
              <a:avLst/>
              <a:gdLst/>
              <a:ahLst/>
              <a:cxnLst/>
              <a:rect l="l" t="t" r="r" b="b"/>
              <a:pathLst>
                <a:path w="4125115" h="1069555" extrusionOk="0">
                  <a:moveTo>
                    <a:pt x="0" y="0"/>
                  </a:moveTo>
                  <a:lnTo>
                    <a:pt x="4125116" y="0"/>
                  </a:lnTo>
                  <a:lnTo>
                    <a:pt x="4125116" y="1069554"/>
                  </a:lnTo>
                  <a:lnTo>
                    <a:pt x="0" y="10695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l="-29637"/>
              </a:stretch>
            </a:blipFill>
            <a:ln>
              <a:noFill/>
            </a:ln>
          </p:spPr>
        </p:sp>
        <p:sp>
          <p:nvSpPr>
            <p:cNvPr id="162" name="Google Shape;162;p1"/>
            <p:cNvSpPr/>
            <p:nvPr/>
          </p:nvSpPr>
          <p:spPr>
            <a:xfrm>
              <a:off x="0" y="0"/>
              <a:ext cx="2214777" cy="1012847"/>
            </a:xfrm>
            <a:custGeom>
              <a:avLst/>
              <a:gdLst/>
              <a:ahLst/>
              <a:cxnLst/>
              <a:rect l="l" t="t" r="r" b="b"/>
              <a:pathLst>
                <a:path w="2214777" h="1012847" extrusionOk="0">
                  <a:moveTo>
                    <a:pt x="0" y="0"/>
                  </a:moveTo>
                  <a:lnTo>
                    <a:pt x="2214777" y="0"/>
                  </a:lnTo>
                  <a:lnTo>
                    <a:pt x="2214777" y="1012847"/>
                  </a:lnTo>
                  <a:lnTo>
                    <a:pt x="0" y="10128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l="-49979" t="-400918" r="-191107" b="-76648"/>
              </a:stretch>
            </a:blipFill>
            <a:ln>
              <a:noFill/>
            </a:ln>
          </p:spPr>
        </p:sp>
        <p:sp>
          <p:nvSpPr>
            <p:cNvPr id="163" name="Google Shape;163;p1"/>
            <p:cNvSpPr/>
            <p:nvPr/>
          </p:nvSpPr>
          <p:spPr>
            <a:xfrm>
              <a:off x="5980114" y="152586"/>
              <a:ext cx="4411842" cy="1142573"/>
            </a:xfrm>
            <a:custGeom>
              <a:avLst/>
              <a:gdLst/>
              <a:ahLst/>
              <a:cxnLst/>
              <a:rect l="l" t="t" r="r" b="b"/>
              <a:pathLst>
                <a:path w="4411842" h="1142573" extrusionOk="0">
                  <a:moveTo>
                    <a:pt x="0" y="0"/>
                  </a:moveTo>
                  <a:lnTo>
                    <a:pt x="4411843" y="0"/>
                  </a:lnTo>
                  <a:lnTo>
                    <a:pt x="4411843" y="1142573"/>
                  </a:lnTo>
                  <a:lnTo>
                    <a:pt x="0" y="11425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t="-68144" b="-89110"/>
              </a:stretch>
            </a:blipFill>
            <a:ln>
              <a:noFill/>
            </a:ln>
          </p:spPr>
        </p:sp>
      </p:grpSp>
      <p:sp>
        <p:nvSpPr>
          <p:cNvPr id="164" name="Google Shape;164;p1"/>
          <p:cNvSpPr/>
          <p:nvPr/>
        </p:nvSpPr>
        <p:spPr>
          <a:xfrm>
            <a:off x="29582010" y="786619"/>
            <a:ext cx="615775" cy="1005347"/>
          </a:xfrm>
          <a:custGeom>
            <a:avLst/>
            <a:gdLst/>
            <a:ahLst/>
            <a:cxnLst/>
            <a:rect l="l" t="t" r="r" b="b"/>
            <a:pathLst>
              <a:path w="615775" h="1005347" extrusionOk="0">
                <a:moveTo>
                  <a:pt x="0" y="0"/>
                </a:moveTo>
                <a:lnTo>
                  <a:pt x="615775" y="0"/>
                </a:lnTo>
                <a:lnTo>
                  <a:pt x="615775" y="1005346"/>
                </a:lnTo>
                <a:lnTo>
                  <a:pt x="0" y="1005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"/>
          <p:cNvSpPr/>
          <p:nvPr/>
        </p:nvSpPr>
        <p:spPr>
          <a:xfrm>
            <a:off x="29019923" y="1791965"/>
            <a:ext cx="2355724" cy="2717490"/>
          </a:xfrm>
          <a:custGeom>
            <a:avLst/>
            <a:gdLst/>
            <a:ahLst/>
            <a:cxnLst/>
            <a:rect l="l" t="t" r="r" b="b"/>
            <a:pathLst>
              <a:path w="2355724" h="2717490" extrusionOk="0">
                <a:moveTo>
                  <a:pt x="0" y="0"/>
                </a:moveTo>
                <a:lnTo>
                  <a:pt x="2355724" y="0"/>
                </a:lnTo>
                <a:lnTo>
                  <a:pt x="2355724" y="2717490"/>
                </a:lnTo>
                <a:lnTo>
                  <a:pt x="0" y="2717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6" name="Google Shape;166;p1"/>
          <p:cNvSpPr/>
          <p:nvPr/>
        </p:nvSpPr>
        <p:spPr>
          <a:xfrm>
            <a:off x="28284503" y="6686048"/>
            <a:ext cx="3911138" cy="1094154"/>
          </a:xfrm>
          <a:custGeom>
            <a:avLst/>
            <a:gdLst/>
            <a:ahLst/>
            <a:cxnLst/>
            <a:rect l="l" t="t" r="r" b="b"/>
            <a:pathLst>
              <a:path w="3911138" h="1094154" extrusionOk="0">
                <a:moveTo>
                  <a:pt x="0" y="0"/>
                </a:moveTo>
                <a:lnTo>
                  <a:pt x="3911138" y="0"/>
                </a:lnTo>
                <a:lnTo>
                  <a:pt x="3911138" y="1094154"/>
                </a:lnTo>
                <a:lnTo>
                  <a:pt x="0" y="1094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1"/>
          <p:cNvSpPr/>
          <p:nvPr/>
        </p:nvSpPr>
        <p:spPr>
          <a:xfrm>
            <a:off x="28446739" y="4719005"/>
            <a:ext cx="3641518" cy="1760067"/>
          </a:xfrm>
          <a:custGeom>
            <a:avLst/>
            <a:gdLst/>
            <a:ahLst/>
            <a:cxnLst/>
            <a:rect l="l" t="t" r="r" b="b"/>
            <a:pathLst>
              <a:path w="3641518" h="1760067" extrusionOk="0">
                <a:moveTo>
                  <a:pt x="0" y="0"/>
                </a:moveTo>
                <a:lnTo>
                  <a:pt x="3641518" y="0"/>
                </a:lnTo>
                <a:lnTo>
                  <a:pt x="3641518" y="1760067"/>
                </a:lnTo>
                <a:lnTo>
                  <a:pt x="0" y="1760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1" descr="image5.png"/>
          <p:cNvSpPr/>
          <p:nvPr/>
        </p:nvSpPr>
        <p:spPr>
          <a:xfrm rot="10800000">
            <a:off x="58930" y="77864"/>
            <a:ext cx="5846544" cy="5871159"/>
          </a:xfrm>
          <a:custGeom>
            <a:avLst/>
            <a:gdLst/>
            <a:ahLst/>
            <a:cxnLst/>
            <a:rect l="l" t="t" r="r" b="b"/>
            <a:pathLst>
              <a:path w="9923907" h="9965690" extrusionOk="0">
                <a:moveTo>
                  <a:pt x="9923907" y="9965690"/>
                </a:moveTo>
                <a:lnTo>
                  <a:pt x="0" y="9965690"/>
                </a:lnTo>
                <a:lnTo>
                  <a:pt x="0" y="0"/>
                </a:lnTo>
                <a:lnTo>
                  <a:pt x="9923907" y="0"/>
                </a:lnTo>
                <a:lnTo>
                  <a:pt x="9923907" y="996569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r="-100324" b="-99485"/>
            </a:stretch>
          </a:blipFill>
          <a:ln>
            <a:noFill/>
          </a:ln>
        </p:spPr>
      </p:sp>
      <p:sp>
        <p:nvSpPr>
          <p:cNvPr id="169" name="Google Shape;169;p1" descr="image4.png"/>
          <p:cNvSpPr/>
          <p:nvPr/>
        </p:nvSpPr>
        <p:spPr>
          <a:xfrm rot="10800000">
            <a:off x="-155980" y="89995"/>
            <a:ext cx="1950682" cy="1945682"/>
          </a:xfrm>
          <a:custGeom>
            <a:avLst/>
            <a:gdLst/>
            <a:ahLst/>
            <a:cxnLst/>
            <a:rect l="l" t="t" r="r" b="b"/>
            <a:pathLst>
              <a:path w="3220720" h="3212465" extrusionOk="0">
                <a:moveTo>
                  <a:pt x="3220720" y="3212465"/>
                </a:moveTo>
                <a:lnTo>
                  <a:pt x="0" y="3212465"/>
                </a:lnTo>
                <a:lnTo>
                  <a:pt x="0" y="0"/>
                </a:lnTo>
                <a:lnTo>
                  <a:pt x="3220720" y="0"/>
                </a:lnTo>
                <a:lnTo>
                  <a:pt x="3220720" y="3212465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r="-97902" b="-98416"/>
            </a:stretch>
          </a:blipFill>
          <a:ln>
            <a:noFill/>
          </a:ln>
        </p:spPr>
      </p:sp>
      <p:grpSp>
        <p:nvGrpSpPr>
          <p:cNvPr id="170" name="Google Shape;170;p1"/>
          <p:cNvGrpSpPr/>
          <p:nvPr/>
        </p:nvGrpSpPr>
        <p:grpSpPr>
          <a:xfrm>
            <a:off x="964994" y="10069441"/>
            <a:ext cx="14528538" cy="8457752"/>
            <a:chOff x="0" y="-85725"/>
            <a:chExt cx="1568667" cy="913196"/>
          </a:xfrm>
        </p:grpSpPr>
        <p:sp>
          <p:nvSpPr>
            <p:cNvPr id="171" name="Google Shape;171;p1"/>
            <p:cNvSpPr/>
            <p:nvPr/>
          </p:nvSpPr>
          <p:spPr>
            <a:xfrm>
              <a:off x="0" y="0"/>
              <a:ext cx="1568667" cy="827471"/>
            </a:xfrm>
            <a:custGeom>
              <a:avLst/>
              <a:gdLst/>
              <a:ahLst/>
              <a:cxnLst/>
              <a:rect l="l" t="t" r="r" b="b"/>
              <a:pathLst>
                <a:path w="1568667" h="827471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827471"/>
                  </a:lnTo>
                  <a:lnTo>
                    <a:pt x="0" y="827471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72" name="Google Shape;172;p1"/>
            <p:cNvSpPr txBox="1"/>
            <p:nvPr/>
          </p:nvSpPr>
          <p:spPr>
            <a:xfrm>
              <a:off x="0" y="-85725"/>
              <a:ext cx="1568667" cy="91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Este trabalho apresenta o desenvolvimento de um </a:t>
              </a:r>
              <a:r>
                <a:rPr lang="pt-BR" sz="2600" b="1" dirty="0"/>
                <a:t>sistema embarcado baseado na plataforma </a:t>
              </a:r>
              <a:r>
                <a:rPr lang="pt-BR" sz="2600" b="1" dirty="0" err="1"/>
                <a:t>Arduino</a:t>
              </a:r>
              <a:r>
                <a:rPr lang="pt-BR" sz="2600" dirty="0"/>
                <a:t>, voltado ao </a:t>
              </a:r>
              <a:r>
                <a:rPr lang="pt-BR" sz="2600" b="1" dirty="0"/>
                <a:t>monitoramento ambiental</a:t>
              </a:r>
              <a:r>
                <a:rPr lang="pt-BR" sz="2600" dirty="0"/>
                <a:t>, com potencial aplicação na </a:t>
              </a:r>
              <a:r>
                <a:rPr lang="pt-BR" sz="2600" b="1" dirty="0"/>
                <a:t>agricultura inteligente</a:t>
              </a:r>
              <a:r>
                <a:rPr lang="pt-BR" sz="2600" dirty="0"/>
                <a:t> e na </a:t>
              </a:r>
              <a:r>
                <a:rPr lang="pt-BR" sz="2600" b="1" dirty="0"/>
                <a:t>educação científica</a:t>
              </a:r>
              <a:r>
                <a:rPr lang="pt-BR" sz="2600" dirty="0"/>
                <a:t>. A proposta surge em resposta à crescente demanda por </a:t>
              </a:r>
              <a:r>
                <a:rPr lang="pt-BR" sz="2600" b="1" dirty="0"/>
                <a:t>soluções tecnológicas de baixo custo</a:t>
              </a:r>
              <a:r>
                <a:rPr lang="pt-BR" sz="2600" dirty="0"/>
                <a:t>, especialmente em contextos como o município de </a:t>
              </a:r>
              <a:r>
                <a:rPr lang="pt-BR" sz="2600" b="1" dirty="0"/>
                <a:t>Arcoverde (PE)</a:t>
              </a:r>
              <a:r>
                <a:rPr lang="pt-BR" sz="2600" dirty="0"/>
                <a:t>, inserido no semiárido brasileiro, onde o controle de variáveis ambientais é essencial para a </a:t>
              </a:r>
              <a:r>
                <a:rPr lang="pt-BR" sz="2600" b="1" dirty="0"/>
                <a:t>sustentabilidade das práticas agrícolas</a:t>
              </a:r>
              <a:r>
                <a:rPr lang="pt-BR" sz="2600" dirty="0"/>
                <a:t> e para o uso eficiente dos recursos naturais. O sistema permite registrar, tratar e interpretar dados ambientais em tempo real, promovendo </a:t>
              </a:r>
              <a:r>
                <a:rPr lang="pt-BR" sz="2600" b="1" dirty="0"/>
                <a:t>autonomia tecnológica</a:t>
              </a:r>
              <a:r>
                <a:rPr lang="pt-BR" sz="2600" dirty="0"/>
                <a:t>, </a:t>
              </a:r>
              <a:r>
                <a:rPr lang="pt-BR" sz="2600" b="1" dirty="0"/>
                <a:t>educação científica</a:t>
              </a:r>
              <a:r>
                <a:rPr lang="pt-BR" sz="2600" dirty="0"/>
                <a:t> e alternativas viáveis para o acompanhamento contínuo das condições ambientais.</a:t>
              </a: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09" y="34396124"/>
            <a:ext cx="14420934" cy="752212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50"/>
          <a:stretch/>
        </p:blipFill>
        <p:spPr>
          <a:xfrm rot="16200000">
            <a:off x="10844455" y="33846991"/>
            <a:ext cx="2989561" cy="574278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5823" y="15740912"/>
            <a:ext cx="5928596" cy="3729352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461" y="19869251"/>
            <a:ext cx="6027869" cy="379998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0387" y="15756205"/>
            <a:ext cx="6604567" cy="381801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449432" y="18430828"/>
            <a:ext cx="3756780" cy="6654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562</Words>
  <Application>Microsoft Office PowerPoint</Application>
  <PresentationFormat>Personalizar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Oswald</vt:lpstr>
      <vt:lpstr>Open Sans</vt:lpstr>
      <vt:lpstr>Calibri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Jeffrey24</dc:creator>
  <cp:lastModifiedBy>Jeffrey24</cp:lastModifiedBy>
  <cp:revision>10</cp:revision>
  <dcterms:created xsi:type="dcterms:W3CDTF">2006-08-16T00:00:00Z</dcterms:created>
  <dcterms:modified xsi:type="dcterms:W3CDTF">2025-10-23T13:45:00Z</dcterms:modified>
</cp:coreProperties>
</file>