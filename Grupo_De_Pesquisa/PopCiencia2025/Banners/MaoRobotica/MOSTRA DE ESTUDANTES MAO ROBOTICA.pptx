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7700" cy="43192700"/>
  <p:notesSz cx="6858000" cy="9144000"/>
  <p:embeddedFontLst>
    <p:embeddedFont>
      <p:font typeface="Oswald" panose="020B0604020202020204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Open Sans" panose="020B0604020202020204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tRg73fWWK6U87ut5c4ycNaHvO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218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e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A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avLst/>
            <a:gdLst/>
            <a:ahLst/>
            <a:cxnLst/>
            <a:rect l="l" t="t" r="r" b="b"/>
            <a:pathLst>
              <a:path w="3712995" h="8472538" extrusionOk="0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avLst/>
              <a:gdLst/>
              <a:ahLst/>
              <a:cxnLst/>
              <a:rect l="l" t="t" r="r" b="b"/>
              <a:pathLst>
                <a:path w="2758009" h="334757" extrusionOk="0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avLst/>
              <a:gdLst/>
              <a:ahLst/>
              <a:cxnLst/>
              <a:rect l="l" t="t" r="r" b="b"/>
              <a:pathLst>
                <a:path w="1355228" h="456505" extrusionOk="0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avLst/>
              <a:gdLst/>
              <a:ahLst/>
              <a:cxnLst/>
              <a:rect l="l" t="t" r="r" b="b"/>
              <a:pathLst>
                <a:path w="2601381" h="289057" extrusionOk="0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avLst/>
            <a:gdLst/>
            <a:ahLst/>
            <a:cxnLst/>
            <a:rect l="l" t="t" r="r" b="b"/>
            <a:pathLst>
              <a:path w="4323198" h="9864937" extrusionOk="0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321806"/>
            <a:ext cx="14528538" cy="7484925"/>
            <a:chOff x="0" y="-85725"/>
            <a:chExt cx="1568667" cy="808158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avLst/>
              <a:gdLst/>
              <a:ahLst/>
              <a:cxnLst/>
              <a:rect l="l" t="t" r="r" b="b"/>
              <a:pathLst>
                <a:path w="1568667" h="722433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85725"/>
              <a:ext cx="1568667" cy="808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pt-BR" sz="2600" dirty="0" smtClean="0"/>
            </a:p>
            <a:p>
              <a:pPr algn="just">
                <a:lnSpc>
                  <a:spcPct val="150000"/>
                </a:lnSpc>
              </a:pPr>
              <a:endParaRPr lang="pt-BR" sz="2600" dirty="0"/>
            </a:p>
            <a:p>
              <a:pPr algn="just">
                <a:lnSpc>
                  <a:spcPct val="150000"/>
                </a:lnSpc>
              </a:pPr>
              <a:endParaRPr lang="pt-BR" sz="2600" dirty="0" smtClean="0"/>
            </a:p>
            <a:p>
              <a:pPr algn="just">
                <a:lnSpc>
                  <a:spcPct val="150000"/>
                </a:lnSpc>
              </a:pPr>
              <a:endParaRPr lang="pt-BR" sz="2600" dirty="0"/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/>
                <a:t>O </a:t>
              </a:r>
              <a:r>
                <a:rPr lang="pt-BR" sz="2600" dirty="0"/>
                <a:t>objetivo geral deste projeto é </a:t>
              </a:r>
              <a:r>
                <a:rPr lang="pt-BR" sz="2600" b="1" dirty="0"/>
                <a:t>desenvolver uma mão robótica funcional controlada por visão computacional</a:t>
              </a:r>
              <a:r>
                <a:rPr lang="pt-BR" sz="2600" dirty="0"/>
                <a:t>, utilizando </a:t>
              </a:r>
              <a:r>
                <a:rPr lang="pt-BR" sz="2600" b="1" dirty="0"/>
                <a:t>materiais recicláveis</a:t>
              </a:r>
              <a:r>
                <a:rPr lang="pt-BR" sz="2600" dirty="0"/>
                <a:t> e </a:t>
              </a:r>
              <a:r>
                <a:rPr lang="pt-BR" sz="2600" b="1" dirty="0"/>
                <a:t>componentes de baixo custo</a:t>
              </a:r>
              <a:r>
                <a:rPr lang="pt-BR" sz="2600" dirty="0"/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pt-BR" sz="2600" dirty="0"/>
                <a:t>Os objetivos específicos incluem</a:t>
              </a:r>
              <a:r>
                <a:rPr lang="pt-BR" sz="2600" dirty="0" smtClean="0"/>
                <a:t>:</a:t>
              </a:r>
            </a:p>
            <a:p>
              <a:pPr algn="just">
                <a:lnSpc>
                  <a:spcPct val="150000"/>
                </a:lnSpc>
              </a:pPr>
              <a:endParaRPr lang="pt-BR" sz="26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Aplicar </a:t>
              </a:r>
              <a:r>
                <a:rPr lang="pt-BR" sz="2600" b="1" dirty="0"/>
                <a:t>algoritmos de visão computacional</a:t>
              </a:r>
              <a:r>
                <a:rPr lang="pt-BR" sz="2600" dirty="0"/>
                <a:t> para o reconhecimento de gestos da mão humana em tempo real;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Integrar </a:t>
              </a:r>
              <a:r>
                <a:rPr lang="pt-BR" sz="2600" b="1" dirty="0"/>
                <a:t>Python e </a:t>
              </a:r>
              <a:r>
                <a:rPr lang="pt-BR" sz="2600" b="1" dirty="0" err="1"/>
                <a:t>Arduino</a:t>
              </a:r>
              <a:r>
                <a:rPr lang="pt-BR" sz="2600" dirty="0"/>
                <a:t> para o envio e execução dos comandos captados;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Construir a </a:t>
              </a:r>
              <a:r>
                <a:rPr lang="pt-BR" sz="2600" b="1" dirty="0"/>
                <a:t>estrutura mecânica da mão robótica</a:t>
              </a:r>
              <a:r>
                <a:rPr lang="pt-BR" sz="2600" dirty="0"/>
                <a:t> com materiais reaproveitados;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Avaliar a </a:t>
              </a:r>
              <a:r>
                <a:rPr lang="pt-BR" sz="2600" b="1" dirty="0"/>
                <a:t>funcionalidade e precisão</a:t>
              </a:r>
              <a:r>
                <a:rPr lang="pt-BR" sz="2600" dirty="0"/>
                <a:t> dos movimentos reproduzidos;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Demonstrar o potencial </a:t>
              </a:r>
              <a:r>
                <a:rPr lang="pt-BR" sz="2600" b="1" dirty="0"/>
                <a:t>educacional e </a:t>
              </a:r>
              <a:r>
                <a:rPr lang="pt-BR" sz="2600" b="1" dirty="0" err="1"/>
                <a:t>assistivo</a:t>
              </a:r>
              <a:r>
                <a:rPr lang="pt-BR" sz="2600" dirty="0"/>
                <a:t> da solução proposta.</a:t>
              </a: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559327"/>
            <a:ext cx="14628843" cy="14442310"/>
            <a:chOff x="0" y="-94728"/>
            <a:chExt cx="1579497" cy="1559357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avLst/>
              <a:gdLst/>
              <a:ahLst/>
              <a:cxnLst/>
              <a:rect l="l" t="t" r="r" b="b"/>
              <a:pathLst>
                <a:path w="1579497" h="1464629" extrusionOk="0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94728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A metodologia adotada foi organizada em três etapas principais: (i) </a:t>
              </a:r>
              <a:r>
                <a:rPr lang="pt-BR" sz="2600" b="1" dirty="0"/>
                <a:t>Visão Computacional</a:t>
              </a:r>
              <a:r>
                <a:rPr lang="pt-BR" sz="2600" dirty="0"/>
                <a:t>, (</a:t>
              </a:r>
              <a:r>
                <a:rPr lang="pt-BR" sz="2600" dirty="0" err="1"/>
                <a:t>ii</a:t>
              </a:r>
              <a:r>
                <a:rPr lang="pt-BR" sz="2600" dirty="0"/>
                <a:t>) </a:t>
              </a:r>
              <a:r>
                <a:rPr lang="pt-BR" sz="2600" b="1" dirty="0"/>
                <a:t>Integração Eletrônica e de Controle</a:t>
              </a:r>
              <a:r>
                <a:rPr lang="pt-BR" sz="2600" dirty="0"/>
                <a:t>, e (</a:t>
              </a:r>
              <a:r>
                <a:rPr lang="pt-BR" sz="2600" dirty="0" err="1"/>
                <a:t>iii</a:t>
              </a:r>
              <a:r>
                <a:rPr lang="pt-BR" sz="2600" dirty="0"/>
                <a:t>) </a:t>
              </a:r>
              <a:r>
                <a:rPr lang="pt-BR" sz="2600" b="1" dirty="0"/>
                <a:t>Construção da Estrutura Mecânica Sustentável</a:t>
              </a:r>
              <a:r>
                <a:rPr lang="pt-BR" sz="2600" dirty="0"/>
                <a:t>. Para maior clareza, cada etapa foi representada por um fluxograma de processo e por um esquema mecânico da mão </a:t>
              </a:r>
              <a:r>
                <a:rPr lang="pt-BR" sz="2600" dirty="0" smtClean="0"/>
                <a:t>robótica.</a:t>
              </a: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8845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avLst/>
              <a:gdLst/>
              <a:ahLst/>
              <a:cxnLst/>
              <a:rect l="l" t="t" r="r" b="b"/>
              <a:pathLst>
                <a:path w="1423661" h="1578113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Os testes realizados demonstraram que o protótipo foi capaz de </a:t>
              </a:r>
              <a:r>
                <a:rPr lang="pt-BR" sz="2600" b="1" dirty="0"/>
                <a:t>reproduzir movimentos básicos</a:t>
              </a:r>
              <a:r>
                <a:rPr lang="pt-BR" sz="2600" dirty="0"/>
                <a:t> — como </a:t>
              </a:r>
              <a:r>
                <a:rPr lang="pt-BR" sz="2600" b="1" dirty="0"/>
                <a:t>abrir e fechar os dedos</a:t>
              </a:r>
              <a:r>
                <a:rPr lang="pt-BR" sz="2600" dirty="0"/>
                <a:t> — de forma satisfatória, com </a:t>
              </a:r>
              <a:r>
                <a:rPr lang="pt-BR" sz="2600" b="1" dirty="0"/>
                <a:t>boa resposta visual e tempo de execução </a:t>
              </a:r>
              <a:r>
                <a:rPr lang="pt-BR" sz="2600" b="1" dirty="0" smtClean="0"/>
                <a:t>adequado</a:t>
              </a:r>
              <a:r>
                <a:rPr lang="pt-BR" sz="2600" dirty="0" smtClean="0"/>
                <a:t>. A </a:t>
              </a:r>
              <a:r>
                <a:rPr lang="pt-BR" sz="2600" dirty="0"/>
                <a:t>precisão dos gestos dependeu da </a:t>
              </a:r>
              <a:r>
                <a:rPr lang="pt-BR" sz="2600" b="1" dirty="0"/>
                <a:t>iluminação ambiente</a:t>
              </a:r>
              <a:r>
                <a:rPr lang="pt-BR" sz="2600" dirty="0"/>
                <a:t> e da </a:t>
              </a:r>
              <a:r>
                <a:rPr lang="pt-BR" sz="2600" b="1" dirty="0"/>
                <a:t>velocidade de detecção da câmera</a:t>
              </a:r>
              <a:r>
                <a:rPr lang="pt-BR" sz="2600" dirty="0"/>
                <a:t>, fatores que podem ser aprimorados em versões </a:t>
              </a:r>
              <a:r>
                <a:rPr lang="pt-BR" sz="2600" smtClean="0"/>
                <a:t>futuras. Do </a:t>
              </a:r>
              <a:r>
                <a:rPr lang="pt-BR" sz="2600" dirty="0"/>
                <a:t>ponto de vista educacional, o projeto se destacou como uma </a:t>
              </a:r>
              <a:r>
                <a:rPr lang="pt-BR" sz="2600" b="1" dirty="0"/>
                <a:t>ferramenta acessível para o ensino de robótica e visão computacional</a:t>
              </a:r>
              <a:r>
                <a:rPr lang="pt-BR" sz="2600" dirty="0"/>
                <a:t>, incentivando práticas sustentáveis e criativas em ambientes escolares e </a:t>
              </a:r>
              <a:r>
                <a:rPr lang="pt-BR" sz="2600" dirty="0" smtClean="0"/>
                <a:t>comunitários. Além </a:t>
              </a:r>
              <a:r>
                <a:rPr lang="pt-BR" sz="2600" dirty="0"/>
                <a:t>disso, a combinação entre </a:t>
              </a:r>
              <a:r>
                <a:rPr lang="pt-BR" sz="2600" b="1" dirty="0"/>
                <a:t>materiais recicláveis e algoritmos de visão</a:t>
              </a:r>
              <a:r>
                <a:rPr lang="pt-BR" sz="2600" dirty="0"/>
                <a:t> mostrou-se promissora para aplicações em </a:t>
              </a:r>
              <a:r>
                <a:rPr lang="pt-BR" sz="2600" b="1" dirty="0"/>
                <a:t>próteses robóticas de baixo custo</a:t>
              </a:r>
              <a:r>
                <a:rPr lang="pt-BR" sz="2600" dirty="0"/>
                <a:t> e </a:t>
              </a:r>
              <a:r>
                <a:rPr lang="pt-BR" sz="2600" b="1" dirty="0"/>
                <a:t>dispositivos </a:t>
              </a:r>
              <a:r>
                <a:rPr lang="pt-BR" sz="2600" b="1" dirty="0" err="1"/>
                <a:t>assistivos</a:t>
              </a:r>
              <a:r>
                <a:rPr lang="pt-BR" sz="2600" b="1" dirty="0"/>
                <a:t> personalizados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9839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03480" y="25792965"/>
            <a:ext cx="13206798" cy="10801112"/>
            <a:chOff x="-2296" y="-85725"/>
            <a:chExt cx="1425957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avLst/>
              <a:gdLst/>
              <a:ahLst/>
              <a:cxnLst/>
              <a:rect l="l" t="t" r="r" b="b"/>
              <a:pathLst>
                <a:path w="1423661" h="1080487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-2296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Conclui-se que a integração entre </a:t>
              </a:r>
              <a:r>
                <a:rPr lang="pt-BR" sz="2600" b="1" dirty="0"/>
                <a:t>visão computacional e materiais recicláveis</a:t>
              </a:r>
              <a:r>
                <a:rPr lang="pt-BR" sz="2600" dirty="0"/>
                <a:t> constitui uma alternativa </a:t>
              </a:r>
              <a:r>
                <a:rPr lang="pt-BR" sz="2600" b="1" dirty="0"/>
                <a:t>viável, acessível e educativa</a:t>
              </a:r>
              <a:r>
                <a:rPr lang="pt-BR" sz="2600" dirty="0"/>
                <a:t> no campo da robótica. O protótipo desenvolvido atingiu os objetivos propostos, demonstrando que é possível </a:t>
              </a:r>
              <a:r>
                <a:rPr lang="pt-BR" sz="2600" b="1" dirty="0"/>
                <a:t>reproduzir movimentos humanos de forma eficiente</a:t>
              </a:r>
              <a:r>
                <a:rPr lang="pt-BR" sz="2600" dirty="0"/>
                <a:t> e </a:t>
              </a:r>
              <a:r>
                <a:rPr lang="pt-BR" sz="2600" b="1" dirty="0"/>
                <a:t>sustentável</a:t>
              </a:r>
              <a:r>
                <a:rPr lang="pt-BR" sz="2600" dirty="0"/>
                <a:t>.</a:t>
              </a:r>
              <a:br>
                <a:rPr lang="pt-BR" sz="2600" dirty="0"/>
              </a:br>
              <a:r>
                <a:rPr lang="pt-BR" sz="2600" dirty="0"/>
                <a:t>O projeto contribui para o avanço de </a:t>
              </a:r>
              <a:r>
                <a:rPr lang="pt-BR" sz="2600" b="1" dirty="0"/>
                <a:t>metodologias ativas de aprendizagem tecnológica</a:t>
              </a:r>
              <a:r>
                <a:rPr lang="pt-BR" sz="2600" dirty="0"/>
                <a:t>, estimulando a pesquisa e a inovação com foco em </a:t>
              </a:r>
              <a:r>
                <a:rPr lang="pt-BR" sz="2600" b="1" dirty="0"/>
                <a:t>baixo custo e impacto </a:t>
              </a:r>
              <a:r>
                <a:rPr lang="pt-BR" sz="2600" b="1" dirty="0" smtClean="0"/>
                <a:t>social positivo</a:t>
              </a:r>
              <a:r>
                <a:rPr lang="pt-BR" sz="2600" dirty="0" smtClean="0"/>
                <a:t>. 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Futuras </a:t>
              </a:r>
              <a:r>
                <a:rPr lang="pt-BR" sz="2600" dirty="0"/>
                <a:t>melhorias podem incluir o uso de </a:t>
              </a:r>
              <a:r>
                <a:rPr lang="pt-BR" sz="2600" b="1" dirty="0"/>
                <a:t>sensores adicionais, controle via aprendizado de máquina</a:t>
              </a:r>
              <a:r>
                <a:rPr lang="pt-BR" sz="2600" dirty="0"/>
                <a:t> e </a:t>
              </a:r>
              <a:r>
                <a:rPr lang="pt-BR" sz="2600" b="1" dirty="0"/>
                <a:t>materiais mais duráveis</a:t>
              </a:r>
              <a:r>
                <a:rPr lang="pt-BR" sz="2600" dirty="0"/>
                <a:t>, ampliando a precisão, a velocidade e o alcance das aplicações práticas da mão robótica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5009850" y="3231410"/>
            <a:ext cx="23079122" cy="370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645" algn="ctr">
              <a:lnSpc>
                <a:spcPct val="107000"/>
              </a:lnSpc>
            </a:pPr>
            <a:r>
              <a:rPr lang="pt-BR" sz="7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MÃO ROBÓTICA DE BAIXO CUSTO: CONTROLE POR VISÃO COMPUTACIONAL E MATERIAIS RECICLÁVEIS</a:t>
            </a:r>
            <a:endParaRPr lang="pt-BR" sz="7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6229239" y="6619373"/>
            <a:ext cx="20471700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Jefferson </a:t>
            </a:r>
            <a:r>
              <a:rPr lang="en-US" sz="2800" dirty="0" err="1" smtClean="0"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¹, 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Daniel Kennedy Domingos da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Silva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 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1200" dirty="0" smtClean="0"/>
          </a:p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¹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Professor 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jefferson.bsantos42@professor.educacao.pe.gov.br, Arcoverde,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Pernambuco.</a:t>
            </a:r>
            <a:endParaRPr sz="1200" dirty="0"/>
          </a:p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Estudante 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danielkennedi121@gmail.com, Arcoverde, Pernambuco.</a:t>
            </a:r>
            <a:endParaRPr sz="28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ESTUDANTES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365198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6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avLst/>
            <a:gdLst/>
            <a:ahLst/>
            <a:cxnLst/>
            <a:rect l="l" t="t" r="r" b="b"/>
            <a:pathLst>
              <a:path w="4520413" h="1767000" extrusionOk="0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avLst/>
            <a:gdLst/>
            <a:ahLst/>
            <a:cxnLst/>
            <a:rect l="l" t="t" r="r" b="b"/>
            <a:pathLst>
              <a:path w="3114865" h="3639784" extrusionOk="0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avLst/>
            <a:gdLst/>
            <a:ahLst/>
            <a:cxnLst/>
            <a:rect l="l" t="t" r="r" b="b"/>
            <a:pathLst>
              <a:path w="3335656" h="1050227" extrusionOk="0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2203" t="-235062" r="-25552" b="-390574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avLst/>
            <a:gdLst/>
            <a:ahLst/>
            <a:cxnLst/>
            <a:rect l="l" t="t" r="r" b="b"/>
            <a:pathLst>
              <a:path w="4690637" h="2662466" extrusionOk="0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3" b="1" i="0" u="none" strike="noStrike" cap="non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avLst/>
            <a:gdLst/>
            <a:ahLst/>
            <a:cxnLst/>
            <a:rect l="l" t="t" r="r" b="b"/>
            <a:pathLst>
              <a:path w="6857899" h="1864512" extrusionOk="0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avLst/>
            <a:gdLst/>
            <a:ahLst/>
            <a:cxnLst/>
            <a:rect l="l" t="t" r="r" b="b"/>
            <a:pathLst>
              <a:path w="5718033" h="1744000" extrusionOk="0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avLst/>
              <a:gdLst/>
              <a:ahLst/>
              <a:cxnLst/>
              <a:rect l="l" t="t" r="r" b="b"/>
              <a:pathLst>
                <a:path w="4125115" h="1069555" extrusionOk="0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l="-29637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avLst/>
              <a:gdLst/>
              <a:ahLst/>
              <a:cxnLst/>
              <a:rect l="l" t="t" r="r" b="b"/>
              <a:pathLst>
                <a:path w="2214777" h="1012847" extrusionOk="0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49979" t="-400918" r="-191107" b="-7664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avLst/>
              <a:gdLst/>
              <a:ahLst/>
              <a:cxnLst/>
              <a:rect l="l" t="t" r="r" b="b"/>
              <a:pathLst>
                <a:path w="4411842" h="1142573" extrusionOk="0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t="-68144" b="-89110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avLst/>
            <a:gdLst/>
            <a:ahLst/>
            <a:cxnLst/>
            <a:rect l="l" t="t" r="r" b="b"/>
            <a:pathLst>
              <a:path w="615775" h="1005347" extrusionOk="0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avLst/>
            <a:gdLst/>
            <a:ahLst/>
            <a:cxnLst/>
            <a:rect l="l" t="t" r="r" b="b"/>
            <a:pathLst>
              <a:path w="2355724" h="2717490" extrusionOk="0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avLst/>
            <a:gdLst/>
            <a:ahLst/>
            <a:cxnLst/>
            <a:rect l="l" t="t" r="r" b="b"/>
            <a:pathLst>
              <a:path w="3911138" h="1094154" extrusionOk="0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avLst/>
            <a:gdLst/>
            <a:ahLst/>
            <a:cxnLst/>
            <a:rect l="l" t="t" r="r" b="b"/>
            <a:pathLst>
              <a:path w="3641518" h="1760067" extrusionOk="0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1" descr="image5.png"/>
          <p:cNvSpPr/>
          <p:nvPr/>
        </p:nvSpPr>
        <p:spPr>
          <a:xfrm rot="10800000">
            <a:off x="58930" y="77864"/>
            <a:ext cx="5846544" cy="5871159"/>
          </a:xfrm>
          <a:custGeom>
            <a:avLst/>
            <a:gdLst/>
            <a:ahLst/>
            <a:cxnLst/>
            <a:rect l="l" t="t" r="r" b="b"/>
            <a:pathLst>
              <a:path w="9923907" h="9965690" extrusionOk="0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r="-100324" b="-99485"/>
            </a:stretch>
          </a:blipFill>
          <a:ln>
            <a:noFill/>
          </a:ln>
        </p:spPr>
      </p:sp>
      <p:sp>
        <p:nvSpPr>
          <p:cNvPr id="169" name="Google Shape;169;p1" descr="image4.png"/>
          <p:cNvSpPr/>
          <p:nvPr/>
        </p:nvSpPr>
        <p:spPr>
          <a:xfrm rot="10800000">
            <a:off x="-155980" y="89995"/>
            <a:ext cx="1950682" cy="1945682"/>
          </a:xfrm>
          <a:custGeom>
            <a:avLst/>
            <a:gdLst/>
            <a:ahLst/>
            <a:cxnLst/>
            <a:rect l="l" t="t" r="r" b="b"/>
            <a:pathLst>
              <a:path w="3220720" h="3212465" extrusionOk="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r="-97902" b="-98416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416676"/>
            <a:ext cx="14578690" cy="8086308"/>
            <a:chOff x="0" y="-42863"/>
            <a:chExt cx="1574082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avLst/>
              <a:gdLst/>
              <a:ahLst/>
              <a:cxnLst/>
              <a:rect l="l" t="t" r="r" b="b"/>
              <a:pathLst>
                <a:path w="1568667" h="827471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5415" y="-42863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O avanço das tecnologias digitais tem ampliado as possibilidades de integração entre robótica, sustentabilidade e educação. Nesse contexto, o presente projeto propõe o desenvolvimento de uma </a:t>
              </a:r>
              <a:r>
                <a:rPr lang="pt-BR" sz="2600" b="1" dirty="0"/>
                <a:t>mão robótica controlada por visão computacional</a:t>
              </a:r>
              <a:r>
                <a:rPr lang="pt-BR" sz="2600" dirty="0"/>
                <a:t>, construída a partir de </a:t>
              </a:r>
              <a:r>
                <a:rPr lang="pt-BR" sz="2600" b="1" dirty="0"/>
                <a:t>materiais recicláveis de baixo custo</a:t>
              </a:r>
              <a:r>
                <a:rPr lang="pt-BR" sz="2600" dirty="0"/>
                <a:t>, como plástico reutilizado, </a:t>
              </a:r>
              <a:r>
                <a:rPr lang="pt-BR" sz="2600" dirty="0" smtClean="0"/>
                <a:t>papelão, palitos, barbante e </a:t>
              </a:r>
              <a:r>
                <a:rPr lang="pt-BR" sz="2600" dirty="0"/>
                <a:t>componentes eletrônicos </a:t>
              </a:r>
              <a:r>
                <a:rPr lang="pt-BR" sz="2600" dirty="0" smtClean="0"/>
                <a:t>. </a:t>
              </a:r>
              <a:r>
                <a:rPr lang="pt-BR" sz="2600" dirty="0"/>
                <a:t>A proposta busca demonstrar como a </a:t>
              </a:r>
              <a:r>
                <a:rPr lang="pt-BR" sz="2600" b="1" dirty="0"/>
                <a:t>tecnologia pode ser acessível, sustentável e educativa</a:t>
              </a:r>
              <a:r>
                <a:rPr lang="pt-BR" sz="2600" dirty="0"/>
                <a:t>, especialmente em </a:t>
              </a:r>
              <a:r>
                <a:rPr lang="pt-BR" sz="2600" b="1" dirty="0"/>
                <a:t>contextos sociais de baixa renda</a:t>
              </a:r>
              <a:r>
                <a:rPr lang="pt-BR" sz="2600" dirty="0"/>
                <a:t>, como o município de </a:t>
              </a:r>
              <a:r>
                <a:rPr lang="pt-BR" sz="2600" dirty="0" smtClean="0"/>
                <a:t>Arcoverde (PE). 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A </a:t>
              </a:r>
              <a:r>
                <a:rPr lang="pt-BR" sz="2600" dirty="0"/>
                <a:t>robótica sustentável, associada à visão computacional, oferece um meio de promover </a:t>
              </a:r>
              <a:r>
                <a:rPr lang="pt-BR" sz="2600" b="1" dirty="0"/>
                <a:t>aprendizagem prática, inclusão tecnológica e inovação social</a:t>
              </a:r>
              <a:r>
                <a:rPr lang="pt-BR" sz="2600" dirty="0"/>
                <a:t>, contribuindo para a formação de estudantes e para o desenvolvimento de soluções </a:t>
              </a:r>
              <a:r>
                <a:rPr lang="pt-BR" sz="2600" dirty="0" err="1"/>
                <a:t>assistivas</a:t>
              </a:r>
              <a:r>
                <a:rPr lang="pt-BR" sz="2600" dirty="0"/>
                <a:t> de baixo custo.</a:t>
              </a: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3" t="3103" r="7397" b="6411"/>
          <a:stretch/>
        </p:blipFill>
        <p:spPr>
          <a:xfrm>
            <a:off x="9889916" y="32579481"/>
            <a:ext cx="5720316" cy="880185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4426" y="18136354"/>
            <a:ext cx="6374591" cy="485761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9015" y="18136353"/>
            <a:ext cx="6343924" cy="48576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94" y="32579482"/>
            <a:ext cx="8924913" cy="8739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580</Words>
  <Application>Microsoft Office PowerPoint</Application>
  <PresentationFormat>Personalizar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Times New Roman</vt:lpstr>
      <vt:lpstr>Oswald</vt:lpstr>
      <vt:lpstr>Calibri</vt:lpstr>
      <vt:lpstr>Arial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Jeffrey24</dc:creator>
  <cp:lastModifiedBy>Jeffrey24</cp:lastModifiedBy>
  <cp:revision>16</cp:revision>
  <dcterms:created xsi:type="dcterms:W3CDTF">2006-08-16T00:00:00Z</dcterms:created>
  <dcterms:modified xsi:type="dcterms:W3CDTF">2025-10-23T14:34:12Z</dcterms:modified>
</cp:coreProperties>
</file>