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397700" cy="43192700"/>
  <p:notesSz cx="6858000" cy="9144000"/>
  <p:embeddedFontLst>
    <p:embeddedFont>
      <p:font typeface="Oswald" panose="020B0604020202020204" charset="0"/>
      <p:regular r:id="rId4"/>
      <p:bold r:id="rId5"/>
    </p:embeddedFont>
    <p:embeddedFont>
      <p:font typeface="Calibri" panose="020F0502020204030204" pitchFamily="34" charset="0"/>
      <p:regular r:id="rId6"/>
      <p:bold r:id="rId7"/>
      <p:italic r:id="rId8"/>
      <p:boldItalic r:id="rId9"/>
    </p:embeddedFont>
    <p:embeddedFont>
      <p:font typeface="Open Sans" panose="020B0604020202020204" charset="0"/>
      <p:bold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itRg73fWWK6U87ut5c4ycNaHvO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0" d="100"/>
          <a:sy n="40" d="100"/>
        </p:scale>
        <p:origin x="-856" y="-5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8" Type="http://customschemas.google.com/relationships/presentationmetadata" Target="metadata"/><Relationship Id="rId3" Type="http://schemas.openxmlformats.org/officeDocument/2006/relationships/notesMaster" Target="notesMasters/notesMaster1.xml"/><Relationship Id="rId21" Type="http://schemas.openxmlformats.org/officeDocument/2006/relationships/theme" Target="theme/theme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0" Type="http://schemas.openxmlformats.org/officeDocument/2006/relationships/font" Target="fonts/font7.fntdata"/><Relationship Id="rId19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jp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jpe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AA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23957982" y="-2944918"/>
            <a:ext cx="3712995" cy="8472538"/>
          </a:xfrm>
          <a:custGeom>
            <a:avLst/>
            <a:gdLst/>
            <a:ahLst/>
            <a:cxnLst/>
            <a:rect l="l" t="t" r="r" b="b"/>
            <a:pathLst>
              <a:path w="3712995" h="8472538" extrusionOk="0">
                <a:moveTo>
                  <a:pt x="0" y="0"/>
                </a:moveTo>
                <a:lnTo>
                  <a:pt x="3712995" y="0"/>
                </a:lnTo>
                <a:lnTo>
                  <a:pt x="3712995" y="8472539"/>
                </a:lnTo>
                <a:lnTo>
                  <a:pt x="0" y="84725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85" name="Google Shape;85;p1"/>
          <p:cNvGrpSpPr/>
          <p:nvPr/>
        </p:nvGrpSpPr>
        <p:grpSpPr>
          <a:xfrm>
            <a:off x="1969762" y="2562023"/>
            <a:ext cx="27050161" cy="4124025"/>
            <a:chOff x="0" y="-85725"/>
            <a:chExt cx="2758009" cy="420482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2758009" cy="334757"/>
            </a:xfrm>
            <a:custGeom>
              <a:avLst/>
              <a:gdLst/>
              <a:ahLst/>
              <a:cxnLst/>
              <a:rect l="l" t="t" r="r" b="b"/>
              <a:pathLst>
                <a:path w="2758009" h="334757" extrusionOk="0">
                  <a:moveTo>
                    <a:pt x="0" y="0"/>
                  </a:moveTo>
                  <a:lnTo>
                    <a:pt x="2758009" y="0"/>
                  </a:lnTo>
                  <a:lnTo>
                    <a:pt x="2758009" y="334757"/>
                  </a:lnTo>
                  <a:lnTo>
                    <a:pt x="0" y="334757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87" name="Google Shape;87;p1"/>
            <p:cNvSpPr txBox="1"/>
            <p:nvPr/>
          </p:nvSpPr>
          <p:spPr>
            <a:xfrm>
              <a:off x="0" y="-85725"/>
              <a:ext cx="2758009" cy="420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950" tIns="90950" rIns="90950" bIns="9095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" name="Google Shape;88;p1"/>
          <p:cNvSpPr/>
          <p:nvPr/>
        </p:nvSpPr>
        <p:spPr>
          <a:xfrm>
            <a:off x="19205830" y="40796027"/>
            <a:ext cx="2403973" cy="2403973"/>
          </a:xfrm>
          <a:custGeom>
            <a:avLst/>
            <a:gdLst/>
            <a:ahLst/>
            <a:cxnLst/>
            <a:rect l="l" t="t" r="r" b="b"/>
            <a:pathLst>
              <a:path w="2403973" h="2403973" extrusionOk="0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>
            <a:off x="12093663" y="40796027"/>
            <a:ext cx="2403973" cy="2403973"/>
          </a:xfrm>
          <a:custGeom>
            <a:avLst/>
            <a:gdLst/>
            <a:ahLst/>
            <a:cxnLst/>
            <a:rect l="l" t="t" r="r" b="b"/>
            <a:pathLst>
              <a:path w="2403973" h="2403973" extrusionOk="0">
                <a:moveTo>
                  <a:pt x="0" y="0"/>
                </a:moveTo>
                <a:lnTo>
                  <a:pt x="2403972" y="0"/>
                </a:lnTo>
                <a:lnTo>
                  <a:pt x="2403972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>
            <a:off x="14365077" y="40796027"/>
            <a:ext cx="2403973" cy="2403973"/>
          </a:xfrm>
          <a:custGeom>
            <a:avLst/>
            <a:gdLst/>
            <a:ahLst/>
            <a:cxnLst/>
            <a:rect l="l" t="t" r="r" b="b"/>
            <a:pathLst>
              <a:path w="2403973" h="2403973" extrusionOk="0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>
            <a:off x="16769050" y="40796027"/>
            <a:ext cx="2403973" cy="2403973"/>
          </a:xfrm>
          <a:custGeom>
            <a:avLst/>
            <a:gdLst/>
            <a:ahLst/>
            <a:cxnLst/>
            <a:rect l="l" t="t" r="r" b="b"/>
            <a:pathLst>
              <a:path w="2403973" h="2403973" extrusionOk="0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2" name="Google Shape;92;p1"/>
          <p:cNvSpPr/>
          <p:nvPr/>
        </p:nvSpPr>
        <p:spPr>
          <a:xfrm>
            <a:off x="9658250" y="40796027"/>
            <a:ext cx="2403973" cy="2403973"/>
          </a:xfrm>
          <a:custGeom>
            <a:avLst/>
            <a:gdLst/>
            <a:ahLst/>
            <a:cxnLst/>
            <a:rect l="l" t="t" r="r" b="b"/>
            <a:pathLst>
              <a:path w="2403973" h="2403973" extrusionOk="0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93" name="Google Shape;93;p1"/>
          <p:cNvGrpSpPr/>
          <p:nvPr/>
        </p:nvGrpSpPr>
        <p:grpSpPr>
          <a:xfrm>
            <a:off x="16200000" y="36036475"/>
            <a:ext cx="15995641" cy="6399900"/>
            <a:chOff x="0" y="-85725"/>
            <a:chExt cx="1355228" cy="542230"/>
          </a:xfrm>
        </p:grpSpPr>
        <p:sp>
          <p:nvSpPr>
            <p:cNvPr id="94" name="Google Shape;94;p1"/>
            <p:cNvSpPr/>
            <p:nvPr/>
          </p:nvSpPr>
          <p:spPr>
            <a:xfrm>
              <a:off x="0" y="0"/>
              <a:ext cx="1355228" cy="456505"/>
            </a:xfrm>
            <a:custGeom>
              <a:avLst/>
              <a:gdLst/>
              <a:ahLst/>
              <a:cxnLst/>
              <a:rect l="l" t="t" r="r" b="b"/>
              <a:pathLst>
                <a:path w="1355228" h="456505" extrusionOk="0">
                  <a:moveTo>
                    <a:pt x="0" y="0"/>
                  </a:moveTo>
                  <a:lnTo>
                    <a:pt x="1355228" y="0"/>
                  </a:lnTo>
                  <a:lnTo>
                    <a:pt x="1355228" y="456505"/>
                  </a:lnTo>
                  <a:lnTo>
                    <a:pt x="0" y="4565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5" name="Google Shape;95;p1"/>
            <p:cNvSpPr txBox="1"/>
            <p:nvPr/>
          </p:nvSpPr>
          <p:spPr>
            <a:xfrm>
              <a:off x="0" y="-85725"/>
              <a:ext cx="1355228" cy="542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950" tIns="90950" rIns="90950" bIns="9095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" name="Google Shape;96;p1"/>
          <p:cNvGrpSpPr/>
          <p:nvPr/>
        </p:nvGrpSpPr>
        <p:grpSpPr>
          <a:xfrm>
            <a:off x="4243405" y="-273004"/>
            <a:ext cx="25513973" cy="3675805"/>
            <a:chOff x="0" y="-85725"/>
            <a:chExt cx="2601381" cy="374782"/>
          </a:xfrm>
        </p:grpSpPr>
        <p:sp>
          <p:nvSpPr>
            <p:cNvPr id="97" name="Google Shape;97;p1"/>
            <p:cNvSpPr/>
            <p:nvPr/>
          </p:nvSpPr>
          <p:spPr>
            <a:xfrm>
              <a:off x="0" y="0"/>
              <a:ext cx="2601381" cy="289057"/>
            </a:xfrm>
            <a:custGeom>
              <a:avLst/>
              <a:gdLst/>
              <a:ahLst/>
              <a:cxnLst/>
              <a:rect l="l" t="t" r="r" b="b"/>
              <a:pathLst>
                <a:path w="2601381" h="289057" extrusionOk="0">
                  <a:moveTo>
                    <a:pt x="0" y="0"/>
                  </a:moveTo>
                  <a:lnTo>
                    <a:pt x="2601381" y="0"/>
                  </a:lnTo>
                  <a:lnTo>
                    <a:pt x="2601381" y="289057"/>
                  </a:lnTo>
                  <a:lnTo>
                    <a:pt x="0" y="289057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98" name="Google Shape;98;p1"/>
            <p:cNvSpPr txBox="1"/>
            <p:nvPr/>
          </p:nvSpPr>
          <p:spPr>
            <a:xfrm>
              <a:off x="0" y="-85725"/>
              <a:ext cx="2601381" cy="3747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950" tIns="90950" rIns="90950" bIns="9095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1"/>
          <p:cNvSpPr/>
          <p:nvPr/>
        </p:nvSpPr>
        <p:spPr>
          <a:xfrm>
            <a:off x="2546083" y="40796027"/>
            <a:ext cx="2403973" cy="2403973"/>
          </a:xfrm>
          <a:custGeom>
            <a:avLst/>
            <a:gdLst/>
            <a:ahLst/>
            <a:cxnLst/>
            <a:rect l="l" t="t" r="r" b="b"/>
            <a:pathLst>
              <a:path w="2403973" h="2403973" extrusionOk="0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0" name="Google Shape;100;p1"/>
          <p:cNvSpPr/>
          <p:nvPr/>
        </p:nvSpPr>
        <p:spPr>
          <a:xfrm>
            <a:off x="4817497" y="40796027"/>
            <a:ext cx="2403973" cy="2403973"/>
          </a:xfrm>
          <a:custGeom>
            <a:avLst/>
            <a:gdLst/>
            <a:ahLst/>
            <a:cxnLst/>
            <a:rect l="l" t="t" r="r" b="b"/>
            <a:pathLst>
              <a:path w="2403973" h="2403973" extrusionOk="0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1" name="Google Shape;101;p1"/>
          <p:cNvSpPr/>
          <p:nvPr/>
        </p:nvSpPr>
        <p:spPr>
          <a:xfrm>
            <a:off x="7221470" y="40796027"/>
            <a:ext cx="2403973" cy="2403973"/>
          </a:xfrm>
          <a:custGeom>
            <a:avLst/>
            <a:gdLst/>
            <a:ahLst/>
            <a:cxnLst/>
            <a:rect l="l" t="t" r="r" b="b"/>
            <a:pathLst>
              <a:path w="2403973" h="2403973" extrusionOk="0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2" name="Google Shape;102;p1"/>
          <p:cNvSpPr/>
          <p:nvPr/>
        </p:nvSpPr>
        <p:spPr>
          <a:xfrm>
            <a:off x="28122826" y="-1838108"/>
            <a:ext cx="4323198" cy="9864937"/>
          </a:xfrm>
          <a:custGeom>
            <a:avLst/>
            <a:gdLst/>
            <a:ahLst/>
            <a:cxnLst/>
            <a:rect l="l" t="t" r="r" b="b"/>
            <a:pathLst>
              <a:path w="4323198" h="9864937" extrusionOk="0">
                <a:moveTo>
                  <a:pt x="0" y="0"/>
                </a:moveTo>
                <a:lnTo>
                  <a:pt x="4323198" y="0"/>
                </a:lnTo>
                <a:lnTo>
                  <a:pt x="4323198" y="9864937"/>
                </a:lnTo>
                <a:lnTo>
                  <a:pt x="0" y="9864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03" name="Google Shape;103;p1"/>
          <p:cNvGrpSpPr/>
          <p:nvPr/>
        </p:nvGrpSpPr>
        <p:grpSpPr>
          <a:xfrm>
            <a:off x="1246323" y="8237246"/>
            <a:ext cx="14247208" cy="2593677"/>
            <a:chOff x="0" y="-85725"/>
            <a:chExt cx="1538292" cy="280043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538292" cy="194318"/>
            </a:xfrm>
            <a:custGeom>
              <a:avLst/>
              <a:gdLst/>
              <a:ahLst/>
              <a:cxnLst/>
              <a:rect l="l" t="t" r="r" b="b"/>
              <a:pathLst>
                <a:path w="1538292" h="194318" extrusionOk="0">
                  <a:moveTo>
                    <a:pt x="0" y="0"/>
                  </a:moveTo>
                  <a:lnTo>
                    <a:pt x="1538292" y="0"/>
                  </a:lnTo>
                  <a:lnTo>
                    <a:pt x="1538292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105" name="Google Shape;105;p1"/>
            <p:cNvSpPr txBox="1"/>
            <p:nvPr/>
          </p:nvSpPr>
          <p:spPr>
            <a:xfrm>
              <a:off x="0" y="-85725"/>
              <a:ext cx="1538292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64994" y="8065912"/>
            <a:ext cx="14247208" cy="2593677"/>
            <a:chOff x="0" y="-85725"/>
            <a:chExt cx="1538292" cy="280043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538292" cy="194318"/>
            </a:xfrm>
            <a:custGeom>
              <a:avLst/>
              <a:gdLst/>
              <a:ahLst/>
              <a:cxnLst/>
              <a:rect l="l" t="t" r="r" b="b"/>
              <a:pathLst>
                <a:path w="1538292" h="194318" extrusionOk="0">
                  <a:moveTo>
                    <a:pt x="0" y="0"/>
                  </a:moveTo>
                  <a:lnTo>
                    <a:pt x="1538292" y="0"/>
                  </a:lnTo>
                  <a:lnTo>
                    <a:pt x="1538292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108" name="Google Shape;108;p1"/>
            <p:cNvSpPr txBox="1"/>
            <p:nvPr/>
          </p:nvSpPr>
          <p:spPr>
            <a:xfrm>
              <a:off x="0" y="-85725"/>
              <a:ext cx="1538292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964994" y="19574349"/>
            <a:ext cx="14528538" cy="7484925"/>
            <a:chOff x="0" y="-85725"/>
            <a:chExt cx="1568667" cy="808158"/>
          </a:xfrm>
        </p:grpSpPr>
        <p:sp>
          <p:nvSpPr>
            <p:cNvPr id="110" name="Google Shape;110;p1"/>
            <p:cNvSpPr/>
            <p:nvPr/>
          </p:nvSpPr>
          <p:spPr>
            <a:xfrm>
              <a:off x="0" y="0"/>
              <a:ext cx="1568667" cy="722433"/>
            </a:xfrm>
            <a:custGeom>
              <a:avLst/>
              <a:gdLst/>
              <a:ahLst/>
              <a:cxnLst/>
              <a:rect l="l" t="t" r="r" b="b"/>
              <a:pathLst>
                <a:path w="1568667" h="722433" extrusionOk="0">
                  <a:moveTo>
                    <a:pt x="0" y="0"/>
                  </a:moveTo>
                  <a:lnTo>
                    <a:pt x="1568667" y="0"/>
                  </a:lnTo>
                  <a:lnTo>
                    <a:pt x="1568667" y="722433"/>
                  </a:lnTo>
                  <a:lnTo>
                    <a:pt x="0" y="722433"/>
                  </a:lnTo>
                  <a:close/>
                </a:path>
              </a:pathLst>
            </a:custGeom>
            <a:solidFill>
              <a:srgbClr val="684769">
                <a:alpha val="17254"/>
              </a:srgbClr>
            </a:solidFill>
            <a:ln>
              <a:noFill/>
            </a:ln>
          </p:spPr>
        </p:sp>
        <p:sp>
          <p:nvSpPr>
            <p:cNvPr id="111" name="Google Shape;111;p1"/>
            <p:cNvSpPr txBox="1"/>
            <p:nvPr/>
          </p:nvSpPr>
          <p:spPr>
            <a:xfrm>
              <a:off x="0" y="-85725"/>
              <a:ext cx="1568667" cy="8081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>
                <a:lnSpc>
                  <a:spcPct val="150000"/>
                </a:lnSpc>
              </a:pPr>
              <a:endParaRPr lang="pt-BR" sz="2600" dirty="0" smtClean="0"/>
            </a:p>
            <a:p>
              <a:pPr>
                <a:lnSpc>
                  <a:spcPct val="150000"/>
                </a:lnSpc>
              </a:pPr>
              <a:endParaRPr lang="pt-BR" sz="2600" dirty="0"/>
            </a:p>
            <a:p>
              <a:pPr algn="just">
                <a:lnSpc>
                  <a:spcPct val="150000"/>
                </a:lnSpc>
              </a:pPr>
              <a:r>
                <a:rPr lang="pt-BR" sz="2600" dirty="0" smtClean="0"/>
                <a:t>Desenvolver </a:t>
              </a:r>
              <a:r>
                <a:rPr lang="pt-BR" sz="2600" dirty="0"/>
                <a:t>um </a:t>
              </a:r>
              <a:r>
                <a:rPr lang="pt-BR" sz="2600" b="1" dirty="0"/>
                <a:t>robô </a:t>
              </a:r>
              <a:r>
                <a:rPr lang="pt-BR" sz="2600" b="1" dirty="0" err="1"/>
                <a:t>animatrônico</a:t>
              </a:r>
              <a:r>
                <a:rPr lang="pt-BR" sz="2600" b="1" dirty="0"/>
                <a:t> sustentável controlado por joystick</a:t>
              </a:r>
              <a:r>
                <a:rPr lang="pt-BR" sz="2600" dirty="0"/>
                <a:t>, empregando </a:t>
              </a:r>
              <a:r>
                <a:rPr lang="pt-BR" sz="2600" b="1" dirty="0"/>
                <a:t>materiais recicláveis e componentes eletrônicos de baixo custo</a:t>
              </a:r>
              <a:r>
                <a:rPr lang="pt-BR" sz="2600" dirty="0" smtClean="0"/>
                <a:t>.</a:t>
              </a:r>
            </a:p>
            <a:p>
              <a:pPr>
                <a:lnSpc>
                  <a:spcPct val="150000"/>
                </a:lnSpc>
              </a:pPr>
              <a:endParaRPr lang="pt-BR" sz="2600" dirty="0"/>
            </a:p>
            <a:p>
              <a:pPr>
                <a:lnSpc>
                  <a:spcPct val="150000"/>
                </a:lnSpc>
              </a:pPr>
              <a:r>
                <a:rPr lang="pt-BR" sz="2600" b="1" dirty="0"/>
                <a:t>Objetivos específicos</a:t>
              </a:r>
              <a:r>
                <a:rPr lang="pt-BR" sz="2600" b="1" dirty="0" smtClean="0"/>
                <a:t>:</a:t>
              </a:r>
              <a:endParaRPr lang="pt-BR" sz="2600" dirty="0"/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BR" sz="2600" dirty="0"/>
                <a:t>Aplicar a plataforma </a:t>
              </a:r>
              <a:r>
                <a:rPr lang="pt-BR" sz="2600" b="1" dirty="0" err="1"/>
                <a:t>Arduino</a:t>
              </a:r>
              <a:r>
                <a:rPr lang="pt-BR" sz="2600" dirty="0"/>
                <a:t> para controle de </a:t>
              </a:r>
              <a:r>
                <a:rPr lang="pt-BR" sz="2600" dirty="0" err="1"/>
                <a:t>servomotores</a:t>
              </a:r>
              <a:r>
                <a:rPr lang="pt-BR" sz="2600" dirty="0"/>
                <a:t>;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BR" sz="2600" dirty="0"/>
                <a:t>Implementar a interface de controle por </a:t>
              </a:r>
              <a:r>
                <a:rPr lang="pt-BR" sz="2600" b="1" dirty="0"/>
                <a:t>joystick</a:t>
              </a:r>
              <a:r>
                <a:rPr lang="pt-BR" sz="2600" dirty="0"/>
                <a:t>;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BR" sz="2600" dirty="0"/>
                <a:t>Construir a </a:t>
              </a:r>
              <a:r>
                <a:rPr lang="pt-BR" sz="2600" b="1" dirty="0"/>
                <a:t>estrutura mecânica com materiais reaproveitados</a:t>
              </a:r>
              <a:r>
                <a:rPr lang="pt-BR" sz="2600" dirty="0"/>
                <a:t>;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BR" sz="2600" dirty="0"/>
                <a:t>Promover a </a:t>
              </a:r>
              <a:r>
                <a:rPr lang="pt-BR" sz="2600" b="1" dirty="0"/>
                <a:t>educação ambiental</a:t>
              </a:r>
              <a:r>
                <a:rPr lang="pt-BR" sz="2600" dirty="0"/>
                <a:t> e o </a:t>
              </a:r>
              <a:r>
                <a:rPr lang="pt-BR" sz="2600" b="1" dirty="0"/>
                <a:t>reaproveitamento de resíduos sólidos</a:t>
              </a:r>
              <a:r>
                <a:rPr lang="pt-BR" sz="2600" dirty="0"/>
                <a:t>;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BR" sz="2600" dirty="0"/>
                <a:t>Estimular o </a:t>
              </a:r>
              <a:r>
                <a:rPr lang="pt-BR" sz="2600" b="1" dirty="0"/>
                <a:t>aprendizado prático de eletrônica e programação</a:t>
              </a:r>
              <a:r>
                <a:rPr lang="pt-BR" sz="2600" dirty="0"/>
                <a:t>.</a:t>
              </a:r>
            </a:p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" name="Google Shape;112;p1"/>
          <p:cNvGrpSpPr/>
          <p:nvPr/>
        </p:nvGrpSpPr>
        <p:grpSpPr>
          <a:xfrm>
            <a:off x="1246323" y="18180792"/>
            <a:ext cx="14247208" cy="2593677"/>
            <a:chOff x="0" y="-85725"/>
            <a:chExt cx="1538292" cy="280043"/>
          </a:xfrm>
        </p:grpSpPr>
        <p:sp>
          <p:nvSpPr>
            <p:cNvPr id="113" name="Google Shape;113;p1"/>
            <p:cNvSpPr/>
            <p:nvPr/>
          </p:nvSpPr>
          <p:spPr>
            <a:xfrm>
              <a:off x="0" y="0"/>
              <a:ext cx="1538292" cy="194318"/>
            </a:xfrm>
            <a:custGeom>
              <a:avLst/>
              <a:gdLst/>
              <a:ahLst/>
              <a:cxnLst/>
              <a:rect l="l" t="t" r="r" b="b"/>
              <a:pathLst>
                <a:path w="1538292" h="194318" extrusionOk="0">
                  <a:moveTo>
                    <a:pt x="0" y="0"/>
                  </a:moveTo>
                  <a:lnTo>
                    <a:pt x="1538292" y="0"/>
                  </a:lnTo>
                  <a:lnTo>
                    <a:pt x="1538292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114" name="Google Shape;114;p1"/>
            <p:cNvSpPr txBox="1"/>
            <p:nvPr/>
          </p:nvSpPr>
          <p:spPr>
            <a:xfrm>
              <a:off x="0" y="-85725"/>
              <a:ext cx="1538292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p1"/>
          <p:cNvGrpSpPr/>
          <p:nvPr/>
        </p:nvGrpSpPr>
        <p:grpSpPr>
          <a:xfrm>
            <a:off x="964994" y="18009458"/>
            <a:ext cx="14247208" cy="2593677"/>
            <a:chOff x="0" y="-85725"/>
            <a:chExt cx="1538292" cy="280043"/>
          </a:xfrm>
        </p:grpSpPr>
        <p:sp>
          <p:nvSpPr>
            <p:cNvPr id="116" name="Google Shape;116;p1"/>
            <p:cNvSpPr/>
            <p:nvPr/>
          </p:nvSpPr>
          <p:spPr>
            <a:xfrm>
              <a:off x="0" y="0"/>
              <a:ext cx="1538292" cy="194318"/>
            </a:xfrm>
            <a:custGeom>
              <a:avLst/>
              <a:gdLst/>
              <a:ahLst/>
              <a:cxnLst/>
              <a:rect l="l" t="t" r="r" b="b"/>
              <a:pathLst>
                <a:path w="1538292" h="194318" extrusionOk="0">
                  <a:moveTo>
                    <a:pt x="0" y="0"/>
                  </a:moveTo>
                  <a:lnTo>
                    <a:pt x="1538292" y="0"/>
                  </a:lnTo>
                  <a:lnTo>
                    <a:pt x="1538292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117" name="Google Shape;117;p1"/>
            <p:cNvSpPr txBox="1"/>
            <p:nvPr/>
          </p:nvSpPr>
          <p:spPr>
            <a:xfrm>
              <a:off x="0" y="-85725"/>
              <a:ext cx="1538292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" name="Google Shape;118;p1"/>
          <p:cNvGrpSpPr/>
          <p:nvPr/>
        </p:nvGrpSpPr>
        <p:grpSpPr>
          <a:xfrm>
            <a:off x="964994" y="27642710"/>
            <a:ext cx="14628843" cy="14358927"/>
            <a:chOff x="0" y="-85725"/>
            <a:chExt cx="1579497" cy="1550354"/>
          </a:xfrm>
        </p:grpSpPr>
        <p:sp>
          <p:nvSpPr>
            <p:cNvPr id="119" name="Google Shape;119;p1"/>
            <p:cNvSpPr/>
            <p:nvPr/>
          </p:nvSpPr>
          <p:spPr>
            <a:xfrm>
              <a:off x="0" y="0"/>
              <a:ext cx="1579497" cy="1464629"/>
            </a:xfrm>
            <a:custGeom>
              <a:avLst/>
              <a:gdLst/>
              <a:ahLst/>
              <a:cxnLst/>
              <a:rect l="l" t="t" r="r" b="b"/>
              <a:pathLst>
                <a:path w="1579497" h="1464629" extrusionOk="0">
                  <a:moveTo>
                    <a:pt x="0" y="0"/>
                  </a:moveTo>
                  <a:lnTo>
                    <a:pt x="1579497" y="0"/>
                  </a:lnTo>
                  <a:lnTo>
                    <a:pt x="1579497" y="1464629"/>
                  </a:lnTo>
                  <a:lnTo>
                    <a:pt x="0" y="1464629"/>
                  </a:lnTo>
                  <a:close/>
                </a:path>
              </a:pathLst>
            </a:custGeom>
            <a:solidFill>
              <a:srgbClr val="684769">
                <a:alpha val="17254"/>
              </a:srgbClr>
            </a:solidFill>
            <a:ln>
              <a:noFill/>
            </a:ln>
          </p:spPr>
        </p:sp>
        <p:sp>
          <p:nvSpPr>
            <p:cNvPr id="120" name="Google Shape;120;p1"/>
            <p:cNvSpPr txBox="1"/>
            <p:nvPr/>
          </p:nvSpPr>
          <p:spPr>
            <a:xfrm>
              <a:off x="0" y="-85725"/>
              <a:ext cx="1579496" cy="15503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lvl="0" algn="just">
                <a:lnSpc>
                  <a:spcPct val="150000"/>
                </a:lnSpc>
              </a:pPr>
              <a:r>
                <a:rPr lang="pt-BR" sz="2600" dirty="0"/>
                <a:t>A metodologia adotada foi organizada em três etapas principais: </a:t>
              </a:r>
              <a:r>
                <a:rPr lang="pt-BR" sz="2600" b="1" dirty="0"/>
                <a:t>(i) Controle e Programação</a:t>
              </a:r>
              <a:r>
                <a:rPr lang="pt-BR" sz="2600" dirty="0"/>
                <a:t>, envolvendo o desenvolvimento do algoritmo no </a:t>
              </a:r>
              <a:r>
                <a:rPr lang="pt-BR" sz="2600" dirty="0" err="1"/>
                <a:t>Arduino</a:t>
              </a:r>
              <a:r>
                <a:rPr lang="pt-BR" sz="2600" dirty="0"/>
                <a:t> para leitura do joystick, mapeamento dos sinais e acionamento dos </a:t>
              </a:r>
              <a:r>
                <a:rPr lang="pt-BR" sz="2600" dirty="0" err="1"/>
                <a:t>servomotores</a:t>
              </a:r>
              <a:r>
                <a:rPr lang="pt-BR" sz="2600" dirty="0"/>
                <a:t>; </a:t>
              </a:r>
              <a:r>
                <a:rPr lang="pt-BR" sz="2600" b="1" dirty="0"/>
                <a:t>(</a:t>
              </a:r>
              <a:r>
                <a:rPr lang="pt-BR" sz="2600" b="1" dirty="0" err="1"/>
                <a:t>ii</a:t>
              </a:r>
              <a:r>
                <a:rPr lang="pt-BR" sz="2600" b="1" dirty="0"/>
                <a:t>) Integração Eletrônica e Comunicação</a:t>
              </a:r>
              <a:r>
                <a:rPr lang="pt-BR" sz="2600" dirty="0"/>
                <a:t>, compreendendo a ligação do joystick, </a:t>
              </a:r>
              <a:r>
                <a:rPr lang="pt-BR" sz="2600" dirty="0" err="1"/>
                <a:t>Arduino</a:t>
              </a:r>
              <a:r>
                <a:rPr lang="pt-BR" sz="2600" dirty="0"/>
                <a:t> e </a:t>
              </a:r>
              <a:r>
                <a:rPr lang="pt-BR" sz="2600" dirty="0" err="1"/>
                <a:t>servomotores</a:t>
              </a:r>
              <a:r>
                <a:rPr lang="pt-BR" sz="2600" dirty="0"/>
                <a:t>, além do dimensionamento das conexões e testes de funcionamento; e </a:t>
              </a:r>
              <a:r>
                <a:rPr lang="pt-BR" sz="2600" b="1" dirty="0"/>
                <a:t>(</a:t>
              </a:r>
              <a:r>
                <a:rPr lang="pt-BR" sz="2600" b="1" dirty="0" err="1"/>
                <a:t>iii</a:t>
              </a:r>
              <a:r>
                <a:rPr lang="pt-BR" sz="2600" b="1" dirty="0"/>
                <a:t>) Construção Mecânica Sustentável</a:t>
              </a:r>
              <a:r>
                <a:rPr lang="pt-BR" sz="2600" dirty="0"/>
                <a:t>, que consistiu na montagem da estrutura do robô com materiais </a:t>
              </a:r>
              <a:r>
                <a:rPr lang="pt-BR" sz="2600" dirty="0" smtClean="0"/>
                <a:t>recicláveis. </a:t>
              </a:r>
              <a:r>
                <a:rPr lang="pt-BR" sz="2600" dirty="0"/>
                <a:t>Para maior clareza, cada etapa foi representada por </a:t>
              </a:r>
              <a:r>
                <a:rPr lang="pt-BR" sz="2600" b="1" dirty="0" smtClean="0"/>
                <a:t>fluxograma </a:t>
              </a:r>
              <a:r>
                <a:rPr lang="pt-BR" sz="2600" b="1" dirty="0"/>
                <a:t>de processo</a:t>
              </a:r>
              <a:r>
                <a:rPr lang="pt-BR" sz="2600" dirty="0"/>
                <a:t> e </a:t>
              </a:r>
              <a:r>
                <a:rPr lang="pt-BR" sz="2600" b="1" dirty="0" smtClean="0"/>
                <a:t>esquema mecânico</a:t>
              </a:r>
              <a:r>
                <a:rPr lang="pt-BR" sz="2600" dirty="0" smtClean="0"/>
                <a:t>, </a:t>
              </a:r>
              <a:r>
                <a:rPr lang="pt-BR" sz="2600" dirty="0"/>
                <a:t>ilustrando tanto o fluxo de controle quanto a disposição das articulações e atuadores na estrutura do robô </a:t>
              </a:r>
              <a:r>
                <a:rPr lang="pt-BR" sz="2600" dirty="0" err="1" smtClean="0"/>
                <a:t>animatrônico</a:t>
              </a:r>
              <a:r>
                <a:rPr lang="pt-BR" sz="2600" dirty="0" smtClean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</a:p>
            <a:p>
              <a:pPr lvl="0" algn="just">
                <a:lnSpc>
                  <a:spcPct val="150000"/>
                </a:lnSpc>
              </a:pPr>
              <a:endParaRPr lang="pt-BR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 smtClean="0"/>
            </a:p>
          </p:txBody>
        </p:sp>
      </p:grpSp>
      <p:grpSp>
        <p:nvGrpSpPr>
          <p:cNvPr id="121" name="Google Shape;121;p1"/>
          <p:cNvGrpSpPr/>
          <p:nvPr/>
        </p:nvGrpSpPr>
        <p:grpSpPr>
          <a:xfrm>
            <a:off x="1248265" y="26459793"/>
            <a:ext cx="14345563" cy="2593677"/>
            <a:chOff x="0" y="-85725"/>
            <a:chExt cx="1548911" cy="280043"/>
          </a:xfrm>
        </p:grpSpPr>
        <p:sp>
          <p:nvSpPr>
            <p:cNvPr id="122" name="Google Shape;122;p1"/>
            <p:cNvSpPr/>
            <p:nvPr/>
          </p:nvSpPr>
          <p:spPr>
            <a:xfrm>
              <a:off x="0" y="0"/>
              <a:ext cx="1548911" cy="194318"/>
            </a:xfrm>
            <a:custGeom>
              <a:avLst/>
              <a:gdLst/>
              <a:ahLst/>
              <a:cxnLst/>
              <a:rect l="l" t="t" r="r" b="b"/>
              <a:pathLst>
                <a:path w="1548911" h="194318" extrusionOk="0">
                  <a:moveTo>
                    <a:pt x="0" y="0"/>
                  </a:moveTo>
                  <a:lnTo>
                    <a:pt x="1548911" y="0"/>
                  </a:lnTo>
                  <a:lnTo>
                    <a:pt x="1548911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123" name="Google Shape;123;p1"/>
            <p:cNvSpPr txBox="1"/>
            <p:nvPr/>
          </p:nvSpPr>
          <p:spPr>
            <a:xfrm>
              <a:off x="0" y="-85725"/>
              <a:ext cx="1548911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1"/>
          <p:cNvGrpSpPr/>
          <p:nvPr/>
        </p:nvGrpSpPr>
        <p:grpSpPr>
          <a:xfrm>
            <a:off x="964994" y="26288458"/>
            <a:ext cx="14345563" cy="2593677"/>
            <a:chOff x="0" y="-85725"/>
            <a:chExt cx="1548911" cy="280043"/>
          </a:xfrm>
        </p:grpSpPr>
        <p:sp>
          <p:nvSpPr>
            <p:cNvPr id="125" name="Google Shape;125;p1"/>
            <p:cNvSpPr/>
            <p:nvPr/>
          </p:nvSpPr>
          <p:spPr>
            <a:xfrm>
              <a:off x="0" y="0"/>
              <a:ext cx="1548911" cy="194318"/>
            </a:xfrm>
            <a:custGeom>
              <a:avLst/>
              <a:gdLst/>
              <a:ahLst/>
              <a:cxnLst/>
              <a:rect l="l" t="t" r="r" b="b"/>
              <a:pathLst>
                <a:path w="1548911" h="194318" extrusionOk="0">
                  <a:moveTo>
                    <a:pt x="0" y="0"/>
                  </a:moveTo>
                  <a:lnTo>
                    <a:pt x="1548911" y="0"/>
                  </a:lnTo>
                  <a:lnTo>
                    <a:pt x="1548911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126" name="Google Shape;126;p1"/>
            <p:cNvSpPr txBox="1"/>
            <p:nvPr/>
          </p:nvSpPr>
          <p:spPr>
            <a:xfrm>
              <a:off x="0" y="-85725"/>
              <a:ext cx="1548911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" name="Google Shape;127;p1"/>
          <p:cNvGrpSpPr/>
          <p:nvPr/>
        </p:nvGrpSpPr>
        <p:grpSpPr>
          <a:xfrm>
            <a:off x="17724745" y="9222418"/>
            <a:ext cx="13185533" cy="15409979"/>
            <a:chOff x="0" y="-85725"/>
            <a:chExt cx="1423661" cy="1663838"/>
          </a:xfrm>
        </p:grpSpPr>
        <p:sp>
          <p:nvSpPr>
            <p:cNvPr id="128" name="Google Shape;128;p1"/>
            <p:cNvSpPr/>
            <p:nvPr/>
          </p:nvSpPr>
          <p:spPr>
            <a:xfrm>
              <a:off x="0" y="0"/>
              <a:ext cx="1423661" cy="1578113"/>
            </a:xfrm>
            <a:custGeom>
              <a:avLst/>
              <a:gdLst/>
              <a:ahLst/>
              <a:cxnLst/>
              <a:rect l="l" t="t" r="r" b="b"/>
              <a:pathLst>
                <a:path w="1423661" h="1578113" extrusionOk="0">
                  <a:moveTo>
                    <a:pt x="0" y="0"/>
                  </a:moveTo>
                  <a:lnTo>
                    <a:pt x="1423661" y="0"/>
                  </a:lnTo>
                  <a:lnTo>
                    <a:pt x="1423661" y="1578113"/>
                  </a:lnTo>
                  <a:lnTo>
                    <a:pt x="0" y="1578113"/>
                  </a:lnTo>
                  <a:close/>
                </a:path>
              </a:pathLst>
            </a:custGeom>
            <a:solidFill>
              <a:srgbClr val="684769">
                <a:alpha val="17254"/>
              </a:srgbClr>
            </a:solidFill>
            <a:ln>
              <a:noFill/>
            </a:ln>
          </p:spPr>
        </p:sp>
        <p:sp>
          <p:nvSpPr>
            <p:cNvPr id="129" name="Google Shape;129;p1"/>
            <p:cNvSpPr txBox="1"/>
            <p:nvPr/>
          </p:nvSpPr>
          <p:spPr>
            <a:xfrm>
              <a:off x="0" y="-85725"/>
              <a:ext cx="1423661" cy="16638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lvl="0" algn="just">
                <a:lnSpc>
                  <a:spcPct val="150000"/>
                </a:lnSpc>
              </a:pPr>
              <a:r>
                <a:rPr lang="pt-BR" sz="2600" dirty="0"/>
                <a:t>Após a montagem do protótipo, o sistema apresentou </a:t>
              </a:r>
              <a:r>
                <a:rPr lang="pt-BR" sz="2600" b="1" dirty="0"/>
                <a:t>movimentos articulados suaves e responsivos</a:t>
              </a:r>
              <a:r>
                <a:rPr lang="pt-BR" sz="2600" dirty="0"/>
                <a:t>.</a:t>
              </a:r>
              <a:br>
                <a:rPr lang="pt-BR" sz="2600" dirty="0"/>
              </a:br>
              <a:endParaRPr lang="pt-BR" sz="2600" dirty="0" smtClean="0"/>
            </a:p>
            <a:p>
              <a:pPr lvl="0" algn="just">
                <a:lnSpc>
                  <a:spcPct val="150000"/>
                </a:lnSpc>
              </a:pPr>
              <a:r>
                <a:rPr lang="pt-BR" sz="2600" dirty="0" smtClean="0"/>
                <a:t>O </a:t>
              </a:r>
              <a:r>
                <a:rPr lang="pt-BR" sz="2600" dirty="0"/>
                <a:t>controle via joystick demonstrou </a:t>
              </a:r>
              <a:r>
                <a:rPr lang="pt-BR" sz="2600" b="1" dirty="0"/>
                <a:t>boa sensibilidade</a:t>
              </a:r>
              <a:r>
                <a:rPr lang="pt-BR" sz="2600" dirty="0"/>
                <a:t> e </a:t>
              </a:r>
              <a:r>
                <a:rPr lang="pt-BR" sz="2600" b="1" dirty="0"/>
                <a:t>baixa latência</a:t>
              </a:r>
              <a:r>
                <a:rPr lang="pt-BR" sz="2600" dirty="0"/>
                <a:t>, permitindo acionar os servos em tempo </a:t>
              </a:r>
              <a:r>
                <a:rPr lang="pt-BR" sz="2600" dirty="0" smtClean="0"/>
                <a:t>real. A </a:t>
              </a:r>
              <a:r>
                <a:rPr lang="pt-BR" sz="2600" dirty="0"/>
                <a:t>estrutura feita com </a:t>
              </a:r>
              <a:r>
                <a:rPr lang="pt-BR" sz="2600" b="1" dirty="0"/>
                <a:t>materiais recicláveis</a:t>
              </a:r>
              <a:r>
                <a:rPr lang="pt-BR" sz="2600" dirty="0"/>
                <a:t> mostrou-se </a:t>
              </a:r>
              <a:r>
                <a:rPr lang="pt-BR" sz="2600" b="1" dirty="0" smtClean="0"/>
                <a:t>resistente </a:t>
              </a:r>
              <a:r>
                <a:rPr lang="pt-BR" sz="2600" b="1" dirty="0"/>
                <a:t>o suficiente</a:t>
              </a:r>
              <a:r>
                <a:rPr lang="pt-BR" sz="2600" dirty="0"/>
                <a:t> para movimentos simples e demonstrativos, reforçando a </a:t>
              </a:r>
              <a:r>
                <a:rPr lang="pt-BR" sz="2600" b="1" dirty="0"/>
                <a:t>viabilidade do reuso de resíduos sólidos</a:t>
              </a:r>
              <a:r>
                <a:rPr lang="pt-BR" sz="2600" dirty="0"/>
                <a:t> como alternativa de baixo custo em </a:t>
              </a:r>
              <a:r>
                <a:rPr lang="pt-BR" sz="2600" dirty="0" smtClean="0"/>
                <a:t>projetos educacionais. </a:t>
              </a:r>
            </a:p>
            <a:p>
              <a:pPr lvl="0" algn="just">
                <a:lnSpc>
                  <a:spcPct val="150000"/>
                </a:lnSpc>
              </a:pPr>
              <a:r>
                <a:rPr lang="pt-BR" sz="2600" dirty="0" smtClean="0"/>
                <a:t>Além </a:t>
              </a:r>
              <a:r>
                <a:rPr lang="pt-BR" sz="2600" dirty="0"/>
                <a:t>disso, o robô </a:t>
              </a:r>
              <a:r>
                <a:rPr lang="pt-BR" sz="2600" dirty="0" smtClean="0"/>
                <a:t>pode ser usando para desperta o </a:t>
              </a:r>
              <a:r>
                <a:rPr lang="pt-BR" sz="2600" b="1" dirty="0"/>
                <a:t>interesse em alunos e comunidades locais</a:t>
              </a:r>
              <a:r>
                <a:rPr lang="pt-BR" sz="2600" dirty="0"/>
                <a:t>, promovendo a discussão sobre </a:t>
              </a:r>
              <a:r>
                <a:rPr lang="pt-BR" sz="2600" b="1" dirty="0"/>
                <a:t>tecnologia, sustentabilidade e descarte consciente</a:t>
              </a:r>
              <a:r>
                <a:rPr lang="pt-BR" sz="2600" dirty="0" smtClean="0"/>
                <a:t>. A imagens a seguir ilustram a construção e funcionamento do </a:t>
              </a:r>
              <a:r>
                <a:rPr lang="pt-BR" sz="2600" dirty="0" err="1" smtClean="0"/>
                <a:t>animatrônico</a:t>
              </a:r>
              <a:r>
                <a:rPr lang="pt-BR" sz="2600" dirty="0" smtClean="0"/>
                <a:t>.</a:t>
              </a:r>
            </a:p>
            <a:p>
              <a:pPr lvl="0" algn="just">
                <a:lnSpc>
                  <a:spcPct val="150000"/>
                </a:lnSpc>
              </a:pPr>
              <a:endParaRPr lang="pt-BR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p1"/>
          <p:cNvGrpSpPr/>
          <p:nvPr/>
        </p:nvGrpSpPr>
        <p:grpSpPr>
          <a:xfrm>
            <a:off x="17980069" y="8269724"/>
            <a:ext cx="12930209" cy="2593677"/>
            <a:chOff x="0" y="-85725"/>
            <a:chExt cx="1396093" cy="280043"/>
          </a:xfrm>
        </p:grpSpPr>
        <p:sp>
          <p:nvSpPr>
            <p:cNvPr id="131" name="Google Shape;131;p1"/>
            <p:cNvSpPr/>
            <p:nvPr/>
          </p:nvSpPr>
          <p:spPr>
            <a:xfrm>
              <a:off x="0" y="0"/>
              <a:ext cx="1396093" cy="194318"/>
            </a:xfrm>
            <a:custGeom>
              <a:avLst/>
              <a:gdLst/>
              <a:ahLst/>
              <a:cxnLst/>
              <a:rect l="l" t="t" r="r" b="b"/>
              <a:pathLst>
                <a:path w="1396093" h="194318" extrusionOk="0">
                  <a:moveTo>
                    <a:pt x="0" y="0"/>
                  </a:moveTo>
                  <a:lnTo>
                    <a:pt x="1396093" y="0"/>
                  </a:lnTo>
                  <a:lnTo>
                    <a:pt x="1396093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132" name="Google Shape;132;p1"/>
            <p:cNvSpPr txBox="1"/>
            <p:nvPr/>
          </p:nvSpPr>
          <p:spPr>
            <a:xfrm>
              <a:off x="0" y="-85725"/>
              <a:ext cx="1396093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" name="Google Shape;133;p1"/>
          <p:cNvGrpSpPr/>
          <p:nvPr/>
        </p:nvGrpSpPr>
        <p:grpSpPr>
          <a:xfrm>
            <a:off x="17724745" y="8098390"/>
            <a:ext cx="12930209" cy="2593677"/>
            <a:chOff x="0" y="-85725"/>
            <a:chExt cx="1396093" cy="280043"/>
          </a:xfrm>
        </p:grpSpPr>
        <p:sp>
          <p:nvSpPr>
            <p:cNvPr id="134" name="Google Shape;134;p1"/>
            <p:cNvSpPr/>
            <p:nvPr/>
          </p:nvSpPr>
          <p:spPr>
            <a:xfrm>
              <a:off x="0" y="0"/>
              <a:ext cx="1396093" cy="194318"/>
            </a:xfrm>
            <a:custGeom>
              <a:avLst/>
              <a:gdLst/>
              <a:ahLst/>
              <a:cxnLst/>
              <a:rect l="l" t="t" r="r" b="b"/>
              <a:pathLst>
                <a:path w="1396093" h="194318" extrusionOk="0">
                  <a:moveTo>
                    <a:pt x="0" y="0"/>
                  </a:moveTo>
                  <a:lnTo>
                    <a:pt x="1396093" y="0"/>
                  </a:lnTo>
                  <a:lnTo>
                    <a:pt x="1396093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135" name="Google Shape;135;p1"/>
            <p:cNvSpPr txBox="1"/>
            <p:nvPr/>
          </p:nvSpPr>
          <p:spPr>
            <a:xfrm>
              <a:off x="0" y="-85725"/>
              <a:ext cx="1396093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" name="Google Shape;136;p1"/>
          <p:cNvGrpSpPr/>
          <p:nvPr/>
        </p:nvGrpSpPr>
        <p:grpSpPr>
          <a:xfrm>
            <a:off x="17724745" y="25792965"/>
            <a:ext cx="13185533" cy="10801112"/>
            <a:chOff x="0" y="-85725"/>
            <a:chExt cx="1423661" cy="1166212"/>
          </a:xfrm>
        </p:grpSpPr>
        <p:sp>
          <p:nvSpPr>
            <p:cNvPr id="137" name="Google Shape;137;p1"/>
            <p:cNvSpPr/>
            <p:nvPr/>
          </p:nvSpPr>
          <p:spPr>
            <a:xfrm>
              <a:off x="0" y="0"/>
              <a:ext cx="1423661" cy="1080487"/>
            </a:xfrm>
            <a:custGeom>
              <a:avLst/>
              <a:gdLst/>
              <a:ahLst/>
              <a:cxnLst/>
              <a:rect l="l" t="t" r="r" b="b"/>
              <a:pathLst>
                <a:path w="1423661" h="1080487" extrusionOk="0">
                  <a:moveTo>
                    <a:pt x="0" y="0"/>
                  </a:moveTo>
                  <a:lnTo>
                    <a:pt x="1423661" y="0"/>
                  </a:lnTo>
                  <a:lnTo>
                    <a:pt x="1423661" y="1080487"/>
                  </a:lnTo>
                  <a:lnTo>
                    <a:pt x="0" y="1080487"/>
                  </a:lnTo>
                  <a:close/>
                </a:path>
              </a:pathLst>
            </a:custGeom>
            <a:solidFill>
              <a:srgbClr val="684769">
                <a:alpha val="17254"/>
              </a:srgbClr>
            </a:solidFill>
            <a:ln>
              <a:noFill/>
            </a:ln>
          </p:spPr>
        </p:sp>
        <p:sp>
          <p:nvSpPr>
            <p:cNvPr id="138" name="Google Shape;138;p1"/>
            <p:cNvSpPr txBox="1"/>
            <p:nvPr/>
          </p:nvSpPr>
          <p:spPr>
            <a:xfrm>
              <a:off x="0" y="-85725"/>
              <a:ext cx="1423661" cy="1166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lvl="0" algn="just">
                <a:lnSpc>
                  <a:spcPct val="150000"/>
                </a:lnSpc>
              </a:pPr>
              <a:endParaRPr lang="pt-BR" sz="2600" dirty="0" smtClean="0"/>
            </a:p>
            <a:p>
              <a:pPr lvl="0" algn="just">
                <a:lnSpc>
                  <a:spcPct val="150000"/>
                </a:lnSpc>
              </a:pPr>
              <a:endParaRPr lang="pt-BR" sz="2600" dirty="0"/>
            </a:p>
            <a:p>
              <a:pPr lvl="0" algn="just">
                <a:lnSpc>
                  <a:spcPct val="150000"/>
                </a:lnSpc>
              </a:pPr>
              <a:endParaRPr lang="pt-BR" sz="2600" dirty="0" smtClean="0"/>
            </a:p>
            <a:p>
              <a:pPr lvl="0" algn="just">
                <a:lnSpc>
                  <a:spcPct val="150000"/>
                </a:lnSpc>
              </a:pPr>
              <a:endParaRPr lang="pt-BR" sz="2600" dirty="0"/>
            </a:p>
            <a:p>
              <a:pPr lvl="0" algn="just">
                <a:lnSpc>
                  <a:spcPct val="150000"/>
                </a:lnSpc>
              </a:pPr>
              <a:endParaRPr lang="pt-BR" sz="2600" dirty="0" smtClean="0"/>
            </a:p>
            <a:p>
              <a:pPr lvl="0" algn="just">
                <a:lnSpc>
                  <a:spcPct val="150000"/>
                </a:lnSpc>
              </a:pPr>
              <a:r>
                <a:rPr lang="pt-BR" sz="2600" dirty="0" smtClean="0"/>
                <a:t>Conclui-se </a:t>
              </a:r>
              <a:r>
                <a:rPr lang="pt-BR" sz="2600" dirty="0"/>
                <a:t>que o </a:t>
              </a:r>
              <a:r>
                <a:rPr lang="pt-BR" sz="2600" b="1" dirty="0"/>
                <a:t>robô </a:t>
              </a:r>
              <a:r>
                <a:rPr lang="pt-BR" sz="2600" b="1" dirty="0" err="1"/>
                <a:t>animatrônico</a:t>
              </a:r>
              <a:r>
                <a:rPr lang="pt-BR" sz="2600" b="1" dirty="0"/>
                <a:t> sustentável</a:t>
              </a:r>
              <a:r>
                <a:rPr lang="pt-BR" sz="2600" dirty="0"/>
                <a:t> desenvolvido neste projeto representa uma </a:t>
              </a:r>
              <a:r>
                <a:rPr lang="pt-BR" sz="2600" b="1" dirty="0"/>
                <a:t>ferramenta didática eficaz</a:t>
              </a:r>
              <a:r>
                <a:rPr lang="pt-BR" sz="2600" dirty="0"/>
                <a:t>, capaz de unir </a:t>
              </a:r>
              <a:r>
                <a:rPr lang="pt-BR" sz="2600" b="1" dirty="0"/>
                <a:t>educação tecnológica e conscientização </a:t>
              </a:r>
              <a:r>
                <a:rPr lang="pt-BR" sz="2600" b="1" dirty="0" smtClean="0"/>
                <a:t>ambiental</a:t>
              </a:r>
              <a:r>
                <a:rPr lang="pt-BR" sz="2600" dirty="0" smtClean="0"/>
                <a:t>. O </a:t>
              </a:r>
              <a:r>
                <a:rPr lang="pt-BR" sz="2600" dirty="0"/>
                <a:t>uso de </a:t>
              </a:r>
              <a:r>
                <a:rPr lang="pt-BR" sz="2600" b="1" dirty="0"/>
                <a:t>materiais recicláveis</a:t>
              </a:r>
              <a:r>
                <a:rPr lang="pt-BR" sz="2600" dirty="0"/>
                <a:t> e </a:t>
              </a:r>
              <a:r>
                <a:rPr lang="pt-BR" sz="2600" b="1" dirty="0"/>
                <a:t>componentes eletrônicos acessíveis</a:t>
              </a:r>
              <a:r>
                <a:rPr lang="pt-BR" sz="2600" dirty="0"/>
                <a:t> demonstrou que é possível construir sistemas funcionais e educativos sem depender de altos investimentos</a:t>
              </a:r>
              <a:r>
                <a:rPr lang="pt-BR" sz="2600" dirty="0" smtClean="0"/>
                <a:t>.</a:t>
              </a:r>
            </a:p>
            <a:p>
              <a:pPr lvl="0" algn="just">
                <a:lnSpc>
                  <a:spcPct val="150000"/>
                </a:lnSpc>
              </a:pPr>
              <a:r>
                <a:rPr lang="pt-BR" sz="2600" dirty="0"/>
                <a:t/>
              </a:r>
              <a:br>
                <a:rPr lang="pt-BR" sz="2600" dirty="0"/>
              </a:br>
              <a:r>
                <a:rPr lang="pt-BR" sz="2600" dirty="0"/>
                <a:t>Como trabalhos futuros, recomenda-se implementar </a:t>
              </a:r>
              <a:r>
                <a:rPr lang="pt-BR" sz="2600" b="1" dirty="0"/>
                <a:t>expressões faciais mais complexas</a:t>
              </a:r>
              <a:r>
                <a:rPr lang="pt-BR" sz="2600" dirty="0"/>
                <a:t>, </a:t>
              </a:r>
              <a:r>
                <a:rPr lang="pt-BR" sz="2600" b="1" dirty="0"/>
                <a:t>controle sem fio</a:t>
              </a:r>
              <a:r>
                <a:rPr lang="pt-BR" sz="2600" dirty="0"/>
                <a:t> e </a:t>
              </a:r>
              <a:r>
                <a:rPr lang="pt-BR" sz="2600" b="1" dirty="0"/>
                <a:t>integração com sensores</a:t>
              </a:r>
              <a:r>
                <a:rPr lang="pt-BR" sz="2600" dirty="0"/>
                <a:t>, ampliando o potencial interativo e pedagógico do protótipo</a:t>
              </a:r>
              <a:r>
                <a:rPr lang="pt-BR" sz="2600" dirty="0" smtClean="0"/>
                <a:t>.</a:t>
              </a:r>
            </a:p>
            <a:p>
              <a:pPr lvl="0" algn="just">
                <a:lnSpc>
                  <a:spcPct val="150000"/>
                </a:lnSpc>
              </a:pPr>
              <a:endParaRPr lang="pt-BR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1"/>
          <p:cNvGrpSpPr/>
          <p:nvPr/>
        </p:nvGrpSpPr>
        <p:grpSpPr>
          <a:xfrm>
            <a:off x="17980069" y="24202522"/>
            <a:ext cx="12930209" cy="2593677"/>
            <a:chOff x="0" y="-85725"/>
            <a:chExt cx="1396093" cy="280043"/>
          </a:xfrm>
        </p:grpSpPr>
        <p:sp>
          <p:nvSpPr>
            <p:cNvPr id="140" name="Google Shape;140;p1"/>
            <p:cNvSpPr/>
            <p:nvPr/>
          </p:nvSpPr>
          <p:spPr>
            <a:xfrm>
              <a:off x="0" y="0"/>
              <a:ext cx="1396093" cy="194318"/>
            </a:xfrm>
            <a:custGeom>
              <a:avLst/>
              <a:gdLst/>
              <a:ahLst/>
              <a:cxnLst/>
              <a:rect l="l" t="t" r="r" b="b"/>
              <a:pathLst>
                <a:path w="1396093" h="194318" extrusionOk="0">
                  <a:moveTo>
                    <a:pt x="0" y="0"/>
                  </a:moveTo>
                  <a:lnTo>
                    <a:pt x="1396093" y="0"/>
                  </a:lnTo>
                  <a:lnTo>
                    <a:pt x="1396093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141" name="Google Shape;141;p1"/>
            <p:cNvSpPr txBox="1"/>
            <p:nvPr/>
          </p:nvSpPr>
          <p:spPr>
            <a:xfrm>
              <a:off x="0" y="-85725"/>
              <a:ext cx="1396093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1"/>
          <p:cNvGrpSpPr/>
          <p:nvPr/>
        </p:nvGrpSpPr>
        <p:grpSpPr>
          <a:xfrm>
            <a:off x="17724745" y="24031188"/>
            <a:ext cx="12930209" cy="2593677"/>
            <a:chOff x="0" y="-85725"/>
            <a:chExt cx="1396093" cy="280043"/>
          </a:xfrm>
        </p:grpSpPr>
        <p:sp>
          <p:nvSpPr>
            <p:cNvPr id="143" name="Google Shape;143;p1"/>
            <p:cNvSpPr/>
            <p:nvPr/>
          </p:nvSpPr>
          <p:spPr>
            <a:xfrm>
              <a:off x="0" y="0"/>
              <a:ext cx="1396093" cy="194318"/>
            </a:xfrm>
            <a:custGeom>
              <a:avLst/>
              <a:gdLst/>
              <a:ahLst/>
              <a:cxnLst/>
              <a:rect l="l" t="t" r="r" b="b"/>
              <a:pathLst>
                <a:path w="1396093" h="194318" extrusionOk="0">
                  <a:moveTo>
                    <a:pt x="0" y="0"/>
                  </a:moveTo>
                  <a:lnTo>
                    <a:pt x="1396093" y="0"/>
                  </a:lnTo>
                  <a:lnTo>
                    <a:pt x="1396093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144" name="Google Shape;144;p1"/>
            <p:cNvSpPr txBox="1"/>
            <p:nvPr/>
          </p:nvSpPr>
          <p:spPr>
            <a:xfrm>
              <a:off x="0" y="-85725"/>
              <a:ext cx="1396093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1"/>
          <p:cNvSpPr txBox="1"/>
          <p:nvPr/>
        </p:nvSpPr>
        <p:spPr>
          <a:xfrm>
            <a:off x="4243405" y="3679595"/>
            <a:ext cx="21934443" cy="2517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0017"/>
              </a:lnSpc>
            </a:pPr>
            <a:r>
              <a:rPr lang="pt-BR" sz="7437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ANIMATRÔNICO SUSTENTÁVEL: CONSTRUÇÃO COM MATERIAIS RECICLÁVEIS E CONTROLADO POR ARDUINO</a:t>
            </a:r>
            <a:endParaRPr dirty="0"/>
          </a:p>
        </p:txBody>
      </p:sp>
      <p:sp>
        <p:nvSpPr>
          <p:cNvPr id="146" name="Google Shape;146;p1"/>
          <p:cNvSpPr txBox="1"/>
          <p:nvPr/>
        </p:nvSpPr>
        <p:spPr>
          <a:xfrm>
            <a:off x="6229239" y="6619373"/>
            <a:ext cx="20471700" cy="148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US" sz="2800" dirty="0">
                <a:latin typeface="Oswald"/>
                <a:ea typeface="Oswald"/>
                <a:cs typeface="Oswald"/>
                <a:sym typeface="Oswald"/>
              </a:rPr>
              <a:t>Jefferson </a:t>
            </a:r>
            <a:r>
              <a:rPr lang="en-US" sz="2800" dirty="0" err="1">
                <a:latin typeface="Oswald"/>
                <a:ea typeface="Oswald"/>
                <a:cs typeface="Oswald"/>
                <a:sym typeface="Oswald"/>
              </a:rPr>
              <a:t>Bezerra</a:t>
            </a:r>
            <a:r>
              <a:rPr lang="en-US" sz="2800" dirty="0">
                <a:latin typeface="Oswald"/>
                <a:ea typeface="Oswald"/>
                <a:cs typeface="Oswald"/>
                <a:sym typeface="Oswald"/>
              </a:rPr>
              <a:t> dos </a:t>
            </a:r>
            <a:r>
              <a:rPr lang="en-US" sz="2800" dirty="0" smtClean="0">
                <a:latin typeface="Oswald"/>
                <a:ea typeface="Oswald"/>
                <a:cs typeface="Oswald"/>
                <a:sym typeface="Oswald"/>
              </a:rPr>
              <a:t>Santos ¹, </a:t>
            </a:r>
            <a:r>
              <a:rPr lang="en-US" sz="2800" dirty="0">
                <a:latin typeface="Oswald"/>
                <a:ea typeface="Oswald"/>
                <a:cs typeface="Oswald"/>
                <a:sym typeface="Oswald"/>
              </a:rPr>
              <a:t>Alberto Ferreira da </a:t>
            </a:r>
            <a:r>
              <a:rPr lang="en-US" sz="2800" dirty="0" smtClean="0">
                <a:latin typeface="Oswald"/>
                <a:ea typeface="Oswald"/>
                <a:cs typeface="Oswald"/>
                <a:sym typeface="Oswald"/>
              </a:rPr>
              <a:t>Silva </a:t>
            </a:r>
            <a:r>
              <a:rPr lang="en-US" sz="2800" b="0" i="0" u="none" strike="noStrike" cap="none" dirty="0" smtClean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²</a:t>
            </a:r>
            <a:endParaRPr sz="1200" dirty="0"/>
          </a:p>
          <a:p>
            <a:pPr lvl="0" algn="ctr">
              <a:lnSpc>
                <a:spcPct val="115000"/>
              </a:lnSpc>
            </a:pPr>
            <a:r>
              <a:rPr lang="en-US" sz="2800" b="0" i="0" u="none" strike="noStrike" cap="none" dirty="0" smtClean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                                   ¹</a:t>
            </a:r>
            <a:r>
              <a:rPr lang="pt-BR" sz="2800" dirty="0">
                <a:latin typeface="Oswald"/>
                <a:ea typeface="Oswald"/>
                <a:cs typeface="Oswald"/>
                <a:sym typeface="Oswald"/>
              </a:rPr>
              <a:t>Professor da EREFEM Monsenhor José </a:t>
            </a:r>
            <a:r>
              <a:rPr lang="pt-BR" sz="2800" dirty="0" err="1">
                <a:latin typeface="Oswald"/>
                <a:ea typeface="Oswald"/>
                <a:cs typeface="Oswald"/>
                <a:sym typeface="Oswald"/>
              </a:rPr>
              <a:t>Kerhle</a:t>
            </a:r>
            <a:r>
              <a:rPr lang="pt-BR" sz="2800">
                <a:latin typeface="Oswald"/>
                <a:ea typeface="Oswald"/>
                <a:cs typeface="Oswald"/>
                <a:sym typeface="Oswald"/>
              </a:rPr>
              <a:t>, </a:t>
            </a:r>
            <a:r>
              <a:rPr lang="pt-BR" sz="2800" smtClean="0">
                <a:latin typeface="Oswald"/>
                <a:ea typeface="Oswald"/>
                <a:cs typeface="Oswald"/>
                <a:sym typeface="Oswald"/>
              </a:rPr>
              <a:t>jefferson.bsantos42@professor.educacao.pe.gov.br, Arcoverde</a:t>
            </a:r>
            <a:r>
              <a:rPr lang="pt-BR" sz="2800" dirty="0">
                <a:latin typeface="Oswald"/>
                <a:ea typeface="Oswald"/>
                <a:cs typeface="Oswald"/>
                <a:sym typeface="Oswald"/>
              </a:rPr>
              <a:t>, </a:t>
            </a:r>
            <a:r>
              <a:rPr lang="pt-BR" sz="2800" dirty="0" smtClean="0">
                <a:latin typeface="Oswald"/>
                <a:ea typeface="Oswald"/>
                <a:cs typeface="Oswald"/>
                <a:sym typeface="Oswald"/>
              </a:rPr>
              <a:t>Pernambuco.</a:t>
            </a:r>
            <a:endParaRPr lang="pt-BR" sz="1200" dirty="0">
              <a:ea typeface="Oswald"/>
            </a:endParaRPr>
          </a:p>
          <a:p>
            <a:pPr lvl="0" algn="ctr">
              <a:lnSpc>
                <a:spcPct val="115000"/>
              </a:lnSpc>
            </a:pPr>
            <a:r>
              <a:rPr lang="en-US" sz="2800" b="0" i="0" u="none" strike="noStrike" cap="none" dirty="0" smtClean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²</a:t>
            </a:r>
            <a:r>
              <a:rPr lang="pt-BR" sz="2800" dirty="0">
                <a:latin typeface="Oswald"/>
                <a:ea typeface="Oswald"/>
                <a:cs typeface="Oswald"/>
                <a:sym typeface="Oswald"/>
              </a:rPr>
              <a:t>Estudante da EREFEM Monsenhor José </a:t>
            </a:r>
            <a:r>
              <a:rPr lang="pt-BR" sz="2800" dirty="0" err="1">
                <a:latin typeface="Oswald"/>
                <a:ea typeface="Oswald"/>
                <a:cs typeface="Oswald"/>
                <a:sym typeface="Oswald"/>
              </a:rPr>
              <a:t>Kerhle</a:t>
            </a:r>
            <a:r>
              <a:rPr lang="pt-BR" sz="2800" dirty="0">
                <a:latin typeface="Oswald"/>
                <a:ea typeface="Oswald"/>
                <a:cs typeface="Oswald"/>
                <a:sym typeface="Oswald"/>
              </a:rPr>
              <a:t>, bettoosilva000@gmail.com, Arcoverde, Pernambuco.</a:t>
            </a:r>
            <a:endParaRPr sz="2800" b="0" i="0" u="none" strike="noStrike" cap="none" dirty="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7" name="Google Shape;147;p1"/>
          <p:cNvSpPr txBox="1"/>
          <p:nvPr/>
        </p:nvSpPr>
        <p:spPr>
          <a:xfrm>
            <a:off x="5905502" y="831351"/>
            <a:ext cx="22068704" cy="22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21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MOSTRA DE ESTUDANTES</a:t>
            </a:r>
            <a:endParaRPr/>
          </a:p>
        </p:txBody>
      </p:sp>
      <p:sp>
        <p:nvSpPr>
          <p:cNvPr id="148" name="Google Shape;148;p1"/>
          <p:cNvSpPr txBox="1"/>
          <p:nvPr/>
        </p:nvSpPr>
        <p:spPr>
          <a:xfrm>
            <a:off x="1248265" y="9222291"/>
            <a:ext cx="13674509" cy="1151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92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INTRODUÇÃO</a:t>
            </a:r>
            <a:endParaRPr/>
          </a:p>
        </p:txBody>
      </p:sp>
      <p:sp>
        <p:nvSpPr>
          <p:cNvPr id="149" name="Google Shape;149;p1"/>
          <p:cNvSpPr txBox="1"/>
          <p:nvPr/>
        </p:nvSpPr>
        <p:spPr>
          <a:xfrm>
            <a:off x="1246323" y="19165837"/>
            <a:ext cx="13676451" cy="1151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92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OBJETIVOS</a:t>
            </a:r>
            <a:endParaRPr/>
          </a:p>
        </p:txBody>
      </p:sp>
      <p:sp>
        <p:nvSpPr>
          <p:cNvPr id="150" name="Google Shape;150;p1"/>
          <p:cNvSpPr txBox="1"/>
          <p:nvPr/>
        </p:nvSpPr>
        <p:spPr>
          <a:xfrm>
            <a:off x="1248265" y="27444838"/>
            <a:ext cx="13923486" cy="1151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92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METODOLOGIA</a:t>
            </a:r>
            <a:endParaRPr/>
          </a:p>
        </p:txBody>
      </p:sp>
      <p:sp>
        <p:nvSpPr>
          <p:cNvPr id="151" name="Google Shape;151;p1"/>
          <p:cNvSpPr txBox="1"/>
          <p:nvPr/>
        </p:nvSpPr>
        <p:spPr>
          <a:xfrm>
            <a:off x="17971036" y="9365198"/>
            <a:ext cx="12683918" cy="924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96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RESULTADOS E DISCUSSÃO</a:t>
            </a:r>
            <a:endParaRPr/>
          </a:p>
        </p:txBody>
      </p:sp>
      <p:sp>
        <p:nvSpPr>
          <p:cNvPr id="152" name="Google Shape;152;p1"/>
          <p:cNvSpPr txBox="1"/>
          <p:nvPr/>
        </p:nvSpPr>
        <p:spPr>
          <a:xfrm>
            <a:off x="17820461" y="25310198"/>
            <a:ext cx="12919256" cy="108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21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CONCLUSÕES</a:t>
            </a:r>
            <a:endParaRPr/>
          </a:p>
        </p:txBody>
      </p:sp>
      <p:sp>
        <p:nvSpPr>
          <p:cNvPr id="153" name="Google Shape;153;p1"/>
          <p:cNvSpPr/>
          <p:nvPr/>
        </p:nvSpPr>
        <p:spPr>
          <a:xfrm>
            <a:off x="27869094" y="39711105"/>
            <a:ext cx="4520413" cy="1767000"/>
          </a:xfrm>
          <a:custGeom>
            <a:avLst/>
            <a:gdLst/>
            <a:ahLst/>
            <a:cxnLst/>
            <a:rect l="l" t="t" r="r" b="b"/>
            <a:pathLst>
              <a:path w="4520413" h="1767000" extrusionOk="0">
                <a:moveTo>
                  <a:pt x="0" y="0"/>
                </a:moveTo>
                <a:lnTo>
                  <a:pt x="4520412" y="0"/>
                </a:lnTo>
                <a:lnTo>
                  <a:pt x="4520412" y="1767000"/>
                </a:lnTo>
                <a:lnTo>
                  <a:pt x="0" y="176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295600"/>
            </a:stretch>
          </a:blipFill>
          <a:ln>
            <a:noFill/>
          </a:ln>
        </p:spPr>
      </p:sp>
      <p:sp>
        <p:nvSpPr>
          <p:cNvPr id="154" name="Google Shape;154;p1"/>
          <p:cNvSpPr/>
          <p:nvPr/>
        </p:nvSpPr>
        <p:spPr>
          <a:xfrm>
            <a:off x="28571868" y="36794878"/>
            <a:ext cx="3114865" cy="3639784"/>
          </a:xfrm>
          <a:custGeom>
            <a:avLst/>
            <a:gdLst/>
            <a:ahLst/>
            <a:cxnLst/>
            <a:rect l="l" t="t" r="r" b="b"/>
            <a:pathLst>
              <a:path w="3114865" h="3639784" extrusionOk="0">
                <a:moveTo>
                  <a:pt x="0" y="0"/>
                </a:moveTo>
                <a:lnTo>
                  <a:pt x="3114864" y="0"/>
                </a:lnTo>
                <a:lnTo>
                  <a:pt x="3114864" y="3639783"/>
                </a:lnTo>
                <a:lnTo>
                  <a:pt x="0" y="3639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5" name="Google Shape;155;p1"/>
          <p:cNvSpPr/>
          <p:nvPr/>
        </p:nvSpPr>
        <p:spPr>
          <a:xfrm>
            <a:off x="28356571" y="41386148"/>
            <a:ext cx="3335656" cy="1050227"/>
          </a:xfrm>
          <a:custGeom>
            <a:avLst/>
            <a:gdLst/>
            <a:ahLst/>
            <a:cxnLst/>
            <a:rect l="l" t="t" r="r" b="b"/>
            <a:pathLst>
              <a:path w="3335656" h="1050227" extrusionOk="0">
                <a:moveTo>
                  <a:pt x="0" y="0"/>
                </a:moveTo>
                <a:lnTo>
                  <a:pt x="3335656" y="0"/>
                </a:lnTo>
                <a:lnTo>
                  <a:pt x="3335656" y="1050227"/>
                </a:lnTo>
                <a:lnTo>
                  <a:pt x="0" y="10502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l="-22203" t="-235062" r="-25552" b="-390574"/>
            </a:stretch>
          </a:blipFill>
          <a:ln>
            <a:noFill/>
          </a:ln>
        </p:spPr>
      </p:sp>
      <p:sp>
        <p:nvSpPr>
          <p:cNvPr id="156" name="Google Shape;156;p1"/>
          <p:cNvSpPr/>
          <p:nvPr/>
        </p:nvSpPr>
        <p:spPr>
          <a:xfrm>
            <a:off x="24000690" y="37447405"/>
            <a:ext cx="4690637" cy="2662466"/>
          </a:xfrm>
          <a:custGeom>
            <a:avLst/>
            <a:gdLst/>
            <a:ahLst/>
            <a:cxnLst/>
            <a:rect l="l" t="t" r="r" b="b"/>
            <a:pathLst>
              <a:path w="4690637" h="2662466" extrusionOk="0">
                <a:moveTo>
                  <a:pt x="0" y="0"/>
                </a:moveTo>
                <a:lnTo>
                  <a:pt x="4690636" y="0"/>
                </a:lnTo>
                <a:lnTo>
                  <a:pt x="4690636" y="2662466"/>
                </a:lnTo>
                <a:lnTo>
                  <a:pt x="0" y="2662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76171"/>
            </a:stretch>
          </a:blipFill>
          <a:ln>
            <a:noFill/>
          </a:ln>
        </p:spPr>
      </p:sp>
      <p:sp>
        <p:nvSpPr>
          <p:cNvPr id="157" name="Google Shape;157;p1"/>
          <p:cNvSpPr txBox="1"/>
          <p:nvPr/>
        </p:nvSpPr>
        <p:spPr>
          <a:xfrm>
            <a:off x="24281103" y="40475005"/>
            <a:ext cx="4129810" cy="1526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93" b="1" i="0" u="none" strike="noStrike" cap="none">
                <a:solidFill>
                  <a:srgbClr val="050A30"/>
                </a:solidFill>
                <a:latin typeface="Open Sans"/>
                <a:ea typeface="Open Sans"/>
                <a:cs typeface="Open Sans"/>
                <a:sym typeface="Open Sans"/>
              </a:rPr>
              <a:t>MOSTRA CIENTÍFICA DO SERTÃO DO MOXOTÓ IPANEMA</a:t>
            </a:r>
            <a:endParaRPr/>
          </a:p>
        </p:txBody>
      </p:sp>
      <p:sp>
        <p:nvSpPr>
          <p:cNvPr id="158" name="Google Shape;158;p1"/>
          <p:cNvSpPr/>
          <p:nvPr/>
        </p:nvSpPr>
        <p:spPr>
          <a:xfrm>
            <a:off x="16881391" y="37337027"/>
            <a:ext cx="6857899" cy="1864512"/>
          </a:xfrm>
          <a:custGeom>
            <a:avLst/>
            <a:gdLst/>
            <a:ahLst/>
            <a:cxnLst/>
            <a:rect l="l" t="t" r="r" b="b"/>
            <a:pathLst>
              <a:path w="6857899" h="1864512" extrusionOk="0">
                <a:moveTo>
                  <a:pt x="0" y="0"/>
                </a:moveTo>
                <a:lnTo>
                  <a:pt x="6857899" y="0"/>
                </a:lnTo>
                <a:lnTo>
                  <a:pt x="6857899" y="1864513"/>
                </a:lnTo>
                <a:lnTo>
                  <a:pt x="0" y="18645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9" name="Google Shape;159;p1"/>
          <p:cNvSpPr/>
          <p:nvPr/>
        </p:nvSpPr>
        <p:spPr>
          <a:xfrm>
            <a:off x="17520707" y="39370920"/>
            <a:ext cx="5718033" cy="1744000"/>
          </a:xfrm>
          <a:custGeom>
            <a:avLst/>
            <a:gdLst/>
            <a:ahLst/>
            <a:cxnLst/>
            <a:rect l="l" t="t" r="r" b="b"/>
            <a:pathLst>
              <a:path w="5718033" h="1744000" extrusionOk="0">
                <a:moveTo>
                  <a:pt x="0" y="0"/>
                </a:moveTo>
                <a:lnTo>
                  <a:pt x="5718032" y="0"/>
                </a:lnTo>
                <a:lnTo>
                  <a:pt x="5718032" y="1744000"/>
                </a:lnTo>
                <a:lnTo>
                  <a:pt x="0" y="1744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60" name="Google Shape;160;p1"/>
          <p:cNvGrpSpPr/>
          <p:nvPr/>
        </p:nvGrpSpPr>
        <p:grpSpPr>
          <a:xfrm>
            <a:off x="16465151" y="41266896"/>
            <a:ext cx="7793966" cy="971369"/>
            <a:chOff x="0" y="0"/>
            <a:chExt cx="10391956" cy="1295159"/>
          </a:xfrm>
        </p:grpSpPr>
        <p:sp>
          <p:nvSpPr>
            <p:cNvPr id="161" name="Google Shape;161;p1"/>
            <p:cNvSpPr/>
            <p:nvPr/>
          </p:nvSpPr>
          <p:spPr>
            <a:xfrm>
              <a:off x="2080443" y="152586"/>
              <a:ext cx="4125115" cy="1069555"/>
            </a:xfrm>
            <a:custGeom>
              <a:avLst/>
              <a:gdLst/>
              <a:ahLst/>
              <a:cxnLst/>
              <a:rect l="l" t="t" r="r" b="b"/>
              <a:pathLst>
                <a:path w="4125115" h="1069555" extrusionOk="0">
                  <a:moveTo>
                    <a:pt x="0" y="0"/>
                  </a:moveTo>
                  <a:lnTo>
                    <a:pt x="4125116" y="0"/>
                  </a:lnTo>
                  <a:lnTo>
                    <a:pt x="4125116" y="1069554"/>
                  </a:lnTo>
                  <a:lnTo>
                    <a:pt x="0" y="106955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2">
                <a:alphaModFix/>
              </a:blip>
              <a:stretch>
                <a:fillRect l="-29637"/>
              </a:stretch>
            </a:blipFill>
            <a:ln>
              <a:noFill/>
            </a:ln>
          </p:spPr>
        </p:sp>
        <p:sp>
          <p:nvSpPr>
            <p:cNvPr id="162" name="Google Shape;162;p1"/>
            <p:cNvSpPr/>
            <p:nvPr/>
          </p:nvSpPr>
          <p:spPr>
            <a:xfrm>
              <a:off x="0" y="0"/>
              <a:ext cx="2214777" cy="1012847"/>
            </a:xfrm>
            <a:custGeom>
              <a:avLst/>
              <a:gdLst/>
              <a:ahLst/>
              <a:cxnLst/>
              <a:rect l="l" t="t" r="r" b="b"/>
              <a:pathLst>
                <a:path w="2214777" h="1012847" extrusionOk="0">
                  <a:moveTo>
                    <a:pt x="0" y="0"/>
                  </a:moveTo>
                  <a:lnTo>
                    <a:pt x="2214777" y="0"/>
                  </a:lnTo>
                  <a:lnTo>
                    <a:pt x="2214777" y="1012847"/>
                  </a:lnTo>
                  <a:lnTo>
                    <a:pt x="0" y="10128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3">
                <a:alphaModFix/>
              </a:blip>
              <a:stretch>
                <a:fillRect l="-49979" t="-400918" r="-191107" b="-76648"/>
              </a:stretch>
            </a:blipFill>
            <a:ln>
              <a:noFill/>
            </a:ln>
          </p:spPr>
        </p:sp>
        <p:sp>
          <p:nvSpPr>
            <p:cNvPr id="163" name="Google Shape;163;p1"/>
            <p:cNvSpPr/>
            <p:nvPr/>
          </p:nvSpPr>
          <p:spPr>
            <a:xfrm>
              <a:off x="5980114" y="152586"/>
              <a:ext cx="4411842" cy="1142573"/>
            </a:xfrm>
            <a:custGeom>
              <a:avLst/>
              <a:gdLst/>
              <a:ahLst/>
              <a:cxnLst/>
              <a:rect l="l" t="t" r="r" b="b"/>
              <a:pathLst>
                <a:path w="4411842" h="1142573" extrusionOk="0">
                  <a:moveTo>
                    <a:pt x="0" y="0"/>
                  </a:moveTo>
                  <a:lnTo>
                    <a:pt x="4411843" y="0"/>
                  </a:lnTo>
                  <a:lnTo>
                    <a:pt x="4411843" y="1142573"/>
                  </a:lnTo>
                  <a:lnTo>
                    <a:pt x="0" y="114257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4">
                <a:alphaModFix/>
              </a:blip>
              <a:stretch>
                <a:fillRect t="-68144" b="-89110"/>
              </a:stretch>
            </a:blipFill>
            <a:ln>
              <a:noFill/>
            </a:ln>
          </p:spPr>
        </p:sp>
      </p:grpSp>
      <p:sp>
        <p:nvSpPr>
          <p:cNvPr id="164" name="Google Shape;164;p1"/>
          <p:cNvSpPr/>
          <p:nvPr/>
        </p:nvSpPr>
        <p:spPr>
          <a:xfrm>
            <a:off x="29582010" y="786619"/>
            <a:ext cx="615775" cy="1005347"/>
          </a:xfrm>
          <a:custGeom>
            <a:avLst/>
            <a:gdLst/>
            <a:ahLst/>
            <a:cxnLst/>
            <a:rect l="l" t="t" r="r" b="b"/>
            <a:pathLst>
              <a:path w="615775" h="1005347" extrusionOk="0">
                <a:moveTo>
                  <a:pt x="0" y="0"/>
                </a:moveTo>
                <a:lnTo>
                  <a:pt x="615775" y="0"/>
                </a:lnTo>
                <a:lnTo>
                  <a:pt x="615775" y="1005346"/>
                </a:lnTo>
                <a:lnTo>
                  <a:pt x="0" y="10053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5" name="Google Shape;165;p1"/>
          <p:cNvSpPr/>
          <p:nvPr/>
        </p:nvSpPr>
        <p:spPr>
          <a:xfrm>
            <a:off x="29019923" y="1791965"/>
            <a:ext cx="2355724" cy="2717490"/>
          </a:xfrm>
          <a:custGeom>
            <a:avLst/>
            <a:gdLst/>
            <a:ahLst/>
            <a:cxnLst/>
            <a:rect l="l" t="t" r="r" b="b"/>
            <a:pathLst>
              <a:path w="2355724" h="2717490" extrusionOk="0">
                <a:moveTo>
                  <a:pt x="0" y="0"/>
                </a:moveTo>
                <a:lnTo>
                  <a:pt x="2355724" y="0"/>
                </a:lnTo>
                <a:lnTo>
                  <a:pt x="2355724" y="2717490"/>
                </a:lnTo>
                <a:lnTo>
                  <a:pt x="0" y="27174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6" name="Google Shape;166;p1"/>
          <p:cNvSpPr/>
          <p:nvPr/>
        </p:nvSpPr>
        <p:spPr>
          <a:xfrm>
            <a:off x="28284503" y="6686048"/>
            <a:ext cx="3911138" cy="1094154"/>
          </a:xfrm>
          <a:custGeom>
            <a:avLst/>
            <a:gdLst/>
            <a:ahLst/>
            <a:cxnLst/>
            <a:rect l="l" t="t" r="r" b="b"/>
            <a:pathLst>
              <a:path w="3911138" h="1094154" extrusionOk="0">
                <a:moveTo>
                  <a:pt x="0" y="0"/>
                </a:moveTo>
                <a:lnTo>
                  <a:pt x="3911138" y="0"/>
                </a:lnTo>
                <a:lnTo>
                  <a:pt x="3911138" y="1094154"/>
                </a:lnTo>
                <a:lnTo>
                  <a:pt x="0" y="1094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7" name="Google Shape;167;p1"/>
          <p:cNvSpPr/>
          <p:nvPr/>
        </p:nvSpPr>
        <p:spPr>
          <a:xfrm>
            <a:off x="28446739" y="4719005"/>
            <a:ext cx="3641518" cy="1760067"/>
          </a:xfrm>
          <a:custGeom>
            <a:avLst/>
            <a:gdLst/>
            <a:ahLst/>
            <a:cxnLst/>
            <a:rect l="l" t="t" r="r" b="b"/>
            <a:pathLst>
              <a:path w="3641518" h="1760067" extrusionOk="0">
                <a:moveTo>
                  <a:pt x="0" y="0"/>
                </a:moveTo>
                <a:lnTo>
                  <a:pt x="3641518" y="0"/>
                </a:lnTo>
                <a:lnTo>
                  <a:pt x="3641518" y="1760067"/>
                </a:lnTo>
                <a:lnTo>
                  <a:pt x="0" y="17600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8" name="Google Shape;168;p1" descr="image5.png"/>
          <p:cNvSpPr/>
          <p:nvPr/>
        </p:nvSpPr>
        <p:spPr>
          <a:xfrm rot="10800000">
            <a:off x="58930" y="77864"/>
            <a:ext cx="5846544" cy="5871159"/>
          </a:xfrm>
          <a:custGeom>
            <a:avLst/>
            <a:gdLst/>
            <a:ahLst/>
            <a:cxnLst/>
            <a:rect l="l" t="t" r="r" b="b"/>
            <a:pathLst>
              <a:path w="9923907" h="9965690" extrusionOk="0">
                <a:moveTo>
                  <a:pt x="9923907" y="9965690"/>
                </a:moveTo>
                <a:lnTo>
                  <a:pt x="0" y="9965690"/>
                </a:lnTo>
                <a:lnTo>
                  <a:pt x="0" y="0"/>
                </a:lnTo>
                <a:lnTo>
                  <a:pt x="9923907" y="0"/>
                </a:lnTo>
                <a:lnTo>
                  <a:pt x="9923907" y="9965690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 r="-100324" b="-99485"/>
            </a:stretch>
          </a:blipFill>
          <a:ln>
            <a:noFill/>
          </a:ln>
        </p:spPr>
      </p:sp>
      <p:sp>
        <p:nvSpPr>
          <p:cNvPr id="169" name="Google Shape;169;p1" descr="image4.png"/>
          <p:cNvSpPr/>
          <p:nvPr/>
        </p:nvSpPr>
        <p:spPr>
          <a:xfrm rot="10800000">
            <a:off x="-155980" y="89995"/>
            <a:ext cx="1950682" cy="1945682"/>
          </a:xfrm>
          <a:custGeom>
            <a:avLst/>
            <a:gdLst/>
            <a:ahLst/>
            <a:cxnLst/>
            <a:rect l="l" t="t" r="r" b="b"/>
            <a:pathLst>
              <a:path w="3220720" h="3212465" extrusionOk="0">
                <a:moveTo>
                  <a:pt x="3220720" y="3212465"/>
                </a:moveTo>
                <a:lnTo>
                  <a:pt x="0" y="3212465"/>
                </a:lnTo>
                <a:lnTo>
                  <a:pt x="0" y="0"/>
                </a:lnTo>
                <a:lnTo>
                  <a:pt x="3220720" y="0"/>
                </a:lnTo>
                <a:lnTo>
                  <a:pt x="3220720" y="3212465"/>
                </a:lnTo>
                <a:close/>
              </a:path>
            </a:pathLst>
          </a:custGeom>
          <a:blipFill rotWithShape="1">
            <a:blip r:embed="rId20">
              <a:alphaModFix/>
            </a:blip>
            <a:stretch>
              <a:fillRect r="-97902" b="-98416"/>
            </a:stretch>
          </a:blipFill>
          <a:ln>
            <a:noFill/>
          </a:ln>
        </p:spPr>
      </p:sp>
      <p:grpSp>
        <p:nvGrpSpPr>
          <p:cNvPr id="170" name="Google Shape;170;p1"/>
          <p:cNvGrpSpPr/>
          <p:nvPr/>
        </p:nvGrpSpPr>
        <p:grpSpPr>
          <a:xfrm>
            <a:off x="964994" y="10069441"/>
            <a:ext cx="14528538" cy="8457752"/>
            <a:chOff x="0" y="-85725"/>
            <a:chExt cx="1568667" cy="913196"/>
          </a:xfrm>
        </p:grpSpPr>
        <p:sp>
          <p:nvSpPr>
            <p:cNvPr id="171" name="Google Shape;171;p1"/>
            <p:cNvSpPr/>
            <p:nvPr/>
          </p:nvSpPr>
          <p:spPr>
            <a:xfrm>
              <a:off x="0" y="0"/>
              <a:ext cx="1568667" cy="827471"/>
            </a:xfrm>
            <a:custGeom>
              <a:avLst/>
              <a:gdLst/>
              <a:ahLst/>
              <a:cxnLst/>
              <a:rect l="l" t="t" r="r" b="b"/>
              <a:pathLst>
                <a:path w="1568667" h="827471" extrusionOk="0">
                  <a:moveTo>
                    <a:pt x="0" y="0"/>
                  </a:moveTo>
                  <a:lnTo>
                    <a:pt x="1568667" y="0"/>
                  </a:lnTo>
                  <a:lnTo>
                    <a:pt x="1568667" y="827471"/>
                  </a:lnTo>
                  <a:lnTo>
                    <a:pt x="0" y="827471"/>
                  </a:lnTo>
                  <a:close/>
                </a:path>
              </a:pathLst>
            </a:custGeom>
            <a:solidFill>
              <a:srgbClr val="684769">
                <a:alpha val="17254"/>
              </a:srgbClr>
            </a:solidFill>
            <a:ln>
              <a:noFill/>
            </a:ln>
          </p:spPr>
        </p:sp>
        <p:sp>
          <p:nvSpPr>
            <p:cNvPr id="172" name="Google Shape;172;p1"/>
            <p:cNvSpPr txBox="1"/>
            <p:nvPr/>
          </p:nvSpPr>
          <p:spPr>
            <a:xfrm>
              <a:off x="0" y="-85725"/>
              <a:ext cx="1568667" cy="913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lvl="0" algn="just">
                <a:lnSpc>
                  <a:spcPct val="150000"/>
                </a:lnSpc>
              </a:pPr>
              <a:r>
                <a:rPr lang="pt-BR" sz="2600" dirty="0"/>
                <a:t>O avanço da robótica educacional e da cultura “</a:t>
              </a:r>
              <a:r>
                <a:rPr lang="pt-BR" sz="2600" dirty="0" err="1"/>
                <a:t>maker</a:t>
              </a:r>
              <a:r>
                <a:rPr lang="pt-BR" sz="2600" dirty="0"/>
                <a:t>” tem permitido o desenvolvimento de soluções tecnológicas com materiais acessíveis e sustentáveis. Este projeto propõe a construção de um </a:t>
              </a:r>
              <a:r>
                <a:rPr lang="pt-BR" sz="2600" b="1" dirty="0"/>
                <a:t>robô </a:t>
              </a:r>
              <a:r>
                <a:rPr lang="pt-BR" sz="2600" b="1" dirty="0" err="1"/>
                <a:t>animatrônico</a:t>
              </a:r>
              <a:r>
                <a:rPr lang="pt-BR" sz="2600" b="1" dirty="0"/>
                <a:t> sustentável</a:t>
              </a:r>
              <a:r>
                <a:rPr lang="pt-BR" sz="2600" dirty="0"/>
                <a:t>, utilizando </a:t>
              </a:r>
              <a:r>
                <a:rPr lang="pt-BR" sz="2600" b="1" dirty="0"/>
                <a:t>papelão, sobras de MDF, palitos, papel e </a:t>
              </a:r>
              <a:r>
                <a:rPr lang="pt-BR" sz="2600" b="1" dirty="0" smtClean="0"/>
                <a:t>arame</a:t>
              </a:r>
              <a:r>
                <a:rPr lang="pt-BR" sz="2600" dirty="0" smtClean="0"/>
                <a:t> — </a:t>
              </a:r>
              <a:r>
                <a:rPr lang="pt-BR" sz="2600" dirty="0"/>
                <a:t>resíduos comuns no lixo </a:t>
              </a:r>
              <a:r>
                <a:rPr lang="pt-BR" sz="2600" dirty="0" smtClean="0"/>
                <a:t>urbano. </a:t>
              </a:r>
            </a:p>
            <a:p>
              <a:pPr lvl="0" algn="just">
                <a:lnSpc>
                  <a:spcPct val="150000"/>
                </a:lnSpc>
              </a:pPr>
              <a:endParaRPr lang="pt-BR" sz="2600" dirty="0"/>
            </a:p>
            <a:p>
              <a:pPr lvl="0" algn="just">
                <a:lnSpc>
                  <a:spcPct val="150000"/>
                </a:lnSpc>
              </a:pPr>
              <a:r>
                <a:rPr lang="pt-BR" sz="2600" dirty="0" smtClean="0"/>
                <a:t>A </a:t>
              </a:r>
              <a:r>
                <a:rPr lang="pt-BR" sz="2600" dirty="0"/>
                <a:t>proposta busca </a:t>
              </a:r>
              <a:r>
                <a:rPr lang="pt-BR" sz="2600" b="1" dirty="0"/>
                <a:t>aliar tecnologia, criatividade e educação ambiental</a:t>
              </a:r>
              <a:r>
                <a:rPr lang="pt-BR" sz="2600" dirty="0"/>
                <a:t>, demonstrando que a robótica pode ser aplicada com </a:t>
              </a:r>
              <a:r>
                <a:rPr lang="pt-BR" sz="2600" b="1" dirty="0"/>
                <a:t>baixo custo e forte apelo ecológico</a:t>
              </a:r>
              <a:r>
                <a:rPr lang="pt-BR" sz="2600" dirty="0"/>
                <a:t>, especialmente em contextos como o município de </a:t>
              </a:r>
              <a:r>
                <a:rPr lang="pt-BR" sz="2600" b="1" dirty="0"/>
                <a:t>Arcoverde (PE)</a:t>
              </a:r>
              <a:r>
                <a:rPr lang="pt-BR" sz="2600" dirty="0"/>
                <a:t>, localizado no semiárido brasileiro.</a:t>
              </a:r>
              <a:br>
                <a:rPr lang="pt-BR" sz="2600" dirty="0"/>
              </a:br>
              <a:r>
                <a:rPr lang="pt-BR" sz="2600" dirty="0"/>
                <a:t>O sistema </a:t>
              </a:r>
              <a:r>
                <a:rPr lang="pt-BR" sz="2600" dirty="0" err="1"/>
                <a:t>animatrônico</a:t>
              </a:r>
              <a:r>
                <a:rPr lang="pt-BR" sz="2600" dirty="0"/>
                <a:t> é controlado por </a:t>
              </a:r>
              <a:r>
                <a:rPr lang="pt-BR" sz="2600" b="1" dirty="0" err="1"/>
                <a:t>servomotores</a:t>
              </a:r>
              <a:r>
                <a:rPr lang="pt-BR" sz="2600" dirty="0"/>
                <a:t> conectados a um </a:t>
              </a:r>
              <a:r>
                <a:rPr lang="pt-BR" sz="2600" b="1" dirty="0" err="1"/>
                <a:t>Arduino</a:t>
              </a:r>
              <a:r>
                <a:rPr lang="pt-BR" sz="2600" dirty="0"/>
                <a:t>, recebendo comandos em tempo real de um </a:t>
              </a:r>
              <a:r>
                <a:rPr lang="pt-BR" sz="2600" b="1" dirty="0"/>
                <a:t>joystick analógico</a:t>
              </a:r>
              <a:r>
                <a:rPr lang="pt-BR" sz="2600" dirty="0"/>
                <a:t>, permitindo </a:t>
              </a:r>
              <a:r>
                <a:rPr lang="pt-BR" sz="2600" b="1" dirty="0"/>
                <a:t>movimentos interativos e expressivos</a:t>
              </a:r>
              <a:r>
                <a:rPr lang="pt-BR" sz="2600" dirty="0"/>
                <a:t>.</a:t>
              </a:r>
              <a:endParaRPr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" name="Imagem 4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201" y="34822173"/>
            <a:ext cx="6351446" cy="4636922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97178" y="20533546"/>
            <a:ext cx="4012478" cy="3806472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0353" y="20533546"/>
            <a:ext cx="4604820" cy="3878785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2401" y="16097659"/>
            <a:ext cx="10058400" cy="4283656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97" y="34156063"/>
            <a:ext cx="10257618" cy="76537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566</Words>
  <Application>Microsoft Office PowerPoint</Application>
  <PresentationFormat>Personalizar</PresentationFormat>
  <Paragraphs>73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Oswald</vt:lpstr>
      <vt:lpstr>Calibri</vt:lpstr>
      <vt:lpstr>Arial</vt:lpstr>
      <vt:lpstr>Open Sans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Jeffrey24</dc:creator>
  <cp:lastModifiedBy>Jeffrey24</cp:lastModifiedBy>
  <cp:revision>15</cp:revision>
  <dcterms:created xsi:type="dcterms:W3CDTF">2006-08-16T00:00:00Z</dcterms:created>
  <dcterms:modified xsi:type="dcterms:W3CDTF">2025-10-23T13:27:29Z</dcterms:modified>
</cp:coreProperties>
</file>