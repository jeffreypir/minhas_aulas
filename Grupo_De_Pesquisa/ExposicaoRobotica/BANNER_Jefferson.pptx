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238500" cy="4318000"/>
  <p:notesSz cx="3238500" cy="431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70" d="100"/>
          <a:sy n="270" d="100"/>
        </p:scale>
        <p:origin x="468" y="-27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2887" y="1338580"/>
            <a:ext cx="2752725" cy="906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5775" y="2418080"/>
            <a:ext cx="2266950" cy="1079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61925" y="993140"/>
            <a:ext cx="1408747" cy="2849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667827" y="993140"/>
            <a:ext cx="1408747" cy="2849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1"/>
            <a:ext cx="3238500" cy="431482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830177"/>
            <a:ext cx="3237738" cy="348464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3238500" cy="41548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3846" y="190157"/>
            <a:ext cx="1200452" cy="104607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8718" y="109715"/>
            <a:ext cx="1875104" cy="153245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8903" y="1869846"/>
            <a:ext cx="571101" cy="19988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5618" y="922060"/>
            <a:ext cx="770983" cy="67580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6547" y="3040113"/>
            <a:ext cx="571098" cy="19988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8903" y="2450084"/>
            <a:ext cx="723393" cy="199885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17142" y="1969477"/>
            <a:ext cx="571101" cy="199885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17155" y="2932765"/>
            <a:ext cx="571101" cy="19988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95589" y="906913"/>
            <a:ext cx="1141810" cy="19734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95589" y="1152525"/>
            <a:ext cx="1365021" cy="19725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73744" y="1969477"/>
            <a:ext cx="571101" cy="199885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24850" y="3835792"/>
            <a:ext cx="180848" cy="180845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9042" y="3786395"/>
            <a:ext cx="780503" cy="3045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2681" y="860061"/>
            <a:ext cx="971550" cy="27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1925" y="993140"/>
            <a:ext cx="2914650" cy="2849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01090" y="4015740"/>
            <a:ext cx="1036320" cy="21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61925" y="4015740"/>
            <a:ext cx="744855" cy="21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31720" y="4015740"/>
            <a:ext cx="744855" cy="21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3903" y="1919269"/>
            <a:ext cx="288290" cy="7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25" dirty="0">
                <a:solidFill>
                  <a:srgbClr val="FFFFFF"/>
                </a:solidFill>
                <a:latin typeface="Arial Black"/>
                <a:cs typeface="Arial Black"/>
              </a:rPr>
              <a:t>INTRODUÇÃO</a:t>
            </a:r>
            <a:endParaRPr sz="3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130" y="3089544"/>
            <a:ext cx="266700" cy="7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25" dirty="0">
                <a:solidFill>
                  <a:srgbClr val="FFFFFF"/>
                </a:solidFill>
                <a:latin typeface="Arial Black"/>
                <a:cs typeface="Arial Black"/>
              </a:rPr>
              <a:t>CONCLUSÃO</a:t>
            </a:r>
            <a:endParaRPr sz="300" dirty="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1383" y="2982209"/>
            <a:ext cx="258445" cy="7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35" dirty="0">
                <a:solidFill>
                  <a:srgbClr val="FFFFFF"/>
                </a:solidFill>
                <a:latin typeface="Arial Black"/>
                <a:cs typeface="Arial Black"/>
              </a:rPr>
              <a:t>REFERÊNCIA</a:t>
            </a:r>
            <a:endParaRPr sz="3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6393" y="2502694"/>
            <a:ext cx="527050" cy="69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" spc="-50" dirty="0">
                <a:solidFill>
                  <a:srgbClr val="FFFFFF"/>
                </a:solidFill>
                <a:latin typeface="Arial Black"/>
                <a:cs typeface="Arial Black"/>
              </a:rPr>
              <a:t>RESULTADOS</a:t>
            </a:r>
            <a:r>
              <a:rPr sz="3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" spc="-6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300" spc="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" spc="-40" dirty="0">
                <a:solidFill>
                  <a:srgbClr val="FFFFFF"/>
                </a:solidFill>
                <a:latin typeface="Arial Black"/>
                <a:cs typeface="Arial Black"/>
              </a:rPr>
              <a:t>DISCUSSÕES</a:t>
            </a:r>
            <a:endParaRPr sz="300"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2ª</a:t>
            </a:r>
            <a:r>
              <a:rPr spc="-95" dirty="0"/>
              <a:t> </a:t>
            </a:r>
            <a:r>
              <a:rPr spc="155" dirty="0"/>
              <a:t>EXPO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42681" y="1151237"/>
            <a:ext cx="1120775" cy="24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85" dirty="0">
                <a:solidFill>
                  <a:srgbClr val="FFFFFF"/>
                </a:solidFill>
                <a:latin typeface="Verdana"/>
                <a:cs typeface="Verdana"/>
              </a:rPr>
              <a:t>ROBÓTICA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2353" y="2035508"/>
            <a:ext cx="924204" cy="292516"/>
          </a:xfrm>
          <a:prstGeom prst="rect">
            <a:avLst/>
          </a:prstGeom>
          <a:ln w="5720">
            <a:solidFill>
              <a:srgbClr val="1B171C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13335" marR="5715" algn="just">
              <a:lnSpc>
                <a:spcPct val="111000"/>
              </a:lnSpc>
              <a:spcBef>
                <a:spcPts val="170"/>
              </a:spcBef>
            </a:pPr>
            <a:r>
              <a:rPr lang="pt-BR" sz="200" dirty="0" smtClean="0">
                <a:latin typeface="Arial"/>
                <a:cs typeface="Arial"/>
              </a:rPr>
              <a:t>Este trabalho apresenta a aplicação do </a:t>
            </a:r>
            <a:r>
              <a:rPr lang="pt-BR" sz="200" dirty="0" err="1" smtClean="0">
                <a:latin typeface="Arial"/>
                <a:cs typeface="Arial"/>
              </a:rPr>
              <a:t>Arduino</a:t>
            </a:r>
            <a:r>
              <a:rPr lang="pt-BR" sz="200" dirty="0" smtClean="0">
                <a:latin typeface="Arial"/>
                <a:cs typeface="Arial"/>
              </a:rPr>
              <a:t> como ferramenta educacional e tecnológica em três projetos distintos, evidenciando sua versatilidade para integrar tecnologia, sustentabilidade e práticas de ensino. O estudo parte da necessidade de promover metodologias ativas que conciliem baixo custo, inovação, interdisciplinaridade e sustentabilidade, permitindo a criação de soluções acessíveis e funcionais em contextos educacionais. Nesse sentido, a plataforma </a:t>
            </a:r>
            <a:r>
              <a:rPr lang="pt-BR" sz="200" dirty="0" err="1" smtClean="0">
                <a:latin typeface="Arial"/>
                <a:cs typeface="Arial"/>
              </a:rPr>
              <a:t>Arduino</a:t>
            </a:r>
            <a:r>
              <a:rPr lang="pt-BR" sz="200" dirty="0" smtClean="0">
                <a:latin typeface="Arial"/>
                <a:cs typeface="Arial"/>
              </a:rPr>
              <a:t> se destaca como um recurso aberto e acessível que estimula a criatividade, a aprendizagem prática e a consciência socioambiental.</a:t>
            </a:r>
            <a:endParaRPr lang="pt-BR" sz="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9828" y="1384311"/>
            <a:ext cx="1075055" cy="171201"/>
          </a:xfrm>
          <a:prstGeom prst="rect">
            <a:avLst/>
          </a:prstGeom>
          <a:ln w="4570">
            <a:solidFill>
              <a:srgbClr val="1B171C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195"/>
              </a:spcBef>
            </a:pPr>
            <a:r>
              <a:rPr lang="pt-BR" sz="950" b="1" spc="-10" dirty="0" err="1" smtClean="0">
                <a:latin typeface="Arial"/>
                <a:cs typeface="Arial"/>
              </a:rPr>
              <a:t>Arduino</a:t>
            </a:r>
            <a:r>
              <a:rPr lang="pt-BR" sz="950" b="1" spc="-10" dirty="0" smtClean="0">
                <a:latin typeface="Arial"/>
                <a:cs typeface="Arial"/>
              </a:rPr>
              <a:t> no Ensino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1121" y="2120882"/>
            <a:ext cx="643120" cy="513602"/>
          </a:xfrm>
          <a:prstGeom prst="rect">
            <a:avLst/>
          </a:prstGeom>
          <a:ln w="6083">
            <a:solidFill>
              <a:srgbClr val="1B171C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105"/>
              </a:spcBef>
            </a:pPr>
            <a:r>
              <a:rPr lang="pt-BR" sz="200" dirty="0" smtClean="0">
                <a:latin typeface="Arial" panose="020B0604020202020204" pitchFamily="34" charset="0"/>
                <a:cs typeface="Arial" panose="020B0604020202020204" pitchFamily="34" charset="0"/>
              </a:rPr>
              <a:t>Demonstrar o potencial do uso da plataforma </a:t>
            </a:r>
            <a:r>
              <a:rPr lang="pt-BR" sz="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Arduino</a:t>
            </a:r>
            <a:r>
              <a:rPr lang="pt-BR" sz="200" dirty="0" smtClean="0">
                <a:latin typeface="Arial" panose="020B0604020202020204" pitchFamily="34" charset="0"/>
                <a:cs typeface="Arial" panose="020B0604020202020204" pitchFamily="34" charset="0"/>
              </a:rPr>
              <a:t> como ferramenta interdisciplinar no ensino de ciências, tecnologia e sustentabilidade, por meio do desenvolvimento de protótipos educacionais de baixo custo que integrem conceitos de robótica, automação, eletrônica, programação e análise de dados, promovendo a aprendizagem ativa e a consciência socioambiental em contextos educacionais.</a:t>
            </a:r>
          </a:p>
          <a:p>
            <a:pPr algn="just">
              <a:lnSpc>
                <a:spcPct val="100000"/>
              </a:lnSpc>
              <a:spcBef>
                <a:spcPts val="105"/>
              </a:spcBef>
            </a:pPr>
            <a:r>
              <a:rPr lang="pt-BR" sz="200" dirty="0" smtClean="0">
                <a:latin typeface="Arial" panose="020B0604020202020204" pitchFamily="34" charset="0"/>
                <a:cs typeface="Arial" panose="020B0604020202020204" pitchFamily="34" charset="0"/>
              </a:rPr>
              <a:t>Objetivos Específicos:</a:t>
            </a:r>
          </a:p>
          <a:p>
            <a:pPr algn="just">
              <a:lnSpc>
                <a:spcPct val="100000"/>
              </a:lnSpc>
              <a:spcBef>
                <a:spcPts val="105"/>
              </a:spcBef>
            </a:pPr>
            <a:r>
              <a:rPr lang="pt-BR" sz="200" dirty="0" smtClean="0">
                <a:latin typeface="Arial" panose="020B0604020202020204" pitchFamily="34" charset="0"/>
                <a:cs typeface="Arial" panose="020B0604020202020204" pitchFamily="34" charset="0"/>
              </a:rPr>
              <a:t>Integrar os conhecimentos de ciência, tecnologia, engenharia, artes e matemática (STEAM) em práticas educacionais acessíveis e colaborativas.</a:t>
            </a:r>
          </a:p>
          <a:p>
            <a:pPr algn="just">
              <a:lnSpc>
                <a:spcPct val="100000"/>
              </a:lnSpc>
              <a:spcBef>
                <a:spcPts val="105"/>
              </a:spcBef>
            </a:pPr>
            <a:r>
              <a:rPr lang="pt-BR" sz="200" dirty="0" smtClean="0">
                <a:latin typeface="Arial" panose="020B0604020202020204" pitchFamily="34" charset="0"/>
                <a:cs typeface="Arial" panose="020B0604020202020204" pitchFamily="34" charset="0"/>
              </a:rPr>
              <a:t>Estimular a criatividade e o pensamento crítico dos estudantes por meio da prototipagem e experimentação prática da programação</a:t>
            </a:r>
            <a:r>
              <a:rPr lang="pt-BR" sz="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00250" y="2120882"/>
            <a:ext cx="862945" cy="400110"/>
          </a:xfrm>
          <a:prstGeom prst="rect">
            <a:avLst/>
          </a:prstGeom>
          <a:ln w="8642">
            <a:solidFill>
              <a:srgbClr val="1B17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pt-BR" sz="200" dirty="0" smtClean="0">
                <a:latin typeface="Arial" panose="020B0604020202020204" pitchFamily="34" charset="0"/>
                <a:cs typeface="Arial" panose="020B0604020202020204" pitchFamily="34" charset="0"/>
              </a:rPr>
              <a:t>O processo metodológico foi estruturado em três eixos formativos principais:</a:t>
            </a:r>
          </a:p>
          <a:p>
            <a:pPr algn="just">
              <a:lnSpc>
                <a:spcPct val="100000"/>
              </a:lnSpc>
            </a:pPr>
            <a:r>
              <a:rPr lang="pt-BR" sz="200" dirty="0" smtClean="0">
                <a:latin typeface="Arial" panose="020B0604020202020204" pitchFamily="34" charset="0"/>
                <a:cs typeface="Arial" panose="020B0604020202020204" pitchFamily="34" charset="0"/>
              </a:rPr>
              <a:t>Raciocínio Lógico e Pensamento Computacional: os estudantes foram introduzidos aos fundamentos da programação estruturada em C/C++ e à lógica de controle aplicada à robótica, desenvolvendo habilidades de resolução de problemas e depuração de código.</a:t>
            </a:r>
          </a:p>
          <a:p>
            <a:pPr algn="just">
              <a:lnSpc>
                <a:spcPct val="100000"/>
              </a:lnSpc>
            </a:pPr>
            <a:r>
              <a:rPr lang="pt-BR" sz="200" dirty="0" smtClean="0">
                <a:latin typeface="Arial" panose="020B0604020202020204" pitchFamily="34" charset="0"/>
                <a:cs typeface="Arial" panose="020B0604020202020204" pitchFamily="34" charset="0"/>
              </a:rPr>
              <a:t>Integração de Sistemas e Eletrônica Aplicada: foram trabalhados conceitos de sensores, atuadores e circuitos elétricos, promovendo o entendimento de como diferentes componentes interagem para compor sistemas automatizados e responsivos.</a:t>
            </a:r>
          </a:p>
          <a:p>
            <a:pPr algn="just">
              <a:lnSpc>
                <a:spcPct val="100000"/>
              </a:lnSpc>
            </a:pPr>
            <a:r>
              <a:rPr lang="pt-BR" sz="200" dirty="0" smtClean="0">
                <a:latin typeface="Arial" panose="020B0604020202020204" pitchFamily="34" charset="0"/>
                <a:cs typeface="Arial" panose="020B0604020202020204" pitchFamily="34" charset="0"/>
              </a:rPr>
              <a:t>Sustentabilidade, Criatividade e Design Experimental: estimulou-se o uso de materiais recicláveis e reaproveitados na construção dos protótipos, incentivando a consciência ecológica e o pensamento criativo no planejamento e execução dos projetos</a:t>
            </a:r>
            <a:endParaRPr sz="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3049" y="2606797"/>
            <a:ext cx="913508" cy="453457"/>
          </a:xfrm>
          <a:prstGeom prst="rect">
            <a:avLst/>
          </a:prstGeom>
          <a:ln w="6090">
            <a:solidFill>
              <a:srgbClr val="1B17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04" marR="27940" algn="just">
              <a:lnSpc>
                <a:spcPct val="107700"/>
              </a:lnSpc>
            </a:pPr>
            <a:r>
              <a:rPr lang="pt-BR" sz="210" dirty="0" smtClean="0">
                <a:latin typeface="Arial"/>
                <a:cs typeface="Arial"/>
              </a:rPr>
              <a:t>Os resultados obtidos a partir da aplicação dos projetos interdisciplinares evidenciaram avanços significativos no desenvolvimento de habilidades técnicas e </a:t>
            </a:r>
            <a:r>
              <a:rPr lang="pt-BR" sz="210" dirty="0" err="1" smtClean="0">
                <a:latin typeface="Arial"/>
                <a:cs typeface="Arial"/>
              </a:rPr>
              <a:t>socioemocionais</a:t>
            </a:r>
            <a:r>
              <a:rPr lang="pt-BR" sz="210" dirty="0" smtClean="0">
                <a:latin typeface="Arial"/>
                <a:cs typeface="Arial"/>
              </a:rPr>
              <a:t> dos estudantes. A prática com o </a:t>
            </a:r>
            <a:r>
              <a:rPr lang="pt-BR" sz="210" dirty="0" err="1" smtClean="0">
                <a:latin typeface="Arial"/>
                <a:cs typeface="Arial"/>
              </a:rPr>
              <a:t>Arduino</a:t>
            </a:r>
            <a:r>
              <a:rPr lang="pt-BR" sz="210" dirty="0" smtClean="0">
                <a:latin typeface="Arial"/>
                <a:cs typeface="Arial"/>
              </a:rPr>
              <a:t> permitiu que os participantes compreendessem conceitos fundamentais de programação, circuitos elétricos, sensores e atuadores, de forma contextualizada e aplicada. Observou-se que a abordagem baseada em problemas e prototipagem favoreceu o pensamento crítico, a resolução de desafios e a experimentação como parte do processo de aprendizagem.</a:t>
            </a:r>
          </a:p>
          <a:p>
            <a:pPr marL="14604" marR="27940" algn="just">
              <a:lnSpc>
                <a:spcPct val="107700"/>
              </a:lnSpc>
            </a:pPr>
            <a:r>
              <a:rPr lang="pt-BR" sz="210" dirty="0" smtClean="0">
                <a:latin typeface="Arial"/>
                <a:cs typeface="Arial"/>
              </a:rPr>
              <a:t>Além dos aspectos técnicos, destacou-se o fortalecimento de competências interpessoais, como a cooperação, a comunicação e o trabalho colaborativo. Essa integração de saberes contribuiu para a compreensão da robótica como uma ferramenta transversal, capaz de unir conteúdos de matemática, física, informática e educação ambiental.</a:t>
            </a:r>
            <a:endParaRPr lang="pt-BR" sz="21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999" y="3192507"/>
            <a:ext cx="898525" cy="497059"/>
          </a:xfrm>
          <a:prstGeom prst="rect">
            <a:avLst/>
          </a:prstGeom>
          <a:ln w="5957">
            <a:solidFill>
              <a:srgbClr val="1B171C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9685" marR="15240" algn="just">
              <a:lnSpc>
                <a:spcPct val="107700"/>
              </a:lnSpc>
              <a:spcBef>
                <a:spcPts val="50"/>
              </a:spcBef>
            </a:pPr>
            <a:r>
              <a:rPr lang="pt-BR" sz="200" dirty="0" smtClean="0">
                <a:latin typeface="Arial"/>
                <a:cs typeface="Arial"/>
              </a:rPr>
              <a:t>Conclui-se que o uso do </a:t>
            </a:r>
            <a:r>
              <a:rPr lang="pt-BR" sz="200" dirty="0" err="1" smtClean="0">
                <a:latin typeface="Arial"/>
                <a:cs typeface="Arial"/>
              </a:rPr>
              <a:t>Arduino</a:t>
            </a:r>
            <a:r>
              <a:rPr lang="pt-BR" sz="200" dirty="0" smtClean="0">
                <a:latin typeface="Arial"/>
                <a:cs typeface="Arial"/>
              </a:rPr>
              <a:t> como ferramenta educacional contribui de forma expressiva para o desenvolvimento integral dos estudantes, ao unir conhecimentos técnicos, criatividade e responsabilidade socioambiental. A experiência com projetos interdisciplinares possibilitou o aprendizado prático de conteúdos complexos, estimulando o raciocínio lógico e a autonomia intelectual.</a:t>
            </a:r>
          </a:p>
          <a:p>
            <a:pPr marL="19685" marR="15240" algn="just">
              <a:lnSpc>
                <a:spcPct val="107700"/>
              </a:lnSpc>
              <a:spcBef>
                <a:spcPts val="50"/>
              </a:spcBef>
            </a:pPr>
            <a:endParaRPr lang="pt-BR" sz="200" dirty="0" smtClean="0">
              <a:latin typeface="Arial"/>
              <a:cs typeface="Arial"/>
            </a:endParaRPr>
          </a:p>
          <a:p>
            <a:pPr marL="19685" marR="15240" algn="just">
              <a:lnSpc>
                <a:spcPct val="107700"/>
              </a:lnSpc>
              <a:spcBef>
                <a:spcPts val="50"/>
              </a:spcBef>
            </a:pPr>
            <a:r>
              <a:rPr lang="pt-BR" sz="200" dirty="0" smtClean="0">
                <a:latin typeface="Arial"/>
                <a:cs typeface="Arial"/>
              </a:rPr>
              <a:t>A integração entre tecnologia, sustentabilidade e trabalho em equipe demonstrou que é possível transformar o espaço educacional em um ambiente de experimentação e inovação acessível. Assim, o </a:t>
            </a:r>
            <a:r>
              <a:rPr lang="pt-BR" sz="200" dirty="0" err="1" smtClean="0">
                <a:latin typeface="Arial"/>
                <a:cs typeface="Arial"/>
              </a:rPr>
              <a:t>Arduino</a:t>
            </a:r>
            <a:r>
              <a:rPr lang="pt-BR" sz="200" dirty="0" smtClean="0">
                <a:latin typeface="Arial"/>
                <a:cs typeface="Arial"/>
              </a:rPr>
              <a:t> se consolida como um instrumento estratégico na formação de cidadãos críticos e preparados para os desafios tecnológicos e ambientais do século XXI, reforçando seu papel como plataforma de ensino ativa, inclusiva e transformadora.</a:t>
            </a:r>
            <a:endParaRPr lang="pt-BR" sz="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1311" y="3089544"/>
            <a:ext cx="582930" cy="415498"/>
          </a:xfrm>
          <a:prstGeom prst="rect">
            <a:avLst/>
          </a:prstGeom>
          <a:ln w="6095">
            <a:solidFill>
              <a:srgbClr val="1B171C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r>
              <a:rPr lang="pt-BR" sz="200" smtClean="0">
                <a:latin typeface="Arial"/>
                <a:cs typeface="Arial"/>
              </a:rPr>
              <a:t>ONK, Simon. Programando com Arduino: começando com sketches. 2. ed. Porto Alegre:        Bookman, 2017. 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lang="pt-BR" sz="200" smtClean="0">
                <a:latin typeface="Arial"/>
                <a:cs typeface="Arial"/>
              </a:rPr>
              <a:t>MCKINNEY, Wes. Python para análise de dados: tratamento de dados com Pandas, NumPy e Python. 2. ed.           São Paulo: Novatec, 2018. 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lang="pt-BR" sz="200" smtClean="0">
                <a:latin typeface="Arial"/>
                <a:cs typeface="Arial"/>
              </a:rPr>
              <a:t>BLUM, Jeremy. Explorando o Arduino: ferramentas e técnicas para engenharia prática. 2. ed. São Paulo: Novatec, 2021. 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lang="pt-BR" sz="200" smtClean="0">
                <a:latin typeface="Arial"/>
                <a:cs typeface="Arial"/>
              </a:rPr>
              <a:t>SWEIGART, Al. Automatize tarefas maçantes com Python: programação prática para iniciantes. 2. ed.  São Paulo: Novatec, 2021.</a:t>
            </a:r>
            <a:endParaRPr lang="pt-BR" sz="2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8336" y="1551048"/>
            <a:ext cx="988694" cy="4337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3025" algn="just">
              <a:lnSpc>
                <a:spcPct val="126000"/>
              </a:lnSpc>
              <a:spcBef>
                <a:spcPts val="95"/>
              </a:spcBef>
            </a:pPr>
            <a:r>
              <a:rPr sz="300" b="1" spc="10" dirty="0">
                <a:latin typeface="Arial"/>
                <a:cs typeface="Arial"/>
              </a:rPr>
              <a:t>PROFESSOR:</a:t>
            </a:r>
            <a:r>
              <a:rPr sz="300" b="1" spc="25" dirty="0">
                <a:latin typeface="Arial"/>
                <a:cs typeface="Arial"/>
              </a:rPr>
              <a:t> </a:t>
            </a:r>
            <a:r>
              <a:rPr lang="pt-BR" sz="300" b="1" spc="10" dirty="0" smtClean="0">
                <a:latin typeface="Arial"/>
                <a:cs typeface="Arial"/>
              </a:rPr>
              <a:t>JEFFERSON BEZERRA DOS SANTOS</a:t>
            </a:r>
          </a:p>
          <a:p>
            <a:pPr marL="12700" marR="73025" algn="just">
              <a:lnSpc>
                <a:spcPct val="126000"/>
              </a:lnSpc>
              <a:spcBef>
                <a:spcPts val="95"/>
              </a:spcBef>
            </a:pPr>
            <a:r>
              <a:rPr sz="300" b="1" spc="-10" dirty="0" smtClean="0">
                <a:latin typeface="Arial"/>
                <a:cs typeface="Arial"/>
              </a:rPr>
              <a:t>ESTUDANTES</a:t>
            </a:r>
            <a:endParaRPr sz="3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lang="pt-BR" sz="300" b="1" spc="10" dirty="0" smtClean="0">
                <a:latin typeface="Arial"/>
                <a:cs typeface="Arial"/>
              </a:rPr>
              <a:t>DANIEL KENNEDY DOMINGOS DA SILVA</a:t>
            </a:r>
          </a:p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lang="pt-BR" sz="300" b="1" spc="10" dirty="0" smtClean="0">
                <a:latin typeface="Arial"/>
                <a:cs typeface="Arial"/>
              </a:rPr>
              <a:t>ALBERTO FERREIRA DA SILVA</a:t>
            </a:r>
            <a:endParaRPr sz="300" dirty="0">
              <a:latin typeface="Arial"/>
              <a:cs typeface="Arial"/>
            </a:endParaRPr>
          </a:p>
          <a:p>
            <a:pPr marL="12700" marR="5080" algn="just">
              <a:lnSpc>
                <a:spcPct val="126000"/>
              </a:lnSpc>
            </a:pPr>
            <a:r>
              <a:rPr lang="pt-BR" sz="300" b="1" spc="10" dirty="0" smtClean="0">
                <a:latin typeface="Arial"/>
                <a:cs typeface="Arial"/>
              </a:rPr>
              <a:t>IANDRA VALERIA DE OLIVEIRA VIANA</a:t>
            </a:r>
          </a:p>
          <a:p>
            <a:pPr marL="12700" marR="5080" algn="just">
              <a:lnSpc>
                <a:spcPct val="126000"/>
              </a:lnSpc>
            </a:pPr>
            <a:r>
              <a:rPr lang="pt-BR" sz="300" b="1" spc="10" dirty="0" smtClean="0">
                <a:latin typeface="Arial"/>
                <a:cs typeface="Arial"/>
              </a:rPr>
              <a:t>RAYSSA ALBUQUERQUE SILVA</a:t>
            </a:r>
            <a:endParaRPr sz="3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5818" y="2022635"/>
            <a:ext cx="1022350" cy="589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8185" algn="l"/>
              </a:tabLst>
            </a:pPr>
            <a:r>
              <a:rPr sz="450" spc="-44" baseline="9259" dirty="0">
                <a:solidFill>
                  <a:srgbClr val="FFFFFF"/>
                </a:solidFill>
                <a:latin typeface="Arial Black"/>
                <a:cs typeface="Arial Black"/>
              </a:rPr>
              <a:t>OB</a:t>
            </a:r>
            <a:r>
              <a:rPr sz="450" spc="-22" baseline="925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50" spc="-37" baseline="9259" dirty="0">
                <a:solidFill>
                  <a:srgbClr val="FFFFFF"/>
                </a:solidFill>
                <a:latin typeface="Arial Black"/>
                <a:cs typeface="Arial Black"/>
              </a:rPr>
              <a:t>JETIVO</a:t>
            </a:r>
            <a:r>
              <a:rPr sz="450" spc="532" baseline="925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" b="1" spc="-25" dirty="0" smtClean="0">
                <a:latin typeface="Arial"/>
                <a:cs typeface="Arial"/>
              </a:rPr>
              <a:t>J</a:t>
            </a:r>
            <a:r>
              <a:rPr sz="100" b="1" dirty="0">
                <a:latin typeface="Arial"/>
                <a:cs typeface="Arial"/>
              </a:rPr>
              <a:t>	</a:t>
            </a:r>
            <a:r>
              <a:rPr sz="450" spc="-30" baseline="9259" dirty="0">
                <a:solidFill>
                  <a:srgbClr val="FFFFFF"/>
                </a:solidFill>
                <a:latin typeface="Arial Black"/>
                <a:cs typeface="Arial Black"/>
              </a:rPr>
              <a:t>METODOLOGIA</a:t>
            </a:r>
            <a:endParaRPr sz="450" baseline="9259" dirty="0">
              <a:latin typeface="Arial Black"/>
              <a:cs typeface="Arial Black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2424" y="390253"/>
            <a:ext cx="1246902" cy="428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705</Words>
  <Application>Microsoft Office PowerPoint</Application>
  <PresentationFormat>Personalizar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Times New Roman</vt:lpstr>
      <vt:lpstr>Verdana</vt:lpstr>
      <vt:lpstr>Office Theme</vt:lpstr>
      <vt:lpstr>2ª EXPO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MODELO_BANNER.pdf</dc:title>
  <dc:creator>RHANDSSON ALCANTARA</dc:creator>
  <cp:keywords>DAGW1gNU3Mg,BAGGzE0OEcA,0</cp:keywords>
  <cp:lastModifiedBy>Jeffrey24</cp:lastModifiedBy>
  <cp:revision>10</cp:revision>
  <dcterms:created xsi:type="dcterms:W3CDTF">2025-11-10T14:57:10Z</dcterms:created>
  <dcterms:modified xsi:type="dcterms:W3CDTF">2025-11-10T20:18:56Z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2025-11-10T00:00:00Z</vt:filetime>
  </property>
  <property fmtid="{D5CDD505-2E9C-101B-9397-08002B2CF9AE}" pid="5" name="Producer">
    <vt:lpwstr>Canva</vt:lpwstr>
  </property>
</Properties>
</file>