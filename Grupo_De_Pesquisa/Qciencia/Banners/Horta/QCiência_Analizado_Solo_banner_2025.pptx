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404050" cy="360045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A5FFD"/>
    <a:srgbClr val="0033CC"/>
    <a:srgbClr val="66FFFF"/>
    <a:srgbClr val="3399FF"/>
    <a:srgbClr val="FF0000"/>
    <a:srgbClr val="000066"/>
    <a:srgbClr val="0033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1" autoAdjust="0"/>
    <p:restoredTop sz="94627" autoAdjust="0"/>
  </p:normalViewPr>
  <p:slideViewPr>
    <p:cSldViewPr>
      <p:cViewPr>
        <p:scale>
          <a:sx n="20" d="100"/>
          <a:sy n="20" d="100"/>
        </p:scale>
        <p:origin x="8" y="8"/>
      </p:cViewPr>
      <p:guideLst>
        <p:guide orient="horz" pos="11340"/>
        <p:guide pos="102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9846D1-E72A-4542-8848-402DCC5566B2}" type="datetimeFigureOut">
              <a:rPr lang="pt-BR"/>
              <a:pPr>
                <a:defRPr/>
              </a:pPr>
              <a:t>13/12/2025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39938" y="1143000"/>
            <a:ext cx="2778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B01443-0FE6-4FE7-9ABD-D9369761FB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53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</p:txBody>
      </p:sp>
      <p:sp>
        <p:nvSpPr>
          <p:cNvPr id="41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DAD5-71B1-4E7D-B41D-7B09E7D9D516}" type="slidenum">
              <a:rPr lang="pt-BR" sz="1200" smtClean="0"/>
              <a:pPr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5484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1185525"/>
            <a:ext cx="27543125" cy="77168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0402550"/>
            <a:ext cx="2268220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11FD1-8986-49A2-B0CB-42E9C3F207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3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DF82-D3B0-48B8-A8B2-F4CA850B5B9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3136225"/>
            <a:ext cx="27544713" cy="71516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5260638"/>
            <a:ext cx="27544713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B6B0B-58C0-4578-AB23-CF45FFBAC1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115E-426E-4CB0-A86D-83FE2E7420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8059738"/>
            <a:ext cx="1431607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1418888"/>
            <a:ext cx="1431607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8059738"/>
            <a:ext cx="1432242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1418888"/>
            <a:ext cx="1432242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8C5-823F-41C5-9C4A-4E6A6D9B33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40529-B20A-47B7-AB78-647F374D7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6D9E4-1D5D-488C-A01A-6635F9E422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9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33513"/>
            <a:ext cx="10660062" cy="61007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433513"/>
            <a:ext cx="18113375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7534275"/>
            <a:ext cx="10660062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2590B-A9B8-4EB1-AD9D-3DDAED39F6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2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25203150"/>
            <a:ext cx="19442112" cy="2974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217863"/>
            <a:ext cx="19442112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28178125"/>
            <a:ext cx="19442112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F9636-0A38-447E-91E0-45D9DB4EA1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3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E20B9-5C69-4F48-BDA3-470C15AE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441450"/>
            <a:ext cx="7289800" cy="307213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441450"/>
            <a:ext cx="21720175" cy="307213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FD109-41B5-410E-B76C-B00BCCA3E0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41450"/>
            <a:ext cx="29162375" cy="60007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1F780-CDBF-478D-880E-C109AD4BC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9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20838" y="1441450"/>
            <a:ext cx="291623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0838" y="8401050"/>
            <a:ext cx="29162375" cy="237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208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1225" y="32788225"/>
            <a:ext cx="10261600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35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000"/>
            </a:lvl1pPr>
          </a:lstStyle>
          <a:p>
            <a:pPr>
              <a:defRPr/>
            </a:pPr>
            <a:fld id="{BD0B6FA6-9E50-4FCE-B62D-4EA90CAD40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2pPr>
      <a:lvl3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3pPr>
      <a:lvl4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4pPr>
      <a:lvl5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5pPr>
      <a:lvl6pPr marL="4572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6pPr>
      <a:lvl7pPr marL="9144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7pPr>
      <a:lvl8pPr marL="13716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8pPr>
      <a:lvl9pPr marL="18288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9pPr>
    </p:titleStyle>
    <p:bodyStyle>
      <a:lvl1pPr marL="1465263" indent="-1465263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76588" indent="-1222375" algn="l" defTabSz="3908425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86325" indent="-977900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40538" indent="-976313" algn="l" defTabSz="3908425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4pPr>
      <a:lvl5pPr marL="8794750" indent="-976313" algn="l" defTabSz="3908425" rtl="0" eaLnBrk="0" fontAlgn="base" hangingPunct="0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5pPr>
      <a:lvl6pPr marL="92519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6pPr>
      <a:lvl7pPr marL="97091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7pPr>
      <a:lvl8pPr marL="101663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8pPr>
      <a:lvl9pPr marL="106235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7FFEDE6-6075-F2A9-A5ED-B720A28EB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r="19718" b="2024"/>
          <a:stretch/>
        </p:blipFill>
        <p:spPr bwMode="auto">
          <a:xfrm>
            <a:off x="1032993" y="32603758"/>
            <a:ext cx="1976104" cy="296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5843217" y="1416997"/>
            <a:ext cx="22980650" cy="2487933"/>
          </a:xfrm>
        </p:spPr>
        <p:txBody>
          <a:bodyPr/>
          <a:lstStyle/>
          <a:p>
            <a:pPr eaLnBrk="1" hangingPunct="1"/>
            <a:r>
              <a:rPr lang="pt-BR" sz="5500" b="1" i="1" dirty="0" smtClean="0">
                <a:solidFill>
                  <a:srgbClr val="000066"/>
                </a:solidFill>
              </a:rPr>
              <a:t/>
            </a:r>
            <a:br>
              <a:rPr lang="pt-BR" sz="5500" b="1" i="1" dirty="0" smtClean="0">
                <a:solidFill>
                  <a:srgbClr val="000066"/>
                </a:solidFill>
              </a:rPr>
            </a:br>
            <a:r>
              <a:rPr lang="pt-BR" sz="5000" b="1" i="1" u="sng" dirty="0">
                <a:solidFill>
                  <a:srgbClr val="000066"/>
                </a:solidFill>
              </a:rPr>
              <a:t>“Tecnologias de Agricultura de Precisão: Coleta, Processamento e Análise de Dados com </a:t>
            </a:r>
            <a:r>
              <a:rPr lang="pt-BR" sz="5000" b="1" i="1" u="sng" dirty="0" err="1">
                <a:solidFill>
                  <a:srgbClr val="000066"/>
                </a:solidFill>
              </a:rPr>
              <a:t>Arduino</a:t>
            </a:r>
            <a:r>
              <a:rPr lang="pt-BR" sz="5000" b="1" i="1" u="sng" dirty="0">
                <a:solidFill>
                  <a:srgbClr val="000066"/>
                </a:solidFill>
              </a:rPr>
              <a:t>”</a:t>
            </a:r>
            <a:endParaRPr lang="en-US" sz="5000" b="1" i="1" u="sng" dirty="0">
              <a:solidFill>
                <a:srgbClr val="000066"/>
              </a:solidFill>
            </a:endParaRPr>
          </a:p>
        </p:txBody>
      </p:sp>
      <p:sp>
        <p:nvSpPr>
          <p:cNvPr id="3076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1032993" y="7081820"/>
            <a:ext cx="15163800" cy="17768924"/>
          </a:xfrm>
        </p:spPr>
        <p:txBody>
          <a:bodyPr/>
          <a:lstStyle/>
          <a:p>
            <a:pPr marL="0" indent="0" algn="just">
              <a:spcAft>
                <a:spcPts val="0"/>
              </a:spcAft>
              <a:buNone/>
            </a:pPr>
            <a:r>
              <a:rPr lang="pt-BR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Este trabalho apresenta o desenvolvimento de um sistema embarcado baseado na plataforma Arduino</a:t>
            </a:r>
            <a:r>
              <a:rPr lang="pt-BR" sz="3800" baseline="300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2</a:t>
            </a:r>
            <a:r>
              <a:rPr lang="pt-BR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, voltado ao monitoramento de variáveis ambientais, com potencial aplicação tanto na agricultura inteligente quanto na educação científica. A proposta emerge diante da crescente necessidade de soluções tecnológicas acessíveis e de baixo custo, especialmente em regiões como o município de Arcoverde (PE), localizado no semiárido brasileiro, onde o acompanhamento preciso das condições ambientais é fundamental para a sustentabilidade das práticas agrícolas</a:t>
            </a:r>
            <a:r>
              <a:rPr lang="pt-BR" sz="3800" baseline="300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</a:t>
            </a:r>
            <a:r>
              <a:rPr lang="pt-BR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e o uso eficiente dos recursos naturais. O sistema desenvolvido possibilita a coleta, o tratamento e a interpretação de dados em tempo real, contribuindo para a autonomia tecnológica, para a formação científica de estudantes e para a implementação de alternativas viáveis ao monitoramento contínuo do ambiente</a:t>
            </a:r>
            <a:r>
              <a:rPr lang="pt-BR" sz="3800" dirty="0" smtClean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OBJETIVO GERAL: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Demonstrar como sensores de baixo custo, integrados a técnicas estatísticas fundamentais, podem ser utilizados no monitoramento e na análise de dados ambientais em tempo real.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OBJETIVOS ESPECÍFICOS: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 Desenvolver e implementar um sistema de monitoramento baseado no </a:t>
            </a:r>
            <a:r>
              <a:rPr lang="pt-BR" sz="3800" dirty="0" err="1" smtClean="0">
                <a:latin typeface="+mj-lt"/>
                <a:ea typeface="Helvetica Neue"/>
                <a:cs typeface="Helvetica Neue"/>
              </a:rPr>
              <a:t>Arduino</a:t>
            </a:r>
            <a:r>
              <a:rPr lang="pt-BR" sz="3800" dirty="0" smtClean="0">
                <a:latin typeface="+mj-lt"/>
                <a:ea typeface="Helvetica Neue"/>
                <a:cs typeface="Helvetica Neue"/>
              </a:rPr>
              <a:t> Nano, capaz de registrar temperatura, umidade do ar e umidade do solo.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 Integrar o sistema a scripts em Python, empregando cálculos estatísticos como média, mediana, desvio-padrão e intervalo interquartil para interpretação dos dados coletados.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</a:pPr>
            <a:r>
              <a:rPr lang="pt-BR" sz="3800" dirty="0" smtClean="0">
                <a:latin typeface="+mj-lt"/>
                <a:ea typeface="Helvetica Neue"/>
                <a:cs typeface="Helvetica Neue"/>
              </a:rPr>
              <a:t> Evidenciar aplicações práticas do sistema no ensino de ciências e na gestão sustentável de recursos.</a:t>
            </a:r>
          </a:p>
          <a:p>
            <a:pPr marL="0" indent="0" algn="just">
              <a:spcAft>
                <a:spcPts val="0"/>
              </a:spcAft>
              <a:buNone/>
            </a:pPr>
            <a:endParaRPr lang="pt-BR" sz="3400" dirty="0" smtClean="0">
              <a:latin typeface="Helvetica Neue"/>
              <a:ea typeface="Helvetica Neue"/>
              <a:cs typeface="Helvetica Neue"/>
            </a:endParaRPr>
          </a:p>
          <a:p>
            <a:pPr marL="0" indent="0" algn="just" eaLnBrk="1" hangingPunct="1">
              <a:buNone/>
            </a:pPr>
            <a:endParaRPr lang="pt-BR" sz="3400" dirty="0" smtClean="0"/>
          </a:p>
          <a:p>
            <a:pPr marL="0" indent="0" algn="just" eaLnBrk="1" hangingPunct="1">
              <a:buNone/>
            </a:pPr>
            <a:endParaRPr lang="pt-BR" sz="3400" dirty="0"/>
          </a:p>
        </p:txBody>
      </p:sp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2746921" y="3852619"/>
            <a:ext cx="27147837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Jefferson Bezerra dos Santos</a:t>
            </a:r>
            <a:r>
              <a:rPr lang="pt-BR" sz="4000" b="1" baseline="30000" dirty="0" smtClean="0">
                <a:effectLst/>
                <a:ea typeface="Arial" panose="020B0604020202020204" pitchFamily="34" charset="0"/>
                <a:cs typeface="Helvetica Neue"/>
              </a:rPr>
              <a:t>1</a:t>
            </a:r>
            <a:r>
              <a:rPr lang="pt-BR" sz="4000" b="1" dirty="0" smtClean="0">
                <a:effectLst/>
                <a:ea typeface="Arial" panose="020B0604020202020204" pitchFamily="34" charset="0"/>
                <a:cs typeface="Helvetica Neue"/>
              </a:rPr>
              <a:t> , </a:t>
            </a:r>
            <a:r>
              <a:rPr lang="en-US" sz="4000" b="1" dirty="0" err="1" smtClean="0">
                <a:latin typeface="Oswald"/>
                <a:ea typeface="Oswald"/>
                <a:cs typeface="Oswald"/>
                <a:sym typeface="Oswald"/>
              </a:rPr>
              <a:t>Rayssa</a:t>
            </a:r>
            <a:r>
              <a:rPr lang="en-US" sz="4000" b="1" dirty="0" smtClean="0">
                <a:latin typeface="Oswald"/>
                <a:ea typeface="Oswald"/>
                <a:cs typeface="Oswald"/>
                <a:sym typeface="Oswald"/>
              </a:rPr>
              <a:t> Albuquerque Silva</a:t>
            </a:r>
            <a:r>
              <a:rPr lang="pt-BR" sz="4000" b="1" dirty="0" smtClean="0">
                <a:effectLst/>
                <a:ea typeface="Arial" panose="020B0604020202020204" pitchFamily="34" charset="0"/>
                <a:cs typeface="Helvetica Neue"/>
              </a:rPr>
              <a:t>², </a:t>
            </a:r>
            <a:r>
              <a:rPr lang="en-US" sz="4000" b="1" dirty="0" err="1" smtClean="0">
                <a:latin typeface="Oswald"/>
                <a:ea typeface="Oswald"/>
                <a:cs typeface="Oswald"/>
                <a:sym typeface="Oswald"/>
              </a:rPr>
              <a:t>Iandra</a:t>
            </a:r>
            <a:r>
              <a:rPr lang="en-US" sz="4000" b="1" dirty="0" smtClean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000" b="1" dirty="0" err="1" smtClean="0">
                <a:latin typeface="Oswald"/>
                <a:ea typeface="Oswald"/>
                <a:cs typeface="Oswald"/>
                <a:sym typeface="Oswald"/>
              </a:rPr>
              <a:t>Valéria</a:t>
            </a:r>
            <a:r>
              <a:rPr lang="en-US" sz="4000" b="1" dirty="0" smtClean="0">
                <a:latin typeface="Oswald"/>
                <a:ea typeface="Oswald"/>
                <a:cs typeface="Oswald"/>
                <a:sym typeface="Oswald"/>
              </a:rPr>
              <a:t> de Oliveira</a:t>
            </a:r>
            <a:r>
              <a:rPr lang="pt-BR" sz="4000" b="1" baseline="30000" dirty="0" smtClean="0">
                <a:effectLst/>
                <a:ea typeface="Arial" panose="020B0604020202020204" pitchFamily="34" charset="0"/>
                <a:cs typeface="Helvetica Neue"/>
              </a:rPr>
              <a:t>3</a:t>
            </a:r>
            <a:r>
              <a:rPr lang="pt-BR" sz="4000" b="1" baseline="-25000" dirty="0" smtClean="0">
                <a:ea typeface="Arial" panose="020B0604020202020204" pitchFamily="34" charset="0"/>
                <a:cs typeface="Helvetica Neue"/>
              </a:rPr>
              <a:t>,</a:t>
            </a:r>
            <a:r>
              <a:rPr lang="pt-BR" sz="4000" b="1" dirty="0">
                <a:ea typeface="Arial" panose="020B0604020202020204" pitchFamily="34" charset="0"/>
                <a:cs typeface="Helvetica Neue"/>
              </a:rPr>
              <a:t> Filipe de Souza </a:t>
            </a: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Jorge</a:t>
            </a:r>
            <a:r>
              <a:rPr lang="pt-BR" sz="4000" b="1" baseline="30000" dirty="0">
                <a:ea typeface="Arial" panose="020B0604020202020204" pitchFamily="34" charset="0"/>
              </a:rPr>
              <a:t>4</a:t>
            </a: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 </a:t>
            </a:r>
            <a:endParaRPr lang="pt-BR" sz="4000" dirty="0" smtClean="0">
              <a:effectLst/>
              <a:latin typeface="Helvetica Neue"/>
              <a:ea typeface="Helvetica Neue"/>
              <a:cs typeface="Helvetica Neue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 </a:t>
            </a:r>
            <a:r>
              <a:rPr lang="pt-BR" sz="3200" b="1" i="1" dirty="0" smtClean="0"/>
              <a:t> </a:t>
            </a:r>
            <a:r>
              <a:rPr lang="pt-BR" sz="3200" b="1" i="1" baseline="30000" dirty="0" smtClean="0"/>
              <a:t>1</a:t>
            </a:r>
            <a:r>
              <a:rPr lang="pt-BR" sz="3200" b="1" i="1" dirty="0" smtClean="0"/>
              <a:t>Professor do ensino médio</a:t>
            </a:r>
            <a:r>
              <a:rPr lang="pt-BR" sz="3200" i="1" dirty="0" smtClean="0">
                <a:latin typeface="+mj-lt"/>
              </a:rPr>
              <a:t>,</a:t>
            </a:r>
            <a:r>
              <a:rPr lang="pt-BR" sz="3200" dirty="0" smtClean="0">
                <a:latin typeface="+mj-lt"/>
                <a:ea typeface="Oswald"/>
                <a:cs typeface="Oswald"/>
                <a:sym typeface="Oswald"/>
              </a:rPr>
              <a:t> </a:t>
            </a:r>
            <a:r>
              <a:rPr lang="pt-BR" sz="3200" b="1" dirty="0" smtClean="0">
                <a:latin typeface="+mj-lt"/>
                <a:ea typeface="Oswald"/>
                <a:cs typeface="Oswald"/>
                <a:sym typeface="Oswald"/>
              </a:rPr>
              <a:t>EREFEM Monsenhor José </a:t>
            </a:r>
            <a:r>
              <a:rPr lang="pt-BR" sz="3200" b="1" dirty="0" err="1" smtClean="0">
                <a:latin typeface="+mj-lt"/>
                <a:ea typeface="Oswald"/>
                <a:cs typeface="Oswald"/>
                <a:sym typeface="Oswald"/>
              </a:rPr>
              <a:t>Kerhle</a:t>
            </a:r>
            <a:r>
              <a:rPr lang="pt-BR" sz="3200" b="1" i="1" dirty="0" smtClean="0">
                <a:latin typeface="+mj-lt"/>
              </a:rPr>
              <a:t>, </a:t>
            </a:r>
            <a:r>
              <a:rPr lang="pt-BR" sz="3200" b="1" i="1" dirty="0" smtClean="0"/>
              <a:t>Arcoverde - Pernambuco.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        2,3,4</a:t>
            </a:r>
            <a:r>
              <a:rPr lang="pt-BR" sz="3200" b="1" i="1" dirty="0" smtClean="0"/>
              <a:t>Discente do ensino médio, </a:t>
            </a:r>
            <a:r>
              <a:rPr lang="pt-BR" sz="3200" b="1" dirty="0" smtClean="0">
                <a:ea typeface="Oswald"/>
                <a:cs typeface="Oswald"/>
                <a:sym typeface="Oswald"/>
              </a:rPr>
              <a:t> EREFEM Monsenhor José </a:t>
            </a:r>
            <a:r>
              <a:rPr lang="pt-BR" sz="3200" b="1" dirty="0" err="1" smtClean="0">
                <a:ea typeface="Oswald"/>
                <a:cs typeface="Oswald"/>
                <a:sym typeface="Oswald"/>
              </a:rPr>
              <a:t>Kerhle</a:t>
            </a:r>
            <a:r>
              <a:rPr lang="pt-BR" sz="3200" b="1" i="1" dirty="0" smtClean="0"/>
              <a:t>, Arcoverde - Pernambuco</a:t>
            </a:r>
            <a:r>
              <a:rPr lang="pt-BR" sz="3200" b="1" i="1" dirty="0" smtClean="0"/>
              <a:t>.</a:t>
            </a:r>
            <a:endParaRPr lang="pt-BR" sz="3200" b="1" i="1" dirty="0"/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221280" y="5483054"/>
            <a:ext cx="1434147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3908425" eaLnBrk="1" hangingPunct="1">
              <a:defRPr/>
            </a:pPr>
            <a:r>
              <a:rPr lang="pt-BR" sz="3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Palavras-chave</a:t>
            </a:r>
            <a:r>
              <a:rPr lang="pt-BR" sz="3800" i="1" dirty="0"/>
              <a:t>:</a:t>
            </a:r>
            <a:r>
              <a:rPr lang="pt-BR" sz="3800" dirty="0"/>
              <a:t>  </a:t>
            </a:r>
            <a:r>
              <a:rPr lang="pt-BR" sz="3800" dirty="0" err="1" smtClean="0"/>
              <a:t>Arduino</a:t>
            </a:r>
            <a:r>
              <a:rPr lang="pt-BR" sz="3800" dirty="0" smtClean="0"/>
              <a:t>, Estatística, Agronegócio. </a:t>
            </a:r>
            <a:endParaRPr lang="pt-BR" sz="3800" dirty="0"/>
          </a:p>
        </p:txBody>
      </p:sp>
      <p:sp>
        <p:nvSpPr>
          <p:cNvPr id="3079" name="Text Box 508"/>
          <p:cNvSpPr txBox="1">
            <a:spLocks noChangeArrowheads="1"/>
          </p:cNvSpPr>
          <p:nvPr/>
        </p:nvSpPr>
        <p:spPr bwMode="auto">
          <a:xfrm>
            <a:off x="1852613" y="23610091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081" name="Picture 515" descr="head_cn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9468" y="33162564"/>
            <a:ext cx="4380762" cy="206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520"/>
          <p:cNvSpPr>
            <a:spLocks noChangeArrowheads="1"/>
          </p:cNvSpPr>
          <p:nvPr/>
        </p:nvSpPr>
        <p:spPr bwMode="auto">
          <a:xfrm>
            <a:off x="16854169" y="28720984"/>
            <a:ext cx="14653333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pt-BR" sz="3600" baseline="30000" dirty="0">
                <a:ea typeface="Helvetica Neue"/>
              </a:rPr>
              <a:t>1</a:t>
            </a:r>
            <a:r>
              <a:rPr lang="de-DE" sz="3400" dirty="0" smtClean="0"/>
              <a:t>Gatkal </a:t>
            </a:r>
            <a:r>
              <a:rPr lang="de-DE" sz="3400" dirty="0"/>
              <a:t>N, Nalawade S, Sahni R, Bhanage GB, Walunj A, Kadam P, Ali M. Review of IoT and electronics enabled smart agriculture. International Journal of Agricultural and Biological Engineering. 2024 Nov;17(1):1–14.</a:t>
            </a:r>
          </a:p>
          <a:p>
            <a:pPr algn="just">
              <a:spcBef>
                <a:spcPct val="0"/>
              </a:spcBef>
              <a:buNone/>
            </a:pPr>
            <a:r>
              <a:rPr lang="pt-BR" sz="3600" baseline="30000" dirty="0" smtClean="0">
                <a:ea typeface="Helvetica Neue"/>
              </a:rPr>
              <a:t>2</a:t>
            </a:r>
            <a:r>
              <a:rPr lang="de-DE" sz="3400" dirty="0" smtClean="0"/>
              <a:t>Silva </a:t>
            </a:r>
            <a:r>
              <a:rPr lang="de-DE" sz="3400" dirty="0"/>
              <a:t>L, Carvalho F. Pensando a Robótica na Educação Básica. Revista Investigação e  Divulgação em Educação Matemática. 2019.</a:t>
            </a:r>
          </a:p>
          <a:p>
            <a:pPr algn="just">
              <a:spcBef>
                <a:spcPct val="0"/>
              </a:spcBef>
              <a:buNone/>
            </a:pPr>
            <a:r>
              <a:rPr lang="pt-BR" sz="3600" baseline="30000" dirty="0">
                <a:ea typeface="Helvetica Neue"/>
              </a:rPr>
              <a:t>3</a:t>
            </a:r>
            <a:r>
              <a:rPr lang="de-DE" sz="3400" dirty="0" smtClean="0"/>
              <a:t>Neto </a:t>
            </a:r>
            <a:r>
              <a:rPr lang="de-DE" sz="3400" dirty="0"/>
              <a:t>A, Oliveira Y. Eletrônica Analógica e Digital Aplicada à IoT. Rio de Janeiro: Alta Books; 2019.</a:t>
            </a:r>
          </a:p>
        </p:txBody>
      </p:sp>
      <p:sp>
        <p:nvSpPr>
          <p:cNvPr id="2574" name="Text Box 526"/>
          <p:cNvSpPr txBox="1">
            <a:spLocks noChangeArrowheads="1"/>
          </p:cNvSpPr>
          <p:nvPr/>
        </p:nvSpPr>
        <p:spPr bwMode="auto">
          <a:xfrm>
            <a:off x="1182670" y="6134317"/>
            <a:ext cx="14864443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Introdução</a:t>
            </a:r>
          </a:p>
        </p:txBody>
      </p:sp>
      <p:sp>
        <p:nvSpPr>
          <p:cNvPr id="3090" name="Rectangle 75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1" name="Rectangle 77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2" name="Rectangle 79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3" name="Rectangle 81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5" name="Rectangle 89"/>
          <p:cNvSpPr>
            <a:spLocks noChangeArrowheads="1"/>
          </p:cNvSpPr>
          <p:nvPr/>
        </p:nvSpPr>
        <p:spPr bwMode="auto">
          <a:xfrm>
            <a:off x="102250875" y="9296400"/>
            <a:ext cx="177266600" cy="4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/>
          </a:p>
        </p:txBody>
      </p:sp>
      <p:sp>
        <p:nvSpPr>
          <p:cNvPr id="5" name="Text Box 527">
            <a:extLst>
              <a:ext uri="{FF2B5EF4-FFF2-40B4-BE49-F238E27FC236}">
                <a16:creationId xmlns:a16="http://schemas.microsoft.com/office/drawing/2014/main" id="{8793FD97-AB60-6B81-BFCD-A7EFB97B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3542" y="12917653"/>
            <a:ext cx="14427068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Resultados e Conclusão</a:t>
            </a:r>
          </a:p>
        </p:txBody>
      </p:sp>
      <p:sp>
        <p:nvSpPr>
          <p:cNvPr id="12" name="Text Box 528">
            <a:extLst>
              <a:ext uri="{FF2B5EF4-FFF2-40B4-BE49-F238E27FC236}">
                <a16:creationId xmlns:a16="http://schemas.microsoft.com/office/drawing/2014/main" id="{F1621BEC-E48F-FB24-3C8C-097DCFFD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55" y="24936473"/>
            <a:ext cx="14341475" cy="8433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3800" dirty="0"/>
              <a:t>A metodologia adotada foi organizada em </a:t>
            </a:r>
            <a:r>
              <a:rPr lang="pt-BR" sz="3800" b="1" dirty="0"/>
              <a:t>três etapas principais</a:t>
            </a:r>
            <a:r>
              <a:rPr lang="pt-BR" sz="3800" dirty="0"/>
              <a:t>: (i) </a:t>
            </a:r>
            <a:r>
              <a:rPr lang="pt-BR" sz="3800" b="1" dirty="0"/>
              <a:t>Aquisição de Dados</a:t>
            </a:r>
            <a:r>
              <a:rPr lang="pt-BR" sz="3800" dirty="0"/>
              <a:t>, com sensores DHT11 e HD-38 conectados ao </a:t>
            </a:r>
            <a:r>
              <a:rPr lang="pt-BR" sz="3800" dirty="0" err="1"/>
              <a:t>Arduino</a:t>
            </a:r>
            <a:r>
              <a:rPr lang="pt-BR" sz="3800" dirty="0"/>
              <a:t> Nano para medir temperatura, umidade do ar e umidade do solo em intervalos regulares; (</a:t>
            </a:r>
            <a:r>
              <a:rPr lang="pt-BR" sz="3800" dirty="0" err="1"/>
              <a:t>ii</a:t>
            </a:r>
            <a:r>
              <a:rPr lang="pt-BR" sz="3800" dirty="0"/>
              <a:t>) </a:t>
            </a:r>
            <a:r>
              <a:rPr lang="pt-BR" sz="3800" b="1" dirty="0"/>
              <a:t>Armazenamento e Processamento</a:t>
            </a:r>
            <a:r>
              <a:rPr lang="pt-BR" sz="3800" dirty="0"/>
              <a:t>, utilizando cartão SD para registro local e integração com scripts em Python para análise estatística dos dados, incluindo média, mediana, desvio-padrão e intervalo interquartil; e (</a:t>
            </a:r>
            <a:r>
              <a:rPr lang="pt-BR" sz="3800" dirty="0" err="1"/>
              <a:t>iii</a:t>
            </a:r>
            <a:r>
              <a:rPr lang="pt-BR" sz="3800" dirty="0"/>
              <a:t>) </a:t>
            </a:r>
            <a:r>
              <a:rPr lang="pt-BR" sz="3800" b="1" dirty="0"/>
              <a:t>Interpretação e Visualização</a:t>
            </a:r>
            <a:r>
              <a:rPr lang="pt-BR" sz="3800" dirty="0"/>
              <a:t>, onde os dados processados são avaliados para identificação de padrões, tendências e valores atípicos. Para maior clareza, cada etapa pode ser representada por </a:t>
            </a:r>
            <a:r>
              <a:rPr lang="pt-BR" sz="3800" b="1" dirty="0"/>
              <a:t>fluxograma de processo e esquema do sistema</a:t>
            </a:r>
            <a:r>
              <a:rPr lang="pt-BR" sz="3800" dirty="0"/>
              <a:t> ilustrando a aquisição de sinais, armazenamento, análise estatística e interpretação de resultados.</a:t>
            </a:r>
          </a:p>
          <a:p>
            <a:pPr algn="just">
              <a:buNone/>
            </a:pPr>
            <a:r>
              <a:rPr lang="pt-BR" sz="4000" dirty="0" smtClean="0"/>
              <a:t>. </a:t>
            </a:r>
            <a:endParaRPr lang="pt-BR" sz="4000" dirty="0"/>
          </a:p>
        </p:txBody>
      </p:sp>
      <p:sp>
        <p:nvSpPr>
          <p:cNvPr id="13" name="Text Box 527">
            <a:extLst>
              <a:ext uri="{FF2B5EF4-FFF2-40B4-BE49-F238E27FC236}">
                <a16:creationId xmlns:a16="http://schemas.microsoft.com/office/drawing/2014/main" id="{6BCBCBF1-AD1F-CFEB-9902-0001C41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904" y="23842185"/>
            <a:ext cx="14377855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Metodologia</a:t>
            </a: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4C9BABB4-6CA3-AA39-B83D-968BDD9A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624" y="13626394"/>
            <a:ext cx="15163800" cy="46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marL="1465263" indent="-146526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3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6588" indent="-1222375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0">
                <a:solidFill>
                  <a:schemeClr val="tx1"/>
                </a:solidFill>
                <a:latin typeface="+mn-lt"/>
              </a:defRPr>
            </a:lvl2pPr>
            <a:lvl3pPr marL="4886325" indent="-977900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300">
                <a:solidFill>
                  <a:schemeClr val="tx1"/>
                </a:solidFill>
                <a:latin typeface="+mn-lt"/>
              </a:defRPr>
            </a:lvl3pPr>
            <a:lvl4pPr marL="6840538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8600">
                <a:solidFill>
                  <a:schemeClr val="tx1"/>
                </a:solidFill>
                <a:latin typeface="+mn-lt"/>
              </a:defRPr>
            </a:lvl4pPr>
            <a:lvl5pPr marL="8794750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5pPr>
            <a:lvl6pPr marL="92519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6pPr>
            <a:lvl7pPr marL="97091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7pPr>
            <a:lvl8pPr marL="101663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8pPr>
            <a:lvl9pPr marL="106235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9pPr>
          </a:lstStyle>
          <a:p>
            <a:pPr marL="65088" indent="-65088" algn="just" eaLnBrk="1" hangingPunct="1">
              <a:buFontTx/>
              <a:buNone/>
            </a:pPr>
            <a:r>
              <a:rPr lang="pt-BR" sz="3700" kern="0" dirty="0"/>
              <a:t>Os resultados indicaram variações consistentes na temperatura ao longo do dia e uma relativa estabilidade na umidade do solo conforme ilustra o Gráfico 1. A aplicação de métodos estatísticos possibilitou a identificação de tendências diárias e de eventuais valores atípicos, reforçando a confiabilidade dos sensores e a precisão do sistema embarcado. A articulação entre hardware de baixo custo e técnicas estatísticas mostrou-se eficaz para um monitoramento ambiental replicável, com potencial de uso na educação científica, na gestão de irrigação e na promoção da sustentabilidade agrícola</a:t>
            </a:r>
          </a:p>
        </p:txBody>
      </p:sp>
      <p:sp>
        <p:nvSpPr>
          <p:cNvPr id="17" name="Text Box 527">
            <a:extLst>
              <a:ext uri="{FF2B5EF4-FFF2-40B4-BE49-F238E27FC236}">
                <a16:creationId xmlns:a16="http://schemas.microsoft.com/office/drawing/2014/main" id="{C7291063-4E92-7CD5-748C-A14E409FF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6149" y="27712728"/>
            <a:ext cx="14292262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Agradecimentos</a:t>
            </a:r>
            <a:r>
              <a:rPr lang="en-US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</a:t>
            </a: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Referências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7536201" y="27084520"/>
            <a:ext cx="14021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Gráfico 1: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umidade do solo; temperatura e umidade do ar</a:t>
            </a:r>
            <a:r>
              <a:rPr lang="pt-BR" sz="4000" b="1" dirty="0">
                <a:ea typeface="Arial" panose="020B0604020202020204" pitchFamily="34" charset="0"/>
                <a:cs typeface="Helvetica Neue"/>
              </a:rPr>
              <a:t>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 descr="Equipe - UFPE">
            <a:extLst>
              <a:ext uri="{FF2B5EF4-FFF2-40B4-BE49-F238E27FC236}">
                <a16:creationId xmlns:a16="http://schemas.microsoft.com/office/drawing/2014/main" id="{E9D4E970-A22C-97B4-294B-2EB86196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905" y="33106407"/>
            <a:ext cx="3395707" cy="22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D75B5B-BC3D-648E-EEE5-995481F99DD6}"/>
              </a:ext>
            </a:extLst>
          </p:cNvPr>
          <p:cNvSpPr txBox="1"/>
          <p:nvPr/>
        </p:nvSpPr>
        <p:spPr>
          <a:xfrm>
            <a:off x="26139129" y="32691882"/>
            <a:ext cx="185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/>
              <a:t>Apoio:</a:t>
            </a:r>
          </a:p>
        </p:txBody>
      </p:sp>
      <p:sp>
        <p:nvSpPr>
          <p:cNvPr id="18" name="Text Box 508">
            <a:extLst>
              <a:ext uri="{FF2B5EF4-FFF2-40B4-BE49-F238E27FC236}">
                <a16:creationId xmlns:a16="http://schemas.microsoft.com/office/drawing/2014/main" id="{2A21FD36-A95C-F70F-D700-80FB23FA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2818003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1CB60B-D53A-DB15-6F5D-4F4A6C21EBF2}"/>
              </a:ext>
            </a:extLst>
          </p:cNvPr>
          <p:cNvSpPr txBox="1"/>
          <p:nvPr/>
        </p:nvSpPr>
        <p:spPr>
          <a:xfrm>
            <a:off x="18691613" y="12217542"/>
            <a:ext cx="1426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500" b="1" dirty="0" smtClean="0">
                <a:effectLst/>
                <a:ea typeface="Arial" panose="020B0604020202020204" pitchFamily="34" charset="0"/>
                <a:cs typeface="Helvetica Neue"/>
              </a:rPr>
              <a:t>Figura 1</a:t>
            </a:r>
            <a:r>
              <a:rPr lang="pt-BR" sz="3500" dirty="0" smtClean="0">
                <a:effectLst/>
                <a:ea typeface="Arial" panose="020B0604020202020204" pitchFamily="34" charset="0"/>
                <a:cs typeface="Helvetica Neue"/>
              </a:rPr>
              <a:t>. Esquem</a:t>
            </a:r>
            <a:r>
              <a:rPr lang="pt-BR" sz="3500" dirty="0" smtClean="0">
                <a:ea typeface="Arial" panose="020B0604020202020204" pitchFamily="34" charset="0"/>
                <a:cs typeface="Helvetica Neue"/>
              </a:rPr>
              <a:t>a  de funcionamento do sistema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. 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65759A-56C9-47ED-73A7-1F702AEA1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149" y="33091991"/>
            <a:ext cx="9860094" cy="2488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7BE57A-2AC7-E6B3-EF70-3E71F5353EFF}"/>
              </a:ext>
            </a:extLst>
          </p:cNvPr>
          <p:cNvCxnSpPr>
            <a:cxnSpLocks/>
          </p:cNvCxnSpPr>
          <p:nvPr/>
        </p:nvCxnSpPr>
        <p:spPr bwMode="auto">
          <a:xfrm>
            <a:off x="936329" y="32475858"/>
            <a:ext cx="3059832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image1.jpg" descr="Logotipo, nome da empresa&#10;&#10;Descrição gerada automaticamente">
            <a:extLst>
              <a:ext uri="{FF2B5EF4-FFF2-40B4-BE49-F238E27FC236}">
                <a16:creationId xmlns:a16="http://schemas.microsoft.com/office/drawing/2014/main" id="{5A6CE57B-A03B-1417-5AA1-4F7C6B6918C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3" r="53204" b="19699"/>
          <a:stretch/>
        </p:blipFill>
        <p:spPr>
          <a:xfrm>
            <a:off x="3743416" y="32878871"/>
            <a:ext cx="2888583" cy="2603161"/>
          </a:xfrm>
          <a:prstGeom prst="rect">
            <a:avLst/>
          </a:prstGeom>
          <a:ln/>
        </p:spPr>
      </p:pic>
      <p:pic>
        <p:nvPicPr>
          <p:cNvPr id="33" name="Picture 515" descr="head_cnpq">
            <a:extLst>
              <a:ext uri="{FF2B5EF4-FFF2-40B4-BE49-F238E27FC236}">
                <a16:creationId xmlns:a16="http://schemas.microsoft.com/office/drawing/2014/main" id="{E32549B6-1029-7130-0CC2-707EA37D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000" y="285513"/>
            <a:ext cx="4815822" cy="227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D8311E-DA06-F588-4312-3FDA084BC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" y="416283"/>
            <a:ext cx="6440367" cy="2680311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8EC6DDAA-EB86-3DB6-25A0-CEC13C3DB7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6" y="32603758"/>
            <a:ext cx="5940854" cy="300091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07385" y="6439651"/>
            <a:ext cx="13102865" cy="580967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0623" y="19421400"/>
            <a:ext cx="7184111" cy="4066119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7612" y="19476665"/>
            <a:ext cx="6871963" cy="4068061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201" y="23388132"/>
            <a:ext cx="7653034" cy="37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1302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659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 Neue</vt:lpstr>
      <vt:lpstr>Oswald</vt:lpstr>
      <vt:lpstr>Design padrão</vt:lpstr>
      <vt:lpstr> “Tecnologias de Agricultura de Precisão: Coleta, Processamento e Análise de Dados com Arduino”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Síntese de tioacetais catalisada por líquido  iônico de selênio</dc:title>
  <dc:creator>.;Elton</dc:creator>
  <cp:lastModifiedBy>Jeffrey24</cp:lastModifiedBy>
  <cp:revision>199</cp:revision>
  <dcterms:created xsi:type="dcterms:W3CDTF">2007-11-09T14:19:38Z</dcterms:created>
  <dcterms:modified xsi:type="dcterms:W3CDTF">2025-12-14T00:34:26Z</dcterms:modified>
</cp:coreProperties>
</file>