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2404050" cy="360045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6A5FFD"/>
    <a:srgbClr val="0033CC"/>
    <a:srgbClr val="66FFFF"/>
    <a:srgbClr val="3399FF"/>
    <a:srgbClr val="FF0000"/>
    <a:srgbClr val="000066"/>
    <a:srgbClr val="003399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1" autoAdjust="0"/>
    <p:restoredTop sz="94627" autoAdjust="0"/>
  </p:normalViewPr>
  <p:slideViewPr>
    <p:cSldViewPr>
      <p:cViewPr>
        <p:scale>
          <a:sx n="30" d="100"/>
          <a:sy n="30" d="100"/>
        </p:scale>
        <p:origin x="24" y="24"/>
      </p:cViewPr>
      <p:guideLst>
        <p:guide orient="horz" pos="11340"/>
        <p:guide pos="1020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rAngAx val="1"/>
    </c:view3D>
    <c:floor>
      <c:thickness val="0"/>
      <c:spPr>
        <a:noFill/>
        <a:ln w="9360">
          <a:solidFill>
            <a:srgbClr val="878787"/>
          </a:solidFill>
          <a:round/>
        </a:ln>
      </c:spPr>
    </c:floor>
    <c:sideWall>
      <c:thickness val="0"/>
      <c:spPr>
        <a:noFill/>
        <a:ln w="9360">
          <a:solidFill>
            <a:srgbClr val="878787"/>
          </a:solidFill>
          <a:round/>
        </a:ln>
      </c:spPr>
    </c:sideWall>
    <c:backWall>
      <c:thickness val="0"/>
      <c:spPr>
        <a:noFill/>
        <a:ln w="9360">
          <a:solidFill>
            <a:srgbClr val="878787"/>
          </a:solidFill>
          <a:round/>
        </a:ln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mbria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C2-42C1-9310-9F884D9AD283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mbria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C2-42C1-9310-9F884D9AD283}"/>
            </c:ext>
          </c:extLst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rgbClr val="9BBB59"/>
            </a:solidFill>
            <a:ln w="0"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mbria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C2-42C1-9310-9F884D9AD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6179318"/>
        <c:axId val="72671050"/>
        <c:axId val="0"/>
      </c:bar3DChart>
      <c:catAx>
        <c:axId val="9617931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3600" b="0" strike="noStrike" spc="-1">
                <a:solidFill>
                  <a:srgbClr val="000000"/>
                </a:solidFill>
                <a:latin typeface="Cambria"/>
              </a:defRPr>
            </a:pPr>
            <a:endParaRPr lang="pt-BR"/>
          </a:p>
        </c:txPr>
        <c:crossAx val="72671050"/>
        <c:crosses val="autoZero"/>
        <c:auto val="1"/>
        <c:lblAlgn val="ctr"/>
        <c:lblOffset val="100"/>
        <c:noMultiLvlLbl val="0"/>
      </c:catAx>
      <c:valAx>
        <c:axId val="72671050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mbria"/>
              </a:defRPr>
            </a:pPr>
            <a:endParaRPr lang="pt-BR"/>
          </a:p>
        </c:txPr>
        <c:crossAx val="9617931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6936593811566387"/>
          <c:y val="0.27883554704221186"/>
          <c:w val="0.13063409621153205"/>
          <c:h val="0.49900997031515526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3600" b="0" strike="noStrike" spc="-1">
              <a:solidFill>
                <a:srgbClr val="000000"/>
              </a:solidFill>
              <a:latin typeface="Cambria"/>
            </a:defRPr>
          </a:pPr>
          <a:endParaRPr lang="pt-BR"/>
        </a:p>
      </c:txPr>
    </c:legend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9846D1-E72A-4542-8848-402DCC5566B2}" type="datetimeFigureOut">
              <a:rPr lang="pt-BR"/>
              <a:pPr>
                <a:defRPr/>
              </a:pPr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039938" y="1143000"/>
            <a:ext cx="2778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0B01443-0FE6-4FE7-9ABD-D9369761FBA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5394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/>
          </a:p>
        </p:txBody>
      </p:sp>
      <p:sp>
        <p:nvSpPr>
          <p:cNvPr id="410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B8DAD5-71B1-4E7D-B41D-7B09E7D9D516}" type="slidenum">
              <a:rPr lang="pt-BR" sz="1200" smtClean="0"/>
              <a:pPr/>
              <a:t>1</a:t>
            </a:fld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254841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463" y="11185525"/>
            <a:ext cx="27543125" cy="77168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925" y="20402550"/>
            <a:ext cx="22682200" cy="92011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11FD1-8986-49A2-B0CB-42E9C3F207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53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DF82-D3B0-48B8-A8B2-F4CA850B5B9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8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9050" y="23136225"/>
            <a:ext cx="27544713" cy="71516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59050" y="15260638"/>
            <a:ext cx="27544713" cy="78755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B6B0B-58C0-4578-AB23-CF45FFBAC1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53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F115E-426E-4CB0-A86D-83FE2E7420C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31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838" y="8059738"/>
            <a:ext cx="1431607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0838" y="11418888"/>
            <a:ext cx="1431607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6460788" y="8059738"/>
            <a:ext cx="1432242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6460788" y="11418888"/>
            <a:ext cx="1432242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E68C5-823F-41C5-9C4A-4E6A6D9B331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02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40529-B20A-47B7-AB78-647F374D75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82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6D9E4-1D5D-488C-A01A-6635F9E4224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99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33513"/>
            <a:ext cx="10660062" cy="61007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69838" y="1433513"/>
            <a:ext cx="18113375" cy="30729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20838" y="7534275"/>
            <a:ext cx="10660062" cy="246284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2590B-A9B8-4EB1-AD9D-3DDAED39F66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42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51588" y="25203150"/>
            <a:ext cx="19442112" cy="2974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588" y="3217863"/>
            <a:ext cx="19442112" cy="21602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51588" y="28178125"/>
            <a:ext cx="19442112" cy="4225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F9636-0A38-447E-91E0-45D9DB4EA1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31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E20B9-5C69-4F48-BDA3-470C15AE921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3493413" y="1441450"/>
            <a:ext cx="7289800" cy="307213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441450"/>
            <a:ext cx="21720175" cy="307213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FD109-41B5-410E-B76C-B00BCCA3E0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90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41450"/>
            <a:ext cx="29162375" cy="600075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1F780-CDBF-478D-880E-C109AD4BCC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98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20838" y="1441450"/>
            <a:ext cx="2916237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20838" y="8401050"/>
            <a:ext cx="29162375" cy="2376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208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71225" y="32788225"/>
            <a:ext cx="10261600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235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000"/>
            </a:lvl1pPr>
          </a:lstStyle>
          <a:p>
            <a:pPr>
              <a:defRPr/>
            </a:pPr>
            <a:fld id="{BD0B6FA6-9E50-4FCE-B62D-4EA90CAD40C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2pPr>
      <a:lvl3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3pPr>
      <a:lvl4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4pPr>
      <a:lvl5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5pPr>
      <a:lvl6pPr marL="4572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6pPr>
      <a:lvl7pPr marL="9144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7pPr>
      <a:lvl8pPr marL="13716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8pPr>
      <a:lvl9pPr marL="18288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9pPr>
    </p:titleStyle>
    <p:bodyStyle>
      <a:lvl1pPr marL="1465263" indent="-1465263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3700">
          <a:solidFill>
            <a:schemeClr val="tx1"/>
          </a:solidFill>
          <a:latin typeface="+mn-lt"/>
          <a:ea typeface="+mn-ea"/>
          <a:cs typeface="+mn-cs"/>
        </a:defRPr>
      </a:lvl1pPr>
      <a:lvl2pPr marL="3176588" indent="-1222375" algn="l" defTabSz="3908425" rtl="0" eaLnBrk="0" fontAlgn="base" hangingPunct="0">
        <a:spcBef>
          <a:spcPct val="20000"/>
        </a:spcBef>
        <a:spcAft>
          <a:spcPct val="0"/>
        </a:spcAft>
        <a:buChar char="–"/>
        <a:defRPr sz="12000">
          <a:solidFill>
            <a:schemeClr val="tx1"/>
          </a:solidFill>
          <a:latin typeface="+mn-lt"/>
        </a:defRPr>
      </a:lvl2pPr>
      <a:lvl3pPr marL="4886325" indent="-977900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0300">
          <a:solidFill>
            <a:schemeClr val="tx1"/>
          </a:solidFill>
          <a:latin typeface="+mn-lt"/>
        </a:defRPr>
      </a:lvl3pPr>
      <a:lvl4pPr marL="6840538" indent="-976313" algn="l" defTabSz="3908425" rtl="0" eaLnBrk="0" fontAlgn="base" hangingPunct="0">
        <a:spcBef>
          <a:spcPct val="20000"/>
        </a:spcBef>
        <a:spcAft>
          <a:spcPct val="0"/>
        </a:spcAft>
        <a:buChar char="–"/>
        <a:defRPr sz="8600">
          <a:solidFill>
            <a:schemeClr val="tx1"/>
          </a:solidFill>
          <a:latin typeface="+mn-lt"/>
        </a:defRPr>
      </a:lvl4pPr>
      <a:lvl5pPr marL="8794750" indent="-976313" algn="l" defTabSz="3908425" rtl="0" eaLnBrk="0" fontAlgn="base" hangingPunct="0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5pPr>
      <a:lvl6pPr marL="92519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6pPr>
      <a:lvl7pPr marL="97091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7pPr>
      <a:lvl8pPr marL="101663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8pPr>
      <a:lvl9pPr marL="106235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1.jpe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chart" Target="../charts/chart1.xml"/><Relationship Id="rId10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47FFEDE6-6075-F2A9-A5ED-B720A28EB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6" r="19718" b="2024"/>
          <a:stretch/>
        </p:blipFill>
        <p:spPr bwMode="auto">
          <a:xfrm>
            <a:off x="1032993" y="32603758"/>
            <a:ext cx="1976104" cy="296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4351338" y="1512418"/>
            <a:ext cx="22980650" cy="2487933"/>
          </a:xfrm>
        </p:spPr>
        <p:txBody>
          <a:bodyPr/>
          <a:lstStyle/>
          <a:p>
            <a:pPr eaLnBrk="1" hangingPunct="1"/>
            <a:r>
              <a:rPr lang="pt-BR" sz="5500" b="1" i="1" dirty="0">
                <a:solidFill>
                  <a:srgbClr val="000066"/>
                </a:solidFill>
              </a:rPr>
              <a:t>“TÍTULO DO SEU PROJETO”</a:t>
            </a:r>
            <a:endParaRPr lang="en-US" sz="5500" b="1" i="1" dirty="0">
              <a:solidFill>
                <a:srgbClr val="000066"/>
              </a:solidFill>
            </a:endParaRPr>
          </a:p>
        </p:txBody>
      </p:sp>
      <p:sp>
        <p:nvSpPr>
          <p:cNvPr id="3076" name="Rectangle 31"/>
          <p:cNvSpPr>
            <a:spLocks noGrp="1" noChangeArrowheads="1"/>
          </p:cNvSpPr>
          <p:nvPr>
            <p:ph type="body" sz="half" idx="1"/>
          </p:nvPr>
        </p:nvSpPr>
        <p:spPr>
          <a:xfrm>
            <a:off x="930824" y="8162927"/>
            <a:ext cx="15163800" cy="17095004"/>
          </a:xfrm>
        </p:spPr>
        <p:txBody>
          <a:bodyPr/>
          <a:lstStyle/>
          <a:p>
            <a:pPr marL="65088" indent="-65088" algn="just" eaLnBrk="1" hangingPunct="1">
              <a:buFontTx/>
              <a:buNone/>
            </a:pPr>
            <a:r>
              <a:rPr lang="pt-BR" sz="4000" dirty="0"/>
              <a:t>Falar na Introdução sobre aquilo que moveu o desenvolvimento do projeto, porque ele é importante e um resumo do embasamento teórico da pesquisa. Falar na Introdução sobre aquilo que moveu o desenvolvimento do projeto, por que ele é importante e um resumo do embasamento teórico da pesquisa.</a:t>
            </a:r>
            <a:r>
              <a:rPr lang="pt-BR" sz="4000" baseline="30000" dirty="0"/>
              <a:t>1</a:t>
            </a:r>
            <a:r>
              <a:rPr lang="pt-BR" sz="4000" dirty="0"/>
              <a:t> Falar na Introdução sobre aquilo que moveu o desenvolvimento do projeto, porque ele é importante e um resumo do embasamento teórico da pesquisa. Falar na Introdução sobre aquilo que moveu o desenvolvimento do projeto, por que ele é importante e um resumo do embasamento teórico da pesquisa.</a:t>
            </a:r>
            <a:r>
              <a:rPr lang="pt-BR" sz="4000" baseline="30000" dirty="0"/>
              <a:t>2</a:t>
            </a:r>
            <a:r>
              <a:rPr lang="pt-BR" sz="4000" dirty="0"/>
              <a:t> Falar na Introdução sobre aquilo que moveu o desenvolvimento do projeto, porque ele é importante e um resumo do embasamento teórico da pesquisa. Logo após colocar os objetivos.</a:t>
            </a:r>
          </a:p>
          <a:p>
            <a:pPr algn="just">
              <a:buFontTx/>
              <a:buNone/>
            </a:pPr>
            <a:r>
              <a:rPr lang="pt-BR" sz="4000" dirty="0"/>
              <a:t>OBJETIVO GERAL E ESPECÍFICO: </a:t>
            </a:r>
          </a:p>
          <a:p>
            <a:pPr algn="just">
              <a:buFontTx/>
              <a:buNone/>
            </a:pPr>
            <a:r>
              <a:rPr lang="pt-BR" sz="4000" dirty="0"/>
              <a:t>O que pretende o projeto, de forma clara e concisa.</a:t>
            </a:r>
          </a:p>
          <a:p>
            <a:pPr marL="571500" indent="-571500" algn="just">
              <a:buFontTx/>
              <a:buChar char="-"/>
            </a:pPr>
            <a:r>
              <a:rPr lang="pt-BR" sz="4000" dirty="0"/>
              <a:t>Descrever cada objetivo específico; Pode conter Esquema ou Figura como exemplo abaixo.</a:t>
            </a:r>
          </a:p>
          <a:p>
            <a:pPr marL="65088" indent="-65088" algn="just" eaLnBrk="1" hangingPunct="1">
              <a:buFontTx/>
              <a:buNone/>
            </a:pPr>
            <a:endParaRPr lang="pt-BR" sz="4000" dirty="0"/>
          </a:p>
          <a:p>
            <a:pPr marL="65088" indent="-65088" algn="just" eaLnBrk="1" hangingPunct="1">
              <a:buFontTx/>
              <a:buNone/>
            </a:pPr>
            <a:endParaRPr lang="pt-BR" sz="4000" dirty="0"/>
          </a:p>
          <a:p>
            <a:pPr marL="65088" indent="-65088" algn="just" eaLnBrk="1" hangingPunct="1">
              <a:buFontTx/>
              <a:buNone/>
            </a:pPr>
            <a:endParaRPr lang="pt-BR" sz="4000" dirty="0"/>
          </a:p>
        </p:txBody>
      </p:sp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2628106" y="3528642"/>
            <a:ext cx="27147837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4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Nome do orientador,</a:t>
            </a:r>
            <a:r>
              <a:rPr lang="pt-BR" sz="4800" b="1" baseline="30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1</a:t>
            </a:r>
            <a:r>
              <a:rPr lang="pt-BR" sz="4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Nome do aluno,² Nome do aluno </a:t>
            </a:r>
            <a:r>
              <a:rPr lang="pt-BR" sz="4800" b="1" baseline="30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3</a:t>
            </a:r>
            <a:r>
              <a:rPr lang="pt-BR" sz="4800" b="1" baseline="-25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4800" dirty="0">
              <a:effectLst/>
              <a:latin typeface="Helvetica Neue"/>
              <a:ea typeface="Helvetica Neue"/>
              <a:cs typeface="Helvetica Neue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/>
              <a:t>1</a:t>
            </a:r>
            <a:r>
              <a:rPr lang="pt-BR" sz="3200" b="1" i="1" dirty="0"/>
              <a:t>Professor do nível tal, nome da instituição de ensino, município-estado.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/>
              <a:t>2</a:t>
            </a:r>
            <a:r>
              <a:rPr lang="pt-BR" sz="3200" b="1" i="1" dirty="0"/>
              <a:t>Discente da série tal, nível tal,  nome da instituição de ensino, município-estado.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/>
              <a:t>3</a:t>
            </a:r>
            <a:r>
              <a:rPr lang="pt-BR" sz="3200" b="1" i="1" dirty="0"/>
              <a:t>Discente da série tal, nível tal,  nome da instituição de ensino, município-estado.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dirty="0"/>
              <a:t>*e-mail: aluno ou orientador (opcional)</a:t>
            </a:r>
          </a:p>
        </p:txBody>
      </p:sp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1081088" y="6552978"/>
            <a:ext cx="14341475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3908425" eaLnBrk="1" hangingPunct="1">
              <a:defRPr/>
            </a:pPr>
            <a:r>
              <a:rPr lang="pt-BR" sz="3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Palavras-chave</a:t>
            </a:r>
            <a:r>
              <a:rPr lang="pt-BR" sz="3800" i="1" dirty="0"/>
              <a:t>:</a:t>
            </a:r>
            <a:r>
              <a:rPr lang="pt-BR" sz="3800" dirty="0"/>
              <a:t> Palavra 1, Palavra 2, Palavra 3. </a:t>
            </a:r>
          </a:p>
        </p:txBody>
      </p:sp>
      <p:sp>
        <p:nvSpPr>
          <p:cNvPr id="3079" name="Text Box 508"/>
          <p:cNvSpPr txBox="1">
            <a:spLocks noChangeArrowheads="1"/>
          </p:cNvSpPr>
          <p:nvPr/>
        </p:nvSpPr>
        <p:spPr bwMode="auto">
          <a:xfrm>
            <a:off x="1852613" y="23610091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pic>
        <p:nvPicPr>
          <p:cNvPr id="3081" name="Picture 515" descr="head_cnp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9468" y="33162564"/>
            <a:ext cx="4380762" cy="206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Rectangle 520"/>
          <p:cNvSpPr>
            <a:spLocks noChangeArrowheads="1"/>
          </p:cNvSpPr>
          <p:nvPr/>
        </p:nvSpPr>
        <p:spPr bwMode="auto">
          <a:xfrm>
            <a:off x="16917988" y="27127516"/>
            <a:ext cx="14341475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pt-BR" sz="3400" dirty="0"/>
              <a:t>Colocar agradecimentos, sendo permitido o uso de logotipo de instituições de fomento ou escolas etc, lodo depois dos agradecimentos colocar as referências como descrito abaixo.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pt-BR" sz="3400" dirty="0"/>
              <a:t>Exemplo de citação de referência usando numeração no texto da introdução (Normas Vancouver):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sz="3400" baseline="30000" dirty="0"/>
              <a:t>1</a:t>
            </a:r>
            <a:r>
              <a:rPr lang="en-US" sz="3400" dirty="0"/>
              <a:t> Koen, Y. M.; Galeva, N. A.; Metushi, I. G.; Uetrecht, J. and Hanzlik, R. P. </a:t>
            </a:r>
            <a:r>
              <a:rPr lang="en-US" sz="3400" i="1" dirty="0"/>
              <a:t>Chem. Res. Toxicol</a:t>
            </a:r>
            <a:r>
              <a:rPr lang="en-US" sz="3400" dirty="0"/>
              <a:t>. </a:t>
            </a:r>
            <a:r>
              <a:rPr lang="en-US" sz="3400" b="1" dirty="0"/>
              <a:t>2016</a:t>
            </a:r>
            <a:r>
              <a:rPr lang="en-US" sz="3400" dirty="0"/>
              <a:t>, </a:t>
            </a:r>
            <a:r>
              <a:rPr lang="en-US" sz="3400" i="1" dirty="0"/>
              <a:t>29</a:t>
            </a:r>
            <a:r>
              <a:rPr lang="en-US" sz="3400" dirty="0"/>
              <a:t>, 1064</a:t>
            </a:r>
            <a:r>
              <a:rPr lang="de-DE" sz="3400" dirty="0"/>
              <a:t>.</a:t>
            </a:r>
          </a:p>
          <a:p>
            <a:pPr algn="just">
              <a:spcBef>
                <a:spcPct val="0"/>
              </a:spcBef>
              <a:buNone/>
            </a:pPr>
            <a:r>
              <a:rPr lang="en-US" sz="3400" baseline="30000" dirty="0"/>
              <a:t>2</a:t>
            </a:r>
            <a:r>
              <a:rPr lang="en-US" sz="3400" dirty="0"/>
              <a:t> Koen, Y. M.; Galeva, N. A.; Metushi, I. G.; Uetrecht, J. and Hanzlik, R. P. </a:t>
            </a:r>
            <a:r>
              <a:rPr lang="en-US" sz="3400" i="1" dirty="0"/>
              <a:t>Chem. Res. Toxicol</a:t>
            </a:r>
            <a:r>
              <a:rPr lang="en-US" sz="3400" dirty="0"/>
              <a:t>. </a:t>
            </a:r>
            <a:r>
              <a:rPr lang="en-US" sz="3400" b="1" dirty="0"/>
              <a:t>2016</a:t>
            </a:r>
            <a:r>
              <a:rPr lang="en-US" sz="3400" dirty="0"/>
              <a:t>, </a:t>
            </a:r>
            <a:r>
              <a:rPr lang="en-US" sz="3400" i="1" dirty="0"/>
              <a:t>29</a:t>
            </a:r>
            <a:r>
              <a:rPr lang="en-US" sz="3400" dirty="0"/>
              <a:t>, 1064</a:t>
            </a:r>
            <a:r>
              <a:rPr lang="de-DE" sz="3400" dirty="0"/>
              <a:t>.</a:t>
            </a:r>
            <a:endParaRPr lang="en-US" sz="3400" dirty="0"/>
          </a:p>
        </p:txBody>
      </p:sp>
      <p:sp>
        <p:nvSpPr>
          <p:cNvPr id="2574" name="Text Box 526"/>
          <p:cNvSpPr txBox="1">
            <a:spLocks noChangeArrowheads="1"/>
          </p:cNvSpPr>
          <p:nvPr/>
        </p:nvSpPr>
        <p:spPr bwMode="auto">
          <a:xfrm>
            <a:off x="1230180" y="7304416"/>
            <a:ext cx="14864443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Introdução</a:t>
            </a:r>
          </a:p>
        </p:txBody>
      </p:sp>
      <p:sp>
        <p:nvSpPr>
          <p:cNvPr id="3090" name="Rectangle 75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1" name="Rectangle 77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2" name="Rectangle 79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3" name="Rectangle 81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5" name="Rectangle 89"/>
          <p:cNvSpPr>
            <a:spLocks noChangeArrowheads="1"/>
          </p:cNvSpPr>
          <p:nvPr/>
        </p:nvSpPr>
        <p:spPr bwMode="auto">
          <a:xfrm>
            <a:off x="102250875" y="9296400"/>
            <a:ext cx="177266600" cy="4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/>
          </a:p>
        </p:txBody>
      </p:sp>
      <p:sp>
        <p:nvSpPr>
          <p:cNvPr id="5" name="Text Box 527">
            <a:extLst>
              <a:ext uri="{FF2B5EF4-FFF2-40B4-BE49-F238E27FC236}">
                <a16:creationId xmlns:a16="http://schemas.microsoft.com/office/drawing/2014/main" id="{8793FD97-AB60-6B81-BFCD-A7EFB97B7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32395" y="7230086"/>
            <a:ext cx="14427068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Resultados e Conclusão</a:t>
            </a:r>
          </a:p>
        </p:txBody>
      </p:sp>
      <p:sp>
        <p:nvSpPr>
          <p:cNvPr id="12" name="Text Box 528">
            <a:extLst>
              <a:ext uri="{FF2B5EF4-FFF2-40B4-BE49-F238E27FC236}">
                <a16:creationId xmlns:a16="http://schemas.microsoft.com/office/drawing/2014/main" id="{F1621BEC-E48F-FB24-3C8C-097DCFFDB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495" y="27056088"/>
            <a:ext cx="14341475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/>
              <a:t>Descrever cada etapa do processo de pesquisa, desde a parte teórica até o trabalho de campo. Descrever cada etapa do processo de pesquisa, desde a parte teórica até o trabalho de campo. Descrever cada etapa do processo de pesquisa, desde a parte teórica até o trabalho de campo. Descrever cada etapa do processo de pesquisa, desde a parte teórica até o trabalho de campo. Descrever cada etapa do processo de pesquisa, desde a parte teórica até o trabalho de campo. </a:t>
            </a:r>
          </a:p>
        </p:txBody>
      </p:sp>
      <p:sp>
        <p:nvSpPr>
          <p:cNvPr id="13" name="Text Box 527">
            <a:extLst>
              <a:ext uri="{FF2B5EF4-FFF2-40B4-BE49-F238E27FC236}">
                <a16:creationId xmlns:a16="http://schemas.microsoft.com/office/drawing/2014/main" id="{6BCBCBF1-AD1F-CFEB-9902-0001C418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953" y="26168190"/>
            <a:ext cx="14377855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Metodologia</a:t>
            </a: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03912B57-80C1-D23E-1BA4-AF2AE7E41B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7551003"/>
              </p:ext>
            </p:extLst>
          </p:nvPr>
        </p:nvGraphicFramePr>
        <p:xfrm>
          <a:off x="16917988" y="18761999"/>
          <a:ext cx="14292261" cy="6956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Rectangle 31">
            <a:extLst>
              <a:ext uri="{FF2B5EF4-FFF2-40B4-BE49-F238E27FC236}">
                <a16:creationId xmlns:a16="http://schemas.microsoft.com/office/drawing/2014/main" id="{4C9BABB4-6CA3-AA39-B83D-968BDD9AC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5212" y="8120026"/>
            <a:ext cx="15163800" cy="964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marL="1465263" indent="-146526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3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6588" indent="-1222375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0">
                <a:solidFill>
                  <a:schemeClr val="tx1"/>
                </a:solidFill>
                <a:latin typeface="+mn-lt"/>
              </a:defRPr>
            </a:lvl2pPr>
            <a:lvl3pPr marL="4886325" indent="-977900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300">
                <a:solidFill>
                  <a:schemeClr val="tx1"/>
                </a:solidFill>
                <a:latin typeface="+mn-lt"/>
              </a:defRPr>
            </a:lvl3pPr>
            <a:lvl4pPr marL="6840538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8600">
                <a:solidFill>
                  <a:schemeClr val="tx1"/>
                </a:solidFill>
                <a:latin typeface="+mn-lt"/>
              </a:defRPr>
            </a:lvl4pPr>
            <a:lvl5pPr marL="8794750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5pPr>
            <a:lvl6pPr marL="92519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6pPr>
            <a:lvl7pPr marL="97091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7pPr>
            <a:lvl8pPr marL="101663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8pPr>
            <a:lvl9pPr marL="106235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9pPr>
          </a:lstStyle>
          <a:p>
            <a:pPr marL="65088" indent="-65088" algn="just" eaLnBrk="1" hangingPunct="1">
              <a:buFontTx/>
              <a:buNone/>
            </a:pPr>
            <a:r>
              <a:rPr lang="pt-BR" sz="4000" kern="0" dirty="0"/>
              <a:t>Descrever cada um dos resultados da pesquisa, de forma objetiva e discutir a respeito baseado no que foi observado, ou se tiveram dificuldade no que foi desenvolvido etc. A que conclusões se chegou, que dados foram coletados, que produto foi desenvolvido, que metas foram alcançadas etc. Pode usar fotos, desenhos e gráficos, mas procure não ultrapassar o limite de uma página. Descrever cada um dos resultados da pesquisa, de forma objetiva. A que conclusões se chegou, que dados foram coletados, que produto foi desenvolvido, que metas foram alcançadas. Podem ser usados imagens, esquemas, fotos e gráficos. A que conclusões se chegou, que dados foram coletados, que produto foi desenvolvido, que metas foram alcançadas. Podem ser usados imagens, esquemas, fotos e gráficos. . Podem ser usados imagens, esquemas, fotos e gráficos. </a:t>
            </a:r>
          </a:p>
        </p:txBody>
      </p:sp>
      <p:sp>
        <p:nvSpPr>
          <p:cNvPr id="17" name="Text Box 527">
            <a:extLst>
              <a:ext uri="{FF2B5EF4-FFF2-40B4-BE49-F238E27FC236}">
                <a16:creationId xmlns:a16="http://schemas.microsoft.com/office/drawing/2014/main" id="{C7291063-4E92-7CD5-748C-A14E409FF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7988" y="26240198"/>
            <a:ext cx="14292262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Agradecimentos</a:t>
            </a:r>
            <a:r>
              <a:rPr lang="en-US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e </a:t>
            </a: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Referências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E60F434-331E-5462-2479-3A0663A90982}"/>
              </a:ext>
            </a:extLst>
          </p:cNvPr>
          <p:cNvSpPr txBox="1"/>
          <p:nvPr/>
        </p:nvSpPr>
        <p:spPr>
          <a:xfrm flipH="1">
            <a:off x="16309428" y="17869789"/>
            <a:ext cx="8986841" cy="73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" indent="367030" algn="just">
              <a:tabLst>
                <a:tab pos="2743200" algn="ctr"/>
                <a:tab pos="5486400" algn="r"/>
              </a:tabLst>
            </a:pPr>
            <a:r>
              <a:rPr lang="pt-BR" sz="40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Gráfico 1: </a:t>
            </a:r>
            <a:r>
              <a:rPr lang="pt-BR" sz="4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Divisão por Categorias</a:t>
            </a:r>
            <a:r>
              <a:rPr lang="pt-BR" sz="40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40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1026" name="Picture 2" descr="Equipe - UFPE">
            <a:extLst>
              <a:ext uri="{FF2B5EF4-FFF2-40B4-BE49-F238E27FC236}">
                <a16:creationId xmlns:a16="http://schemas.microsoft.com/office/drawing/2014/main" id="{E9D4E970-A22C-97B4-294B-2EB861965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6905" y="33106407"/>
            <a:ext cx="3395707" cy="226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ED75B5B-BC3D-648E-EEE5-995481F99DD6}"/>
              </a:ext>
            </a:extLst>
          </p:cNvPr>
          <p:cNvSpPr txBox="1"/>
          <p:nvPr/>
        </p:nvSpPr>
        <p:spPr>
          <a:xfrm>
            <a:off x="26139129" y="32691882"/>
            <a:ext cx="185820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dirty="0"/>
              <a:t>Apoio:</a:t>
            </a:r>
          </a:p>
        </p:txBody>
      </p:sp>
      <p:sp>
        <p:nvSpPr>
          <p:cNvPr id="18" name="Text Box 508">
            <a:extLst>
              <a:ext uri="{FF2B5EF4-FFF2-40B4-BE49-F238E27FC236}">
                <a16:creationId xmlns:a16="http://schemas.microsoft.com/office/drawing/2014/main" id="{2A21FD36-A95C-F70F-D700-80FB23FA5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22818003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graphicFrame>
        <p:nvGraphicFramePr>
          <p:cNvPr id="21" name="Objeto 20">
            <a:extLst>
              <a:ext uri="{FF2B5EF4-FFF2-40B4-BE49-F238E27FC236}">
                <a16:creationId xmlns:a16="http://schemas.microsoft.com/office/drawing/2014/main" id="{D4E42F12-3E0A-70C1-982C-CC4F4B638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908345"/>
              </p:ext>
            </p:extLst>
          </p:nvPr>
        </p:nvGraphicFramePr>
        <p:xfrm>
          <a:off x="4664075" y="20119864"/>
          <a:ext cx="7999413" cy="462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3267160" imgH="1889509" progId="ChemDraw.Document.6.0">
                  <p:embed/>
                </p:oleObj>
              </mc:Choice>
              <mc:Fallback>
                <p:oleObj name="CS ChemDraw Drawing" r:id="rId7" imgW="3267160" imgH="1889509" progId="ChemDraw.Document.6.0">
                  <p:embed/>
                  <p:pic>
                    <p:nvPicPr>
                      <p:cNvPr id="26" name="Objeto 25">
                        <a:extLst>
                          <a:ext uri="{FF2B5EF4-FFF2-40B4-BE49-F238E27FC236}">
                            <a16:creationId xmlns:a16="http://schemas.microsoft.com/office/drawing/2014/main" id="{F4D72F7F-1106-EBE2-A527-D338C0FBD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20119864"/>
                        <a:ext cx="7999413" cy="4625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CaixaDeTexto 21">
            <a:extLst>
              <a:ext uri="{FF2B5EF4-FFF2-40B4-BE49-F238E27FC236}">
                <a16:creationId xmlns:a16="http://schemas.microsoft.com/office/drawing/2014/main" id="{5D1CB60B-D53A-DB15-6F5D-4F4A6C21EBF2}"/>
              </a:ext>
            </a:extLst>
          </p:cNvPr>
          <p:cNvSpPr txBox="1"/>
          <p:nvPr/>
        </p:nvSpPr>
        <p:spPr>
          <a:xfrm>
            <a:off x="954353" y="24844751"/>
            <a:ext cx="142640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Figura 1</a:t>
            </a:r>
            <a:r>
              <a:rPr lang="pt-BR" sz="400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 Esquema da destilação por arraste a vapor para extração do óleo essencial.</a:t>
            </a:r>
            <a:endParaRPr lang="pt-BR" sz="40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65759A-56C9-47ED-73A7-1F702AEA14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149" y="33091991"/>
            <a:ext cx="9860094" cy="24883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F7BE57A-2AC7-E6B3-EF70-3E71F5353EFF}"/>
              </a:ext>
            </a:extLst>
          </p:cNvPr>
          <p:cNvCxnSpPr>
            <a:cxnSpLocks/>
          </p:cNvCxnSpPr>
          <p:nvPr/>
        </p:nvCxnSpPr>
        <p:spPr bwMode="auto">
          <a:xfrm>
            <a:off x="936329" y="32475858"/>
            <a:ext cx="3059832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image1.jpg" descr="Logotipo, nome da empresa&#10;&#10;Descrição gerada automaticamente">
            <a:extLst>
              <a:ext uri="{FF2B5EF4-FFF2-40B4-BE49-F238E27FC236}">
                <a16:creationId xmlns:a16="http://schemas.microsoft.com/office/drawing/2014/main" id="{5A6CE57B-A03B-1417-5AA1-4F7C6B6918CA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3" r="53204" b="19699"/>
          <a:stretch/>
        </p:blipFill>
        <p:spPr>
          <a:xfrm>
            <a:off x="3743416" y="32878871"/>
            <a:ext cx="2888583" cy="2603161"/>
          </a:xfrm>
          <a:prstGeom prst="rect">
            <a:avLst/>
          </a:prstGeom>
          <a:ln/>
        </p:spPr>
      </p:pic>
      <p:pic>
        <p:nvPicPr>
          <p:cNvPr id="33" name="Picture 515" descr="head_cnpq">
            <a:extLst>
              <a:ext uri="{FF2B5EF4-FFF2-40B4-BE49-F238E27FC236}">
                <a16:creationId xmlns:a16="http://schemas.microsoft.com/office/drawing/2014/main" id="{E32549B6-1029-7130-0CC2-707EA37D0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000" y="285513"/>
            <a:ext cx="4815822" cy="2273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0D8311E-DA06-F588-4312-3FDA084BC0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0" y="416283"/>
            <a:ext cx="6440367" cy="2680311"/>
          </a:xfrm>
          <a:prstGeom prst="rect">
            <a:avLst/>
          </a:prstGeom>
        </p:spPr>
      </p:pic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8EC6DDAA-EB86-3DB6-25A0-CEC13C3DB7F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96" y="32603758"/>
            <a:ext cx="5940854" cy="300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13021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662</Words>
  <Application>Microsoft Office PowerPoint</Application>
  <PresentationFormat>Personalizar</PresentationFormat>
  <Paragraphs>26</Paragraphs>
  <Slides>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 Neue</vt:lpstr>
      <vt:lpstr>Design padrão</vt:lpstr>
      <vt:lpstr>CS ChemDraw Drawing</vt:lpstr>
      <vt:lpstr>“TÍTULO DO SEU PROJETO”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Síntese de tioacetais catalisada por líquido  iônico de selênio</dc:title>
  <dc:creator>.;Elton</dc:creator>
  <cp:lastModifiedBy>Elton Borges</cp:lastModifiedBy>
  <cp:revision>173</cp:revision>
  <dcterms:created xsi:type="dcterms:W3CDTF">2007-11-09T14:19:38Z</dcterms:created>
  <dcterms:modified xsi:type="dcterms:W3CDTF">2025-12-09T09:07:52Z</dcterms:modified>
</cp:coreProperties>
</file>