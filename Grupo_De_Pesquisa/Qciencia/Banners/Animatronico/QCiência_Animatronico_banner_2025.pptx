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32404050" cy="360045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0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6A5FFD"/>
    <a:srgbClr val="0033CC"/>
    <a:srgbClr val="66FFFF"/>
    <a:srgbClr val="3399FF"/>
    <a:srgbClr val="FF0000"/>
    <a:srgbClr val="000066"/>
    <a:srgbClr val="003399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21" autoAdjust="0"/>
    <p:restoredTop sz="94627" autoAdjust="0"/>
  </p:normalViewPr>
  <p:slideViewPr>
    <p:cSldViewPr>
      <p:cViewPr>
        <p:scale>
          <a:sx n="20" d="100"/>
          <a:sy n="20" d="100"/>
        </p:scale>
        <p:origin x="8" y="8"/>
      </p:cViewPr>
      <p:guideLst>
        <p:guide orient="horz" pos="11340"/>
        <p:guide pos="1020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59846D1-E72A-4542-8848-402DCC5566B2}" type="datetimeFigureOut">
              <a:rPr lang="pt-BR"/>
              <a:pPr>
                <a:defRPr/>
              </a:pPr>
              <a:t>13/12/2025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039938" y="1143000"/>
            <a:ext cx="2778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0B01443-0FE6-4FE7-9ABD-D9369761FBA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75394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dirty="0"/>
          </a:p>
        </p:txBody>
      </p:sp>
      <p:sp>
        <p:nvSpPr>
          <p:cNvPr id="410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B8DAD5-71B1-4E7D-B41D-7B09E7D9D516}" type="slidenum">
              <a:rPr lang="pt-BR" sz="1200" smtClean="0"/>
              <a:pPr/>
              <a:t>1</a:t>
            </a:fld>
            <a:endParaRPr lang="pt-BR" sz="1200"/>
          </a:p>
        </p:txBody>
      </p:sp>
    </p:spTree>
    <p:extLst>
      <p:ext uri="{BB962C8B-B14F-4D97-AF65-F5344CB8AC3E}">
        <p14:creationId xmlns:p14="http://schemas.microsoft.com/office/powerpoint/2010/main" val="2548412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30463" y="11185525"/>
            <a:ext cx="27543125" cy="771683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860925" y="20402550"/>
            <a:ext cx="22682200" cy="92011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311FD1-8986-49A2-B0CB-42E9C3F2075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2535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1DF82-D3B0-48B8-A8B2-F4CA850B5B9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980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59050" y="23136225"/>
            <a:ext cx="27544713" cy="715168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59050" y="15260638"/>
            <a:ext cx="27544713" cy="78755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B6B0B-58C0-4578-AB23-CF45FFBAC10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2533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620838" y="8401050"/>
            <a:ext cx="14504987" cy="23761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6278225" y="8401050"/>
            <a:ext cx="14504988" cy="23761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0F115E-426E-4CB0-A86D-83FE2E7420C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314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0838" y="8059738"/>
            <a:ext cx="14316075" cy="33591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620838" y="11418888"/>
            <a:ext cx="14316075" cy="207438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6460788" y="8059738"/>
            <a:ext cx="14322425" cy="33591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6460788" y="11418888"/>
            <a:ext cx="14322425" cy="207438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EE68C5-823F-41C5-9C4A-4E6A6D9B331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022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C40529-B20A-47B7-AB78-647F374D75B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5824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26D9E4-1D5D-488C-A01A-6635F9E4224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2991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0838" y="1433513"/>
            <a:ext cx="10660062" cy="610076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669838" y="1433513"/>
            <a:ext cx="18113375" cy="307292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20838" y="7534275"/>
            <a:ext cx="10660062" cy="246284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12590B-A9B8-4EB1-AD9D-3DDAED39F66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429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51588" y="25203150"/>
            <a:ext cx="19442112" cy="29749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6351588" y="3217863"/>
            <a:ext cx="19442112" cy="21602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51588" y="28178125"/>
            <a:ext cx="19442112" cy="42259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F9636-0A38-447E-91E0-45D9DB4EA17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2311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BE20B9-5C69-4F48-BDA3-470C15AE921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067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3493413" y="1441450"/>
            <a:ext cx="7289800" cy="307213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620838" y="1441450"/>
            <a:ext cx="21720175" cy="307213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DFD109-41B5-410E-B76C-B00BCCA3E0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905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0838" y="1441450"/>
            <a:ext cx="29162375" cy="600075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620838" y="8401050"/>
            <a:ext cx="14504987" cy="237617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6278225" y="8401050"/>
            <a:ext cx="14504988" cy="237617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81F780-CDBF-478D-880E-C109AD4BCC0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9983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20838" y="1441450"/>
            <a:ext cx="29162375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90906" tIns="195453" rIns="390906" bIns="19545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20838" y="8401050"/>
            <a:ext cx="29162375" cy="2376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20838" y="32788225"/>
            <a:ext cx="7559675" cy="250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60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071225" y="32788225"/>
            <a:ext cx="10261600" cy="250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60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223538" y="32788225"/>
            <a:ext cx="7559675" cy="250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6000"/>
            </a:lvl1pPr>
          </a:lstStyle>
          <a:p>
            <a:pPr>
              <a:defRPr/>
            </a:pPr>
            <a:fld id="{BD0B6FA6-9E50-4FCE-B62D-4EA90CAD40C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2pPr>
      <a:lvl3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3pPr>
      <a:lvl4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4pPr>
      <a:lvl5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5pPr>
      <a:lvl6pPr marL="457200" algn="ctr" defTabSz="3908425" rtl="0" fontAlgn="base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6pPr>
      <a:lvl7pPr marL="914400" algn="ctr" defTabSz="3908425" rtl="0" fontAlgn="base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7pPr>
      <a:lvl8pPr marL="1371600" algn="ctr" defTabSz="3908425" rtl="0" fontAlgn="base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8pPr>
      <a:lvl9pPr marL="1828800" algn="ctr" defTabSz="3908425" rtl="0" fontAlgn="base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9pPr>
    </p:titleStyle>
    <p:bodyStyle>
      <a:lvl1pPr marL="1465263" indent="-1465263" algn="l" defTabSz="3908425" rtl="0" eaLnBrk="0" fontAlgn="base" hangingPunct="0">
        <a:spcBef>
          <a:spcPct val="20000"/>
        </a:spcBef>
        <a:spcAft>
          <a:spcPct val="0"/>
        </a:spcAft>
        <a:buChar char="•"/>
        <a:defRPr sz="13700">
          <a:solidFill>
            <a:schemeClr val="tx1"/>
          </a:solidFill>
          <a:latin typeface="+mn-lt"/>
          <a:ea typeface="+mn-ea"/>
          <a:cs typeface="+mn-cs"/>
        </a:defRPr>
      </a:lvl1pPr>
      <a:lvl2pPr marL="3176588" indent="-1222375" algn="l" defTabSz="3908425" rtl="0" eaLnBrk="0" fontAlgn="base" hangingPunct="0">
        <a:spcBef>
          <a:spcPct val="20000"/>
        </a:spcBef>
        <a:spcAft>
          <a:spcPct val="0"/>
        </a:spcAft>
        <a:buChar char="–"/>
        <a:defRPr sz="12000">
          <a:solidFill>
            <a:schemeClr val="tx1"/>
          </a:solidFill>
          <a:latin typeface="+mn-lt"/>
        </a:defRPr>
      </a:lvl2pPr>
      <a:lvl3pPr marL="4886325" indent="-977900" algn="l" defTabSz="3908425" rtl="0" eaLnBrk="0" fontAlgn="base" hangingPunct="0">
        <a:spcBef>
          <a:spcPct val="20000"/>
        </a:spcBef>
        <a:spcAft>
          <a:spcPct val="0"/>
        </a:spcAft>
        <a:buChar char="•"/>
        <a:defRPr sz="10300">
          <a:solidFill>
            <a:schemeClr val="tx1"/>
          </a:solidFill>
          <a:latin typeface="+mn-lt"/>
        </a:defRPr>
      </a:lvl3pPr>
      <a:lvl4pPr marL="6840538" indent="-976313" algn="l" defTabSz="3908425" rtl="0" eaLnBrk="0" fontAlgn="base" hangingPunct="0">
        <a:spcBef>
          <a:spcPct val="20000"/>
        </a:spcBef>
        <a:spcAft>
          <a:spcPct val="0"/>
        </a:spcAft>
        <a:buChar char="–"/>
        <a:defRPr sz="8600">
          <a:solidFill>
            <a:schemeClr val="tx1"/>
          </a:solidFill>
          <a:latin typeface="+mn-lt"/>
        </a:defRPr>
      </a:lvl4pPr>
      <a:lvl5pPr marL="8794750" indent="-976313" algn="l" defTabSz="3908425" rtl="0" eaLnBrk="0" fontAlgn="base" hangingPunct="0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5pPr>
      <a:lvl6pPr marL="9251950" indent="-976313" algn="l" defTabSz="3908425" rtl="0" fontAlgn="base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6pPr>
      <a:lvl7pPr marL="9709150" indent="-976313" algn="l" defTabSz="3908425" rtl="0" fontAlgn="base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7pPr>
      <a:lvl8pPr marL="10166350" indent="-976313" algn="l" defTabSz="3908425" rtl="0" fontAlgn="base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8pPr>
      <a:lvl9pPr marL="10623550" indent="-976313" algn="l" defTabSz="3908425" rtl="0" fontAlgn="base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jp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47FFEDE6-6075-F2A9-A5ED-B720A28EBC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96" r="19718" b="2024"/>
          <a:stretch/>
        </p:blipFill>
        <p:spPr bwMode="auto">
          <a:xfrm>
            <a:off x="1032993" y="32603758"/>
            <a:ext cx="1976104" cy="2968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Rectangle 4"/>
          <p:cNvSpPr>
            <a:spLocks noGrp="1" noChangeArrowheads="1"/>
          </p:cNvSpPr>
          <p:nvPr>
            <p:ph type="title"/>
          </p:nvPr>
        </p:nvSpPr>
        <p:spPr>
          <a:xfrm>
            <a:off x="5163796" y="2390723"/>
            <a:ext cx="22980650" cy="2487933"/>
          </a:xfrm>
        </p:spPr>
        <p:txBody>
          <a:bodyPr/>
          <a:lstStyle/>
          <a:p>
            <a:pPr eaLnBrk="1" hangingPunct="1"/>
            <a:r>
              <a:rPr lang="pt-BR" sz="5500" b="1" i="1" dirty="0" smtClean="0">
                <a:solidFill>
                  <a:srgbClr val="000066"/>
                </a:solidFill>
              </a:rPr>
              <a:t>“</a:t>
            </a:r>
            <a:r>
              <a:rPr lang="pt-BR" sz="5500" b="1" i="1" dirty="0">
                <a:solidFill>
                  <a:srgbClr val="000066"/>
                </a:solidFill>
              </a:rPr>
              <a:t>Robótica Sustentável: Construção de </a:t>
            </a:r>
            <a:r>
              <a:rPr lang="pt-BR" sz="5500" b="1" i="1" dirty="0" err="1">
                <a:solidFill>
                  <a:srgbClr val="000066"/>
                </a:solidFill>
              </a:rPr>
              <a:t>Animatrônico</a:t>
            </a:r>
            <a:r>
              <a:rPr lang="pt-BR" sz="5500" b="1" i="1" dirty="0">
                <a:solidFill>
                  <a:srgbClr val="000066"/>
                </a:solidFill>
              </a:rPr>
              <a:t> com Materiais Recicláveis e Controle por </a:t>
            </a:r>
            <a:r>
              <a:rPr lang="pt-BR" sz="5500" b="1" i="1" dirty="0" err="1">
                <a:solidFill>
                  <a:srgbClr val="000066"/>
                </a:solidFill>
              </a:rPr>
              <a:t>Arduino</a:t>
            </a:r>
            <a:r>
              <a:rPr lang="pt-BR" sz="5500" b="1" i="1" dirty="0" smtClean="0">
                <a:solidFill>
                  <a:srgbClr val="000066"/>
                </a:solidFill>
              </a:rPr>
              <a:t>”</a:t>
            </a:r>
            <a:endParaRPr lang="en-US" sz="5500" b="1" i="1" dirty="0">
              <a:solidFill>
                <a:srgbClr val="000066"/>
              </a:solidFill>
            </a:endParaRPr>
          </a:p>
        </p:txBody>
      </p:sp>
      <p:sp>
        <p:nvSpPr>
          <p:cNvPr id="3076" name="Rectangle 31"/>
          <p:cNvSpPr>
            <a:spLocks noGrp="1" noChangeArrowheads="1"/>
          </p:cNvSpPr>
          <p:nvPr>
            <p:ph type="body" sz="half" idx="1"/>
          </p:nvPr>
        </p:nvSpPr>
        <p:spPr>
          <a:xfrm>
            <a:off x="930824" y="8162926"/>
            <a:ext cx="15163800" cy="16286101"/>
          </a:xfrm>
        </p:spPr>
        <p:txBody>
          <a:bodyPr/>
          <a:lstStyle/>
          <a:p>
            <a:pPr marL="65088" indent="-65088" algn="just" eaLnBrk="1" hangingPunct="1">
              <a:buFontTx/>
              <a:buNone/>
            </a:pPr>
            <a:r>
              <a:rPr lang="pt-BR" sz="3800" dirty="0" smtClean="0"/>
              <a:t>O avanço da robótica educacional e da cultura “</a:t>
            </a:r>
            <a:r>
              <a:rPr lang="pt-BR" sz="3800" dirty="0" err="1" smtClean="0"/>
              <a:t>maker</a:t>
            </a:r>
            <a:r>
              <a:rPr lang="pt-BR" sz="3800" dirty="0" smtClean="0"/>
              <a:t>” tem possibilitado o desenvolvimento de soluções tecnológicas utilizando materiais acessíveis e sustentáveis</a:t>
            </a:r>
            <a:r>
              <a:rPr lang="pt-BR" sz="3800" baseline="30000" dirty="0" smtClean="0">
                <a:latin typeface="Arial" panose="020B0604020202020204" pitchFamily="34" charset="0"/>
                <a:ea typeface="Arial" panose="020B0604020202020204" pitchFamily="34" charset="0"/>
              </a:rPr>
              <a:t>2</a:t>
            </a:r>
            <a:r>
              <a:rPr lang="pt-BR" sz="3800" dirty="0" smtClean="0"/>
              <a:t>. Nesse contexto, este projeto apresenta a construção de um robô </a:t>
            </a:r>
            <a:r>
              <a:rPr lang="pt-BR" sz="3800" dirty="0" err="1" smtClean="0"/>
              <a:t>animatrônico</a:t>
            </a:r>
            <a:r>
              <a:rPr lang="pt-BR" sz="3800" dirty="0" smtClean="0"/>
              <a:t> sustentável feito a partir de papelão, sobras de MDF, palitos, papel e arame — materiais frequentemente descartados no lixo urbano. A iniciativa busca integrar tecnologia, criatividade e educação ambiental, evidenciando que a robótica pode ser aplicada com baixo custo</a:t>
            </a:r>
            <a:r>
              <a:rPr lang="pt-BR" sz="3800" baseline="30000" dirty="0" smtClean="0">
                <a:latin typeface="Arial" panose="020B0604020202020204" pitchFamily="34" charset="0"/>
                <a:ea typeface="Arial" panose="020B0604020202020204" pitchFamily="34" charset="0"/>
              </a:rPr>
              <a:t>1</a:t>
            </a:r>
            <a:r>
              <a:rPr lang="pt-BR" sz="3800" dirty="0" smtClean="0"/>
              <a:t> e forte caráter ecológico, especialmente em contextos como o município de Arcoverde (PE), situado no semiárido brasileiro. O </a:t>
            </a:r>
            <a:r>
              <a:rPr lang="pt-BR" sz="3800" dirty="0" err="1" smtClean="0"/>
              <a:t>animatrônico</a:t>
            </a:r>
            <a:r>
              <a:rPr lang="pt-BR" sz="3800" dirty="0" smtClean="0"/>
              <a:t> é acionado por </a:t>
            </a:r>
            <a:r>
              <a:rPr lang="pt-BR" sz="3800" dirty="0" err="1" smtClean="0"/>
              <a:t>servomotores</a:t>
            </a:r>
            <a:r>
              <a:rPr lang="pt-BR" sz="3800" dirty="0" smtClean="0"/>
              <a:t> conectados a um </a:t>
            </a:r>
            <a:r>
              <a:rPr lang="pt-BR" sz="3800" dirty="0" err="1" smtClean="0"/>
              <a:t>Arduino</a:t>
            </a:r>
            <a:r>
              <a:rPr lang="pt-BR" sz="3800" dirty="0" smtClean="0"/>
              <a:t>, que recebe comandos em tempo real de um joystick analógico, permitindo a execução de movimentos interativos e expressivos.</a:t>
            </a:r>
          </a:p>
          <a:p>
            <a:pPr marL="65088" indent="-65088" algn="just" eaLnBrk="1" hangingPunct="1">
              <a:buFontTx/>
              <a:buNone/>
            </a:pPr>
            <a:r>
              <a:rPr lang="pt-BR" sz="3800" dirty="0"/>
              <a:t>OBJETIVO GERAL: </a:t>
            </a:r>
          </a:p>
          <a:p>
            <a:pPr marL="65088" indent="-65088" algn="just" eaLnBrk="1" hangingPunct="1">
              <a:buFontTx/>
              <a:buNone/>
            </a:pPr>
            <a:r>
              <a:rPr lang="pt-BR" sz="3800" dirty="0"/>
              <a:t>Desenvolver um robô </a:t>
            </a:r>
            <a:r>
              <a:rPr lang="pt-BR" sz="3800" dirty="0" err="1"/>
              <a:t>animatrônico</a:t>
            </a:r>
            <a:r>
              <a:rPr lang="pt-BR" sz="3800" dirty="0"/>
              <a:t> sustentável controlado por joystick, empregando materiais recicláveis e componentes eletrônicos de baixo custo.</a:t>
            </a:r>
          </a:p>
          <a:p>
            <a:pPr marL="65088" indent="-65088" algn="just" eaLnBrk="1" hangingPunct="1">
              <a:buFontTx/>
              <a:buNone/>
            </a:pPr>
            <a:r>
              <a:rPr lang="pt-BR" sz="3800" dirty="0"/>
              <a:t>OBJETIVOS </a:t>
            </a:r>
            <a:r>
              <a:rPr lang="pt-BR" sz="3800" dirty="0" smtClean="0"/>
              <a:t>ESPECÍFICOS:</a:t>
            </a:r>
          </a:p>
          <a:p>
            <a:pPr marL="0" indent="0" algn="just" eaLnBrk="1" hangingPunct="1"/>
            <a:r>
              <a:rPr lang="pt-BR" sz="3800" dirty="0" smtClean="0"/>
              <a:t> Utilizar </a:t>
            </a:r>
            <a:r>
              <a:rPr lang="pt-BR" sz="3800" dirty="0"/>
              <a:t>a plataforma </a:t>
            </a:r>
            <a:r>
              <a:rPr lang="pt-BR" sz="3800" dirty="0" err="1"/>
              <a:t>Arduino</a:t>
            </a:r>
            <a:r>
              <a:rPr lang="pt-BR" sz="3800" dirty="0"/>
              <a:t> para o controle dos </a:t>
            </a:r>
            <a:r>
              <a:rPr lang="pt-BR" sz="3800" dirty="0" err="1"/>
              <a:t>servomotores</a:t>
            </a:r>
            <a:r>
              <a:rPr lang="pt-BR" sz="3800" dirty="0"/>
              <a:t>.</a:t>
            </a:r>
          </a:p>
          <a:p>
            <a:pPr marL="0" indent="0" algn="just" eaLnBrk="1" hangingPunct="1"/>
            <a:r>
              <a:rPr lang="pt-BR" sz="3800" dirty="0" smtClean="0"/>
              <a:t> Implementar </a:t>
            </a:r>
            <a:r>
              <a:rPr lang="pt-BR" sz="3800" dirty="0"/>
              <a:t>uma interface de comando baseada em joystick.</a:t>
            </a:r>
          </a:p>
          <a:p>
            <a:pPr marL="0" indent="0" algn="just" eaLnBrk="1" hangingPunct="1"/>
            <a:r>
              <a:rPr lang="pt-BR" sz="3800" dirty="0" smtClean="0"/>
              <a:t> Construir </a:t>
            </a:r>
            <a:r>
              <a:rPr lang="pt-BR" sz="3800" dirty="0"/>
              <a:t>a estrutura mecânica do </a:t>
            </a:r>
            <a:r>
              <a:rPr lang="pt-BR" sz="3800" dirty="0" err="1"/>
              <a:t>animatrônico</a:t>
            </a:r>
            <a:r>
              <a:rPr lang="pt-BR" sz="3800" dirty="0"/>
              <a:t> com materiais reaproveitados.</a:t>
            </a:r>
          </a:p>
          <a:p>
            <a:pPr marL="0" indent="0" algn="just" eaLnBrk="1" hangingPunct="1"/>
            <a:r>
              <a:rPr lang="pt-BR" sz="3800" dirty="0" smtClean="0"/>
              <a:t> Incentivar </a:t>
            </a:r>
            <a:r>
              <a:rPr lang="pt-BR" sz="3800" dirty="0"/>
              <a:t>a educação ambiental e o </a:t>
            </a:r>
            <a:r>
              <a:rPr lang="pt-BR" sz="3800" dirty="0" err="1"/>
              <a:t>reaproveita-mento</a:t>
            </a:r>
            <a:r>
              <a:rPr lang="pt-BR" sz="3800" dirty="0"/>
              <a:t> de resíduos sólidos.</a:t>
            </a:r>
          </a:p>
          <a:p>
            <a:pPr marL="0" indent="0" algn="just" eaLnBrk="1" hangingPunct="1"/>
            <a:r>
              <a:rPr lang="pt-BR" sz="3800" dirty="0" smtClean="0"/>
              <a:t> Estimular </a:t>
            </a:r>
            <a:r>
              <a:rPr lang="pt-BR" sz="3800" dirty="0"/>
              <a:t>o aprendizado prático de eletrônica e programação.</a:t>
            </a:r>
          </a:p>
          <a:p>
            <a:pPr marL="65088" indent="-65088" algn="just" eaLnBrk="1" hangingPunct="1">
              <a:buFontTx/>
              <a:buNone/>
            </a:pPr>
            <a:endParaRPr lang="pt-BR" sz="3800" dirty="0" smtClean="0"/>
          </a:p>
          <a:p>
            <a:pPr marL="65088" indent="-65088" algn="just" eaLnBrk="1" hangingPunct="1">
              <a:buFontTx/>
              <a:buNone/>
            </a:pPr>
            <a:endParaRPr lang="pt-BR" sz="3800" dirty="0" smtClean="0"/>
          </a:p>
          <a:p>
            <a:pPr marL="65088" indent="-65088" algn="just" eaLnBrk="1" hangingPunct="1">
              <a:buFontTx/>
              <a:buNone/>
            </a:pPr>
            <a:endParaRPr lang="pt-BR" sz="3800" dirty="0"/>
          </a:p>
        </p:txBody>
      </p:sp>
      <p:sp>
        <p:nvSpPr>
          <p:cNvPr id="3077" name="Text Box 13"/>
          <p:cNvSpPr txBox="1">
            <a:spLocks noChangeArrowheads="1"/>
          </p:cNvSpPr>
          <p:nvPr/>
        </p:nvSpPr>
        <p:spPr bwMode="auto">
          <a:xfrm>
            <a:off x="2661573" y="4567531"/>
            <a:ext cx="27147837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3908425"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908425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908425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908425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908425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pt-BR" sz="4800" b="1" dirty="0" smtClean="0">
                <a:ea typeface="Arial" panose="020B0604020202020204" pitchFamily="34" charset="0"/>
                <a:cs typeface="Helvetica Neue"/>
              </a:rPr>
              <a:t>Jefferson  Bezerra dos Santos</a:t>
            </a:r>
            <a:r>
              <a:rPr lang="pt-BR" sz="4800" b="1" dirty="0" smtClean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,</a:t>
            </a:r>
            <a:r>
              <a:rPr lang="pt-BR" sz="4800" b="1" baseline="30000" dirty="0" smtClean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1</a:t>
            </a:r>
            <a:r>
              <a:rPr lang="pt-BR" sz="4800" b="1" dirty="0" smtClean="0">
                <a:ea typeface="Arial" panose="020B0604020202020204" pitchFamily="34" charset="0"/>
                <a:cs typeface="Helvetica Neue"/>
              </a:rPr>
              <a:t> Alberto Ferreira da </a:t>
            </a:r>
            <a:r>
              <a:rPr lang="pt-BR" sz="4800" b="1" dirty="0" smtClean="0">
                <a:ea typeface="Arial" panose="020B0604020202020204" pitchFamily="34" charset="0"/>
                <a:cs typeface="Helvetica Neue"/>
              </a:rPr>
              <a:t>Silva,²</a:t>
            </a:r>
            <a:r>
              <a:rPr lang="pt-BR" sz="4800" b="1" baseline="-25000" dirty="0" smtClean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.</a:t>
            </a:r>
            <a:endParaRPr lang="pt-BR" sz="4800" dirty="0" smtClean="0">
              <a:effectLst/>
              <a:latin typeface="Helvetica Neue"/>
              <a:ea typeface="Helvetica Neue"/>
              <a:cs typeface="Helvetica Neue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sz="3200" b="1" i="1" baseline="30000" smtClean="0"/>
              <a:t>  1</a:t>
            </a:r>
            <a:r>
              <a:rPr lang="pt-BR" sz="3200" b="1" i="1" smtClean="0"/>
              <a:t>Professor </a:t>
            </a:r>
            <a:r>
              <a:rPr lang="pt-BR" sz="3200" b="1" i="1" dirty="0"/>
              <a:t>do ensino médio, EREFEM Monsenhor José </a:t>
            </a:r>
            <a:r>
              <a:rPr lang="pt-BR" sz="3200" b="1" i="1" dirty="0" err="1"/>
              <a:t>Kerhle</a:t>
            </a:r>
            <a:r>
              <a:rPr lang="pt-BR" sz="3200" b="1" i="1" dirty="0"/>
              <a:t>, Arcoverde </a:t>
            </a:r>
            <a:r>
              <a:rPr lang="pt-BR" sz="3200" b="1" i="1" dirty="0" smtClean="0"/>
              <a:t>– Pernambuco.</a:t>
            </a:r>
            <a:endParaRPr lang="pt-BR" sz="3200" b="1" i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sz="3200" b="1" i="1" baseline="30000" dirty="0" smtClean="0"/>
              <a:t>2</a:t>
            </a:r>
            <a:r>
              <a:rPr lang="pt-BR" sz="3200" b="1" i="1" dirty="0" smtClean="0"/>
              <a:t>Discente </a:t>
            </a:r>
            <a:r>
              <a:rPr lang="pt-BR" sz="3200" b="1" i="1" dirty="0"/>
              <a:t>do ensino médio, EREFEM Monsenhor José </a:t>
            </a:r>
            <a:r>
              <a:rPr lang="pt-BR" sz="3200" b="1" i="1" dirty="0" err="1"/>
              <a:t>Kerhle</a:t>
            </a:r>
            <a:r>
              <a:rPr lang="pt-BR" sz="3200" b="1" i="1" dirty="0"/>
              <a:t>, Arcoverde – </a:t>
            </a:r>
            <a:r>
              <a:rPr lang="pt-BR" sz="3200" b="1" i="1" dirty="0" smtClean="0"/>
              <a:t>Pernambuco.</a:t>
            </a:r>
            <a:endParaRPr lang="pt-BR" sz="3200" b="1" i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sz="3200" b="1" i="1" dirty="0"/>
          </a:p>
        </p:txBody>
      </p:sp>
      <p:sp>
        <p:nvSpPr>
          <p:cNvPr id="2081" name="Text Box 33"/>
          <p:cNvSpPr txBox="1">
            <a:spLocks noChangeArrowheads="1"/>
          </p:cNvSpPr>
          <p:nvPr/>
        </p:nvSpPr>
        <p:spPr bwMode="auto">
          <a:xfrm>
            <a:off x="1081088" y="6552978"/>
            <a:ext cx="14341475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3908425" eaLnBrk="1" hangingPunct="1">
              <a:defRPr/>
            </a:pPr>
            <a:r>
              <a:rPr lang="pt-BR" sz="38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Palavras-chave</a:t>
            </a:r>
            <a:r>
              <a:rPr lang="pt-BR" sz="3800" i="1" dirty="0" smtClean="0"/>
              <a:t>:</a:t>
            </a:r>
            <a:r>
              <a:rPr lang="pt-BR" sz="3800" dirty="0" smtClean="0"/>
              <a:t>   </a:t>
            </a:r>
            <a:r>
              <a:rPr lang="pt-BR" sz="3800" dirty="0" err="1" smtClean="0"/>
              <a:t>Animatrônico</a:t>
            </a:r>
            <a:r>
              <a:rPr lang="pt-BR" sz="3800" dirty="0" smtClean="0"/>
              <a:t>, Sustentabilidade, </a:t>
            </a:r>
            <a:r>
              <a:rPr lang="pt-BR" sz="3800" dirty="0" err="1" smtClean="0"/>
              <a:t>Arduino</a:t>
            </a:r>
            <a:endParaRPr lang="pt-BR" sz="3800" dirty="0"/>
          </a:p>
        </p:txBody>
      </p:sp>
      <p:sp>
        <p:nvSpPr>
          <p:cNvPr id="3079" name="Text Box 508"/>
          <p:cNvSpPr txBox="1">
            <a:spLocks noChangeArrowheads="1"/>
          </p:cNvSpPr>
          <p:nvPr/>
        </p:nvSpPr>
        <p:spPr bwMode="auto">
          <a:xfrm>
            <a:off x="1852613" y="23610091"/>
            <a:ext cx="184150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3908425"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908425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908425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908425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908425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pic>
        <p:nvPicPr>
          <p:cNvPr id="3081" name="Picture 515" descr="head_cnpq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9468" y="33162564"/>
            <a:ext cx="4380762" cy="2068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2" name="Rectangle 520"/>
          <p:cNvSpPr>
            <a:spLocks noChangeArrowheads="1"/>
          </p:cNvSpPr>
          <p:nvPr/>
        </p:nvSpPr>
        <p:spPr bwMode="auto">
          <a:xfrm>
            <a:off x="16950620" y="29021843"/>
            <a:ext cx="14341475" cy="3754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sz="3400" baseline="30000" dirty="0" smtClean="0"/>
              <a:t>1</a:t>
            </a:r>
            <a:r>
              <a:rPr lang="en-US" sz="3400" dirty="0" smtClean="0"/>
              <a:t> M</a:t>
            </a:r>
            <a:r>
              <a:rPr lang="pt-BR" sz="3400" dirty="0" err="1" smtClean="0"/>
              <a:t>cRoberts</a:t>
            </a:r>
            <a:r>
              <a:rPr lang="pt-BR" sz="3400" dirty="0" smtClean="0"/>
              <a:t> </a:t>
            </a:r>
            <a:r>
              <a:rPr lang="pt-BR" sz="3400" dirty="0"/>
              <a:t>M. </a:t>
            </a:r>
            <a:r>
              <a:rPr lang="pt-BR" sz="3400" dirty="0" err="1"/>
              <a:t>Arduino</a:t>
            </a:r>
            <a:r>
              <a:rPr lang="pt-BR" sz="3400" dirty="0"/>
              <a:t>: Guia do Programador. São Paulo: </a:t>
            </a:r>
            <a:r>
              <a:rPr lang="pt-BR" sz="3400" dirty="0" err="1"/>
              <a:t>Novatec</a:t>
            </a:r>
            <a:r>
              <a:rPr lang="pt-BR" sz="3400" dirty="0"/>
              <a:t>; 2011.</a:t>
            </a:r>
            <a:endParaRPr lang="en-US" sz="3400" dirty="0" smtClean="0"/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sz="3400" baseline="30000" dirty="0" smtClean="0"/>
              <a:t>2</a:t>
            </a:r>
            <a:r>
              <a:rPr lang="pt-BR" sz="3400" dirty="0" smtClean="0"/>
              <a:t>Silva </a:t>
            </a:r>
            <a:r>
              <a:rPr lang="pt-BR" sz="3400" dirty="0"/>
              <a:t>L, Carvalho F. Pensando a Robótica na Educação Básica. Revista de </a:t>
            </a:r>
            <a:r>
              <a:rPr lang="pt-BR" sz="3400" dirty="0" err="1"/>
              <a:t>Investigaçãoea</a:t>
            </a:r>
            <a:r>
              <a:rPr lang="pt-BR" sz="3400" dirty="0"/>
              <a:t> Divulgação em  Educação </a:t>
            </a:r>
            <a:r>
              <a:rPr lang="pt-BR" sz="3400" dirty="0" err="1"/>
              <a:t>Matemát</a:t>
            </a:r>
            <a:r>
              <a:rPr lang="pt-BR" sz="3400" dirty="0"/>
              <a:t>. 2019</a:t>
            </a:r>
            <a:r>
              <a:rPr lang="pt-BR" sz="3400" dirty="0" smtClean="0"/>
              <a:t>.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pt-BR" sz="3600" baseline="30000" dirty="0">
                <a:ea typeface="Helvetica Neue"/>
              </a:rPr>
              <a:t>3</a:t>
            </a:r>
            <a:r>
              <a:rPr lang="pt-BR" sz="3400" dirty="0" smtClean="0"/>
              <a:t>Neto </a:t>
            </a:r>
            <a:r>
              <a:rPr lang="pt-BR" sz="3400" dirty="0"/>
              <a:t>A, Oliveira Y. Eletrônica Analógica e Digital Aplicada à </a:t>
            </a:r>
            <a:r>
              <a:rPr lang="pt-BR" sz="3400" dirty="0" err="1"/>
              <a:t>IoT</a:t>
            </a:r>
            <a:r>
              <a:rPr lang="pt-BR" sz="3400" dirty="0"/>
              <a:t>. Rio de Janeiro: Alta Books; 2019.</a:t>
            </a:r>
          </a:p>
          <a:p>
            <a:pPr algn="just">
              <a:spcBef>
                <a:spcPct val="0"/>
              </a:spcBef>
              <a:buFontTx/>
              <a:buNone/>
            </a:pPr>
            <a:endParaRPr lang="en-US" sz="3400" dirty="0"/>
          </a:p>
        </p:txBody>
      </p:sp>
      <p:sp>
        <p:nvSpPr>
          <p:cNvPr id="2574" name="Text Box 526"/>
          <p:cNvSpPr txBox="1">
            <a:spLocks noChangeArrowheads="1"/>
          </p:cNvSpPr>
          <p:nvPr/>
        </p:nvSpPr>
        <p:spPr bwMode="auto">
          <a:xfrm>
            <a:off x="1230180" y="7304416"/>
            <a:ext cx="14864443" cy="8617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3908425" eaLnBrk="1" hangingPunct="1">
              <a:defRPr/>
            </a:pP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Introdução</a:t>
            </a:r>
          </a:p>
        </p:txBody>
      </p:sp>
      <p:sp>
        <p:nvSpPr>
          <p:cNvPr id="3090" name="Rectangle 75"/>
          <p:cNvSpPr>
            <a:spLocks noChangeArrowheads="1"/>
          </p:cNvSpPr>
          <p:nvPr/>
        </p:nvSpPr>
        <p:spPr bwMode="auto">
          <a:xfrm>
            <a:off x="0" y="0"/>
            <a:ext cx="324040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sp>
        <p:nvSpPr>
          <p:cNvPr id="3091" name="Rectangle 77"/>
          <p:cNvSpPr>
            <a:spLocks noChangeArrowheads="1"/>
          </p:cNvSpPr>
          <p:nvPr/>
        </p:nvSpPr>
        <p:spPr bwMode="auto">
          <a:xfrm>
            <a:off x="0" y="0"/>
            <a:ext cx="324040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sp>
        <p:nvSpPr>
          <p:cNvPr id="3092" name="Rectangle 79"/>
          <p:cNvSpPr>
            <a:spLocks noChangeArrowheads="1"/>
          </p:cNvSpPr>
          <p:nvPr/>
        </p:nvSpPr>
        <p:spPr bwMode="auto">
          <a:xfrm>
            <a:off x="0" y="0"/>
            <a:ext cx="324040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sp>
        <p:nvSpPr>
          <p:cNvPr id="3093" name="Rectangle 81"/>
          <p:cNvSpPr>
            <a:spLocks noChangeArrowheads="1"/>
          </p:cNvSpPr>
          <p:nvPr/>
        </p:nvSpPr>
        <p:spPr bwMode="auto">
          <a:xfrm>
            <a:off x="0" y="0"/>
            <a:ext cx="324040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sp>
        <p:nvSpPr>
          <p:cNvPr id="3095" name="Rectangle 89"/>
          <p:cNvSpPr>
            <a:spLocks noChangeArrowheads="1"/>
          </p:cNvSpPr>
          <p:nvPr/>
        </p:nvSpPr>
        <p:spPr bwMode="auto">
          <a:xfrm>
            <a:off x="102250875" y="9296400"/>
            <a:ext cx="177266600" cy="4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pt-BR"/>
          </a:p>
        </p:txBody>
      </p:sp>
      <p:sp>
        <p:nvSpPr>
          <p:cNvPr id="5" name="Text Box 527">
            <a:extLst>
              <a:ext uri="{FF2B5EF4-FFF2-40B4-BE49-F238E27FC236}">
                <a16:creationId xmlns:a16="http://schemas.microsoft.com/office/drawing/2014/main" id="{8793FD97-AB60-6B81-BFCD-A7EFB97B7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61007" y="16236813"/>
            <a:ext cx="14427068" cy="8617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3908425" eaLnBrk="1" hangingPunct="1">
              <a:spcBef>
                <a:spcPts val="0"/>
              </a:spcBef>
              <a:defRPr/>
            </a:pP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Resultados e Conclusão</a:t>
            </a:r>
          </a:p>
        </p:txBody>
      </p:sp>
      <p:sp>
        <p:nvSpPr>
          <p:cNvPr id="12" name="Text Box 528">
            <a:extLst>
              <a:ext uri="{FF2B5EF4-FFF2-40B4-BE49-F238E27FC236}">
                <a16:creationId xmlns:a16="http://schemas.microsoft.com/office/drawing/2014/main" id="{F1621BEC-E48F-FB24-3C8C-097DCFFDB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0180" y="25338336"/>
            <a:ext cx="14341475" cy="7140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3800" dirty="0"/>
              <a:t>A metodologia adotada foi organizada em três etapas principais: </a:t>
            </a:r>
            <a:r>
              <a:rPr lang="pt-BR" sz="3800" b="1" dirty="0"/>
              <a:t>(i) Controle e Programação</a:t>
            </a:r>
            <a:r>
              <a:rPr lang="pt-BR" sz="3800" dirty="0"/>
              <a:t>, envolvendo o desenvolvimento do algoritmo no </a:t>
            </a:r>
            <a:r>
              <a:rPr lang="pt-BR" sz="3800" dirty="0" err="1"/>
              <a:t>Arduino</a:t>
            </a:r>
            <a:r>
              <a:rPr lang="pt-BR" sz="3800" dirty="0"/>
              <a:t> para leitura do joystick, mapeamento dos sinais e acionamento dos </a:t>
            </a:r>
            <a:r>
              <a:rPr lang="pt-BR" sz="3800" dirty="0" err="1"/>
              <a:t>servomotores</a:t>
            </a:r>
            <a:r>
              <a:rPr lang="pt-BR" sz="3800" b="1" dirty="0"/>
              <a:t>; (</a:t>
            </a:r>
            <a:r>
              <a:rPr lang="pt-BR" sz="3800" b="1" dirty="0" err="1"/>
              <a:t>ii</a:t>
            </a:r>
            <a:r>
              <a:rPr lang="pt-BR" sz="3800" b="1" dirty="0"/>
              <a:t>) Integração Eletrônica e Comunicação</a:t>
            </a:r>
            <a:r>
              <a:rPr lang="pt-BR" sz="3800" dirty="0"/>
              <a:t>, compreendendo a ligação do joystick, </a:t>
            </a:r>
            <a:r>
              <a:rPr lang="pt-BR" sz="3800" dirty="0" err="1"/>
              <a:t>Arduino</a:t>
            </a:r>
            <a:r>
              <a:rPr lang="pt-BR" sz="3800" dirty="0"/>
              <a:t> e </a:t>
            </a:r>
            <a:r>
              <a:rPr lang="pt-BR" sz="3800" dirty="0" err="1"/>
              <a:t>servomotores</a:t>
            </a:r>
            <a:r>
              <a:rPr lang="pt-BR" sz="3800" dirty="0"/>
              <a:t>, além do dimensionamento das conexões e testes de funcionamento; </a:t>
            </a:r>
            <a:r>
              <a:rPr lang="pt-BR" sz="3800" b="1" dirty="0"/>
              <a:t>e (</a:t>
            </a:r>
            <a:r>
              <a:rPr lang="pt-BR" sz="3800" b="1" dirty="0" err="1"/>
              <a:t>iii</a:t>
            </a:r>
            <a:r>
              <a:rPr lang="pt-BR" sz="3800" b="1" dirty="0"/>
              <a:t>) Construção Mecânica Sustentável</a:t>
            </a:r>
            <a:r>
              <a:rPr lang="pt-BR" sz="3800" dirty="0"/>
              <a:t>, que consistiu na montagem da estrutura do robô com materiais recicláveis. Para maior clareza, cada etapa foi representada por fluxograma de processo e esquema mecânico, ilustrando tanto o fluxo de controle quanto a disposição das articulações e atuadores na estrutura do robô </a:t>
            </a:r>
            <a:r>
              <a:rPr lang="pt-BR" sz="3800" dirty="0" err="1"/>
              <a:t>animatrônico</a:t>
            </a:r>
            <a:r>
              <a:rPr lang="pt-BR" sz="4000" dirty="0"/>
              <a:t>.</a:t>
            </a:r>
          </a:p>
        </p:txBody>
      </p:sp>
      <p:sp>
        <p:nvSpPr>
          <p:cNvPr id="13" name="Text Box 527">
            <a:extLst>
              <a:ext uri="{FF2B5EF4-FFF2-40B4-BE49-F238E27FC236}">
                <a16:creationId xmlns:a16="http://schemas.microsoft.com/office/drawing/2014/main" id="{6BCBCBF1-AD1F-CFEB-9902-0001C4183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3796" y="24576927"/>
            <a:ext cx="14377855" cy="8617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3908425" eaLnBrk="1" hangingPunct="1">
              <a:spcBef>
                <a:spcPts val="0"/>
              </a:spcBef>
              <a:defRPr/>
            </a:pP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Metodologia</a:t>
            </a:r>
          </a:p>
        </p:txBody>
      </p:sp>
      <p:sp>
        <p:nvSpPr>
          <p:cNvPr id="16" name="Rectangle 31">
            <a:extLst>
              <a:ext uri="{FF2B5EF4-FFF2-40B4-BE49-F238E27FC236}">
                <a16:creationId xmlns:a16="http://schemas.microsoft.com/office/drawing/2014/main" id="{4C9BABB4-6CA3-AA39-B83D-968BDD9AC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0044" y="17226486"/>
            <a:ext cx="15163800" cy="964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>
            <a:lvl1pPr marL="1465263" indent="-1465263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3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76588" indent="-1222375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2000">
                <a:solidFill>
                  <a:schemeClr val="tx1"/>
                </a:solidFill>
                <a:latin typeface="+mn-lt"/>
              </a:defRPr>
            </a:lvl2pPr>
            <a:lvl3pPr marL="4886325" indent="-977900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0300">
                <a:solidFill>
                  <a:schemeClr val="tx1"/>
                </a:solidFill>
                <a:latin typeface="+mn-lt"/>
              </a:defRPr>
            </a:lvl3pPr>
            <a:lvl4pPr marL="6840538" indent="-976313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8600">
                <a:solidFill>
                  <a:schemeClr val="tx1"/>
                </a:solidFill>
                <a:latin typeface="+mn-lt"/>
              </a:defRPr>
            </a:lvl4pPr>
            <a:lvl5pPr marL="8794750" indent="-976313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5pPr>
            <a:lvl6pPr marL="9251950" indent="-976313" algn="l" defTabSz="3908425" rtl="0" fontAlgn="base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6pPr>
            <a:lvl7pPr marL="9709150" indent="-976313" algn="l" defTabSz="3908425" rtl="0" fontAlgn="base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7pPr>
            <a:lvl8pPr marL="10166350" indent="-976313" algn="l" defTabSz="3908425" rtl="0" fontAlgn="base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8pPr>
            <a:lvl9pPr marL="10623550" indent="-976313" algn="l" defTabSz="3908425" rtl="0" fontAlgn="base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9pPr>
          </a:lstStyle>
          <a:p>
            <a:pPr marL="65088" indent="-65088" algn="just" eaLnBrk="1" hangingPunct="1">
              <a:buFontTx/>
              <a:buNone/>
            </a:pPr>
            <a:r>
              <a:rPr lang="pt-BR" sz="3800" kern="0" dirty="0"/>
              <a:t>O controle por joystick apresentou boa sensibilidade e baixa latência, permitindo acionar os </a:t>
            </a:r>
            <a:r>
              <a:rPr lang="pt-BR" sz="3800" kern="0" dirty="0" smtClean="0"/>
              <a:t>Servo motores </a:t>
            </a:r>
            <a:r>
              <a:rPr lang="pt-BR" sz="3800" kern="0" dirty="0"/>
              <a:t>em tempo real. A estrutura construída com materiais recicláveis mostrou-se suficientemente resistente para executar movimentos simples e demonstrativos, reforçando a viabilidade do reaproveitamento de resíduos sólidos como alternativa de baixo custo em projetos educacionais. Além disso, o robô pode ser utilizado para despertar o interesse de estudantes e comunidades locais, promovendo discussões sobre tecnologia, sustentabilidade e descarte consciente. As imagens a seguir ilustram o processo de construção e o funcionamento do </a:t>
            </a:r>
            <a:r>
              <a:rPr lang="pt-BR" sz="3800" kern="0" dirty="0" err="1"/>
              <a:t>animatrônico</a:t>
            </a:r>
            <a:r>
              <a:rPr lang="pt-BR" sz="3800" kern="0" dirty="0"/>
              <a:t>.</a:t>
            </a:r>
          </a:p>
        </p:txBody>
      </p:sp>
      <p:sp>
        <p:nvSpPr>
          <p:cNvPr id="17" name="Text Box 527">
            <a:extLst>
              <a:ext uri="{FF2B5EF4-FFF2-40B4-BE49-F238E27FC236}">
                <a16:creationId xmlns:a16="http://schemas.microsoft.com/office/drawing/2014/main" id="{C7291063-4E92-7CD5-748C-A14E409FF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95813" y="28181092"/>
            <a:ext cx="14292262" cy="8617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3908425" eaLnBrk="1" hangingPunct="1">
              <a:defRPr/>
            </a:pP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Agradecimentos</a:t>
            </a:r>
            <a:r>
              <a:rPr lang="en-US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e </a:t>
            </a: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Referências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E60F434-331E-5462-2479-3A0663A90982}"/>
              </a:ext>
            </a:extLst>
          </p:cNvPr>
          <p:cNvSpPr txBox="1"/>
          <p:nvPr/>
        </p:nvSpPr>
        <p:spPr>
          <a:xfrm flipH="1">
            <a:off x="19742600" y="27509413"/>
            <a:ext cx="8986841" cy="735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170" indent="367030" algn="just">
              <a:tabLst>
                <a:tab pos="2743200" algn="ctr"/>
                <a:tab pos="5486400" algn="r"/>
              </a:tabLst>
            </a:pPr>
            <a:r>
              <a:rPr lang="pt-BR" sz="4000" b="1" dirty="0" smtClean="0">
                <a:ea typeface="Arial" panose="020B0604020202020204" pitchFamily="34" charset="0"/>
                <a:cs typeface="Helvetica Neue"/>
              </a:rPr>
              <a:t>Figura </a:t>
            </a:r>
            <a:r>
              <a:rPr lang="pt-BR" sz="4000" b="1" dirty="0">
                <a:ea typeface="Arial" panose="020B0604020202020204" pitchFamily="34" charset="0"/>
                <a:cs typeface="Helvetica Neue"/>
              </a:rPr>
              <a:t>2</a:t>
            </a:r>
            <a:r>
              <a:rPr lang="pt-BR" sz="4000" b="1" dirty="0" smtClean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: </a:t>
            </a:r>
            <a:r>
              <a:rPr lang="pt-BR" sz="4000" dirty="0" smtClean="0">
                <a:ea typeface="Arial" panose="020B0604020202020204" pitchFamily="34" charset="0"/>
                <a:cs typeface="Helvetica Neue"/>
              </a:rPr>
              <a:t>Imagens do </a:t>
            </a:r>
            <a:r>
              <a:rPr lang="pt-BR" sz="4000" dirty="0" err="1" smtClean="0">
                <a:ea typeface="Arial" panose="020B0604020202020204" pitchFamily="34" charset="0"/>
                <a:cs typeface="Helvetica Neue"/>
              </a:rPr>
              <a:t>animatrônico</a:t>
            </a:r>
            <a:r>
              <a:rPr lang="pt-BR" sz="4000" b="1" dirty="0" smtClean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.</a:t>
            </a:r>
            <a:endParaRPr lang="pt-BR" sz="4000" dirty="0">
              <a:effectLst/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1026" name="Picture 2" descr="Equipe - UFPE">
            <a:extLst>
              <a:ext uri="{FF2B5EF4-FFF2-40B4-BE49-F238E27FC236}">
                <a16:creationId xmlns:a16="http://schemas.microsoft.com/office/drawing/2014/main" id="{E9D4E970-A22C-97B4-294B-2EB861965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6905" y="33106407"/>
            <a:ext cx="3395707" cy="2263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ED75B5B-BC3D-648E-EEE5-995481F99DD6}"/>
              </a:ext>
            </a:extLst>
          </p:cNvPr>
          <p:cNvSpPr txBox="1"/>
          <p:nvPr/>
        </p:nvSpPr>
        <p:spPr>
          <a:xfrm>
            <a:off x="26139129" y="32691882"/>
            <a:ext cx="185820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600" dirty="0"/>
              <a:t>Apoio:</a:t>
            </a:r>
          </a:p>
        </p:txBody>
      </p:sp>
      <p:sp>
        <p:nvSpPr>
          <p:cNvPr id="18" name="Text Box 508">
            <a:extLst>
              <a:ext uri="{FF2B5EF4-FFF2-40B4-BE49-F238E27FC236}">
                <a16:creationId xmlns:a16="http://schemas.microsoft.com/office/drawing/2014/main" id="{2A21FD36-A95C-F70F-D700-80FB23FA5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2613" y="22818003"/>
            <a:ext cx="184150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3908425"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908425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908425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908425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908425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A65759A-56C9-47ED-73A7-1F702AEA14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149" y="33091991"/>
            <a:ext cx="9860094" cy="24883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BF7BE57A-2AC7-E6B3-EF70-3E71F5353EFF}"/>
              </a:ext>
            </a:extLst>
          </p:cNvPr>
          <p:cNvCxnSpPr>
            <a:cxnSpLocks/>
          </p:cNvCxnSpPr>
          <p:nvPr/>
        </p:nvCxnSpPr>
        <p:spPr bwMode="auto">
          <a:xfrm>
            <a:off x="936329" y="32475858"/>
            <a:ext cx="3059832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image1.jpg" descr="Logotipo, nome da empresa&#10;&#10;Descrição gerada automaticamente">
            <a:extLst>
              <a:ext uri="{FF2B5EF4-FFF2-40B4-BE49-F238E27FC236}">
                <a16:creationId xmlns:a16="http://schemas.microsoft.com/office/drawing/2014/main" id="{5A6CE57B-A03B-1417-5AA1-4F7C6B6918CA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93" r="53204" b="19699"/>
          <a:stretch/>
        </p:blipFill>
        <p:spPr>
          <a:xfrm>
            <a:off x="3743416" y="32878871"/>
            <a:ext cx="2888583" cy="2603161"/>
          </a:xfrm>
          <a:prstGeom prst="rect">
            <a:avLst/>
          </a:prstGeom>
          <a:ln/>
        </p:spPr>
      </p:pic>
      <p:pic>
        <p:nvPicPr>
          <p:cNvPr id="33" name="Picture 515" descr="head_cnpq">
            <a:extLst>
              <a:ext uri="{FF2B5EF4-FFF2-40B4-BE49-F238E27FC236}">
                <a16:creationId xmlns:a16="http://schemas.microsoft.com/office/drawing/2014/main" id="{E32549B6-1029-7130-0CC2-707EA37D0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8000" y="285513"/>
            <a:ext cx="4815822" cy="2273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5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B0D8311E-DA06-F588-4312-3FDA084BC0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50" y="416283"/>
            <a:ext cx="6440367" cy="2680311"/>
          </a:xfrm>
          <a:prstGeom prst="rect">
            <a:avLst/>
          </a:prstGeom>
        </p:spPr>
      </p:pic>
      <p:pic>
        <p:nvPicPr>
          <p:cNvPr id="9" name="Imagem 8" descr="Texto&#10;&#10;O conteúdo gerado por IA pode estar incorreto.">
            <a:extLst>
              <a:ext uri="{FF2B5EF4-FFF2-40B4-BE49-F238E27FC236}">
                <a16:creationId xmlns:a16="http://schemas.microsoft.com/office/drawing/2014/main" id="{8EC6DDAA-EB86-3DB6-25A0-CEC13C3DB7F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196" y="32603758"/>
            <a:ext cx="5940854" cy="3000910"/>
          </a:xfrm>
          <a:prstGeom prst="rect">
            <a:avLst/>
          </a:prstGeom>
        </p:spPr>
      </p:pic>
      <p:pic>
        <p:nvPicPr>
          <p:cNvPr id="35" name="Imagem 34"/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3588" y="6705345"/>
            <a:ext cx="11591369" cy="8646539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0E60F434-331E-5462-2479-3A0663A90982}"/>
              </a:ext>
            </a:extLst>
          </p:cNvPr>
          <p:cNvSpPr txBox="1"/>
          <p:nvPr/>
        </p:nvSpPr>
        <p:spPr>
          <a:xfrm flipH="1">
            <a:off x="18353589" y="15354778"/>
            <a:ext cx="8986841" cy="735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170" indent="367030" algn="just">
              <a:tabLst>
                <a:tab pos="2743200" algn="ctr"/>
                <a:tab pos="5486400" algn="r"/>
              </a:tabLst>
            </a:pPr>
            <a:r>
              <a:rPr lang="pt-BR" sz="4000" b="1" dirty="0" smtClean="0">
                <a:ea typeface="Arial" panose="020B0604020202020204" pitchFamily="34" charset="0"/>
                <a:cs typeface="Helvetica Neue"/>
              </a:rPr>
              <a:t>Figura</a:t>
            </a:r>
            <a:r>
              <a:rPr lang="pt-BR" sz="4000" b="1" dirty="0" smtClean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</a:t>
            </a:r>
            <a:r>
              <a:rPr lang="pt-BR" sz="40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1: </a:t>
            </a:r>
            <a:r>
              <a:rPr lang="pt-BR" sz="4000" dirty="0" smtClean="0">
                <a:ea typeface="Arial" panose="020B0604020202020204" pitchFamily="34" charset="0"/>
                <a:cs typeface="Helvetica Neue"/>
              </a:rPr>
              <a:t>Esquema do sistema;</a:t>
            </a:r>
            <a:endParaRPr lang="pt-BR" sz="4000" dirty="0">
              <a:effectLst/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38" name="Imagem 37"/>
          <p:cNvPicPr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2126" y="23991157"/>
            <a:ext cx="4444675" cy="3411706"/>
          </a:xfrm>
          <a:prstGeom prst="rect">
            <a:avLst/>
          </a:prstGeom>
        </p:spPr>
      </p:pic>
      <p:pic>
        <p:nvPicPr>
          <p:cNvPr id="39" name="Imagem 38"/>
          <p:cNvPicPr/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4993" y="24128124"/>
            <a:ext cx="4850874" cy="341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13021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39084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8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39084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8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1156</TotalTime>
  <Words>578</Words>
  <Application>Microsoft Office PowerPoint</Application>
  <PresentationFormat>Personalizar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Helvetica Neue</vt:lpstr>
      <vt:lpstr>Design padrão</vt:lpstr>
      <vt:lpstr>“Robótica Sustentável: Construção de Animatrônico com Materiais Recicláveis e Controle por Arduino”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Síntese de tioacetais catalisada por líquido  iônico de selênio</dc:title>
  <dc:creator>.;Elton</dc:creator>
  <cp:lastModifiedBy>Jeffrey24</cp:lastModifiedBy>
  <cp:revision>185</cp:revision>
  <dcterms:created xsi:type="dcterms:W3CDTF">2007-11-09T14:19:38Z</dcterms:created>
  <dcterms:modified xsi:type="dcterms:W3CDTF">2025-12-14T00:31:00Z</dcterms:modified>
</cp:coreProperties>
</file>