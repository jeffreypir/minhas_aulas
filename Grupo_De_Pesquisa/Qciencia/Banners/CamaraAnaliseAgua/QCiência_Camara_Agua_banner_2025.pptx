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404050" cy="360045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6A5FFD"/>
    <a:srgbClr val="0033CC"/>
    <a:srgbClr val="66FFFF"/>
    <a:srgbClr val="3399FF"/>
    <a:srgbClr val="FF0000"/>
    <a:srgbClr val="000066"/>
    <a:srgbClr val="0033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1" autoAdjust="0"/>
    <p:restoredTop sz="94627" autoAdjust="0"/>
  </p:normalViewPr>
  <p:slideViewPr>
    <p:cSldViewPr>
      <p:cViewPr>
        <p:scale>
          <a:sx n="40" d="100"/>
          <a:sy n="40" d="100"/>
        </p:scale>
        <p:origin x="-3236" y="-1128"/>
      </p:cViewPr>
      <p:guideLst>
        <p:guide orient="horz" pos="11340"/>
        <p:guide pos="102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9846D1-E72A-4542-8848-402DCC5566B2}" type="datetimeFigureOut">
              <a:rPr lang="pt-BR"/>
              <a:pPr>
                <a:defRPr/>
              </a:pPr>
              <a:t>13/12/2025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39938" y="1143000"/>
            <a:ext cx="2778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B01443-0FE6-4FE7-9ABD-D9369761FB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5394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/>
          </a:p>
        </p:txBody>
      </p:sp>
      <p:sp>
        <p:nvSpPr>
          <p:cNvPr id="41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B8DAD5-71B1-4E7D-B41D-7B09E7D9D516}" type="slidenum">
              <a:rPr lang="pt-BR" sz="1200" smtClean="0"/>
              <a:pPr/>
              <a:t>1</a:t>
            </a:fld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254841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1185525"/>
            <a:ext cx="27543125" cy="77168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0402550"/>
            <a:ext cx="2268220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11FD1-8986-49A2-B0CB-42E9C3F207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53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DF82-D3B0-48B8-A8B2-F4CA850B5B9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3136225"/>
            <a:ext cx="27544713" cy="71516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5260638"/>
            <a:ext cx="27544713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B6B0B-58C0-4578-AB23-CF45FFBAC1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F115E-426E-4CB0-A86D-83FE2E7420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1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8059738"/>
            <a:ext cx="1431607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1418888"/>
            <a:ext cx="1431607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8059738"/>
            <a:ext cx="1432242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1418888"/>
            <a:ext cx="1432242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68C5-823F-41C5-9C4A-4E6A6D9B331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2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40529-B20A-47B7-AB78-647F374D75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2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6D9E4-1D5D-488C-A01A-6635F9E4224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99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33513"/>
            <a:ext cx="10660062" cy="61007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433513"/>
            <a:ext cx="18113375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7534275"/>
            <a:ext cx="10660062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2590B-A9B8-4EB1-AD9D-3DDAED39F66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2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25203150"/>
            <a:ext cx="19442112" cy="2974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217863"/>
            <a:ext cx="19442112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28178125"/>
            <a:ext cx="19442112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F9636-0A38-447E-91E0-45D9DB4EA1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3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E20B9-5C69-4F48-BDA3-470C15AE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441450"/>
            <a:ext cx="7289800" cy="307213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441450"/>
            <a:ext cx="21720175" cy="307213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FD109-41B5-410E-B76C-B00BCCA3E0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90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41450"/>
            <a:ext cx="29162375" cy="600075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1F780-CDBF-478D-880E-C109AD4BCC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9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20838" y="1441450"/>
            <a:ext cx="291623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20838" y="8401050"/>
            <a:ext cx="29162375" cy="2376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208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71225" y="32788225"/>
            <a:ext cx="10261600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235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000"/>
            </a:lvl1pPr>
          </a:lstStyle>
          <a:p>
            <a:pPr>
              <a:defRPr/>
            </a:pPr>
            <a:fld id="{BD0B6FA6-9E50-4FCE-B62D-4EA90CAD40C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2pPr>
      <a:lvl3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3pPr>
      <a:lvl4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4pPr>
      <a:lvl5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5pPr>
      <a:lvl6pPr marL="4572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6pPr>
      <a:lvl7pPr marL="9144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7pPr>
      <a:lvl8pPr marL="13716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8pPr>
      <a:lvl9pPr marL="18288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9pPr>
    </p:titleStyle>
    <p:bodyStyle>
      <a:lvl1pPr marL="1465263" indent="-1465263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+mn-ea"/>
          <a:cs typeface="+mn-cs"/>
        </a:defRPr>
      </a:lvl1pPr>
      <a:lvl2pPr marL="3176588" indent="-1222375" algn="l" defTabSz="3908425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86325" indent="-977900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0300">
          <a:solidFill>
            <a:schemeClr val="tx1"/>
          </a:solidFill>
          <a:latin typeface="+mn-lt"/>
        </a:defRPr>
      </a:lvl3pPr>
      <a:lvl4pPr marL="6840538" indent="-976313" algn="l" defTabSz="3908425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4pPr>
      <a:lvl5pPr marL="8794750" indent="-976313" algn="l" defTabSz="3908425" rtl="0" eaLnBrk="0" fontAlgn="base" hangingPunct="0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5pPr>
      <a:lvl6pPr marL="92519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6pPr>
      <a:lvl7pPr marL="97091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7pPr>
      <a:lvl8pPr marL="101663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8pPr>
      <a:lvl9pPr marL="106235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7FFEDE6-6075-F2A9-A5ED-B720A28EB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6" r="19718" b="2024"/>
          <a:stretch/>
        </p:blipFill>
        <p:spPr bwMode="auto">
          <a:xfrm>
            <a:off x="1032993" y="32603758"/>
            <a:ext cx="1976104" cy="296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4819102" y="2087641"/>
            <a:ext cx="22980650" cy="2487933"/>
          </a:xfrm>
        </p:spPr>
        <p:txBody>
          <a:bodyPr/>
          <a:lstStyle/>
          <a:p>
            <a:pPr eaLnBrk="1" hangingPunct="1"/>
            <a:r>
              <a:rPr lang="pt-BR" sz="5500" b="1" i="1" dirty="0" smtClean="0">
                <a:solidFill>
                  <a:srgbClr val="000066"/>
                </a:solidFill>
              </a:rPr>
              <a:t>“</a:t>
            </a:r>
            <a:r>
              <a:rPr lang="pt-BR" sz="5500" b="1" i="1" dirty="0">
                <a:solidFill>
                  <a:srgbClr val="000066"/>
                </a:solidFill>
              </a:rPr>
              <a:t>Uso de </a:t>
            </a:r>
            <a:r>
              <a:rPr lang="pt-BR" sz="5500" b="1" i="1" dirty="0" err="1">
                <a:solidFill>
                  <a:srgbClr val="000066"/>
                </a:solidFill>
              </a:rPr>
              <a:t>Nanopartículas</a:t>
            </a:r>
            <a:r>
              <a:rPr lang="pt-BR" sz="5500" b="1" i="1" dirty="0">
                <a:solidFill>
                  <a:srgbClr val="000066"/>
                </a:solidFill>
              </a:rPr>
              <a:t>  e Sensoriamento com </a:t>
            </a:r>
            <a:r>
              <a:rPr lang="pt-BR" sz="5500" b="1" i="1" dirty="0" err="1">
                <a:solidFill>
                  <a:srgbClr val="000066"/>
                </a:solidFill>
              </a:rPr>
              <a:t>Arduino</a:t>
            </a:r>
            <a:r>
              <a:rPr lang="pt-BR" sz="5500" b="1" i="1" dirty="0">
                <a:solidFill>
                  <a:srgbClr val="000066"/>
                </a:solidFill>
              </a:rPr>
              <a:t> no Monitoramento de Poluentes Aquáticos</a:t>
            </a:r>
            <a:r>
              <a:rPr lang="pt-BR" sz="5500" b="1" i="1" dirty="0" smtClean="0">
                <a:solidFill>
                  <a:srgbClr val="000066"/>
                </a:solidFill>
              </a:rPr>
              <a:t>”</a:t>
            </a:r>
            <a:endParaRPr lang="en-US" sz="5500" b="1" i="1" dirty="0">
              <a:solidFill>
                <a:srgbClr val="000066"/>
              </a:solidFill>
            </a:endParaRPr>
          </a:p>
        </p:txBody>
      </p:sp>
      <p:sp>
        <p:nvSpPr>
          <p:cNvPr id="3076" name="Rectangle 31"/>
          <p:cNvSpPr>
            <a:spLocks noGrp="1" noChangeArrowheads="1"/>
          </p:cNvSpPr>
          <p:nvPr>
            <p:ph type="body" sz="half" idx="1"/>
          </p:nvPr>
        </p:nvSpPr>
        <p:spPr>
          <a:xfrm>
            <a:off x="930824" y="8162927"/>
            <a:ext cx="15163800" cy="17095004"/>
          </a:xfrm>
        </p:spPr>
        <p:txBody>
          <a:bodyPr/>
          <a:lstStyle/>
          <a:p>
            <a:pPr marL="65088" indent="-65088" algn="just" eaLnBrk="1" hangingPunct="1">
              <a:buFontTx/>
              <a:buNone/>
            </a:pPr>
            <a:r>
              <a:rPr lang="pt-BR" sz="3800" dirty="0"/>
              <a:t>A contaminação de corpos d’água por compostos orgânicos, </a:t>
            </a:r>
            <a:r>
              <a:rPr lang="pt-BR" sz="3800" dirty="0" err="1"/>
              <a:t>microplásticos</a:t>
            </a:r>
            <a:r>
              <a:rPr lang="pt-BR" sz="3800" dirty="0"/>
              <a:t> e surfactantes constitui um dos principais desafios ambientais da atualidade, afetando tanto os ecossistemas aquáticos quanto as populações que deles </a:t>
            </a:r>
            <a:r>
              <a:rPr lang="pt-BR" sz="3800" dirty="0" smtClean="0"/>
              <a:t>dependem</a:t>
            </a:r>
            <a:r>
              <a:rPr lang="pt-BR" sz="3800" baseline="30000" dirty="0" smtClean="0">
                <a:latin typeface="Arial" panose="020B0604020202020204" pitchFamily="34" charset="0"/>
                <a:ea typeface="Arial" panose="020B0604020202020204" pitchFamily="34" charset="0"/>
              </a:rPr>
              <a:t>1</a:t>
            </a:r>
            <a:r>
              <a:rPr lang="pt-BR" sz="3800" dirty="0" smtClean="0"/>
              <a:t>. </a:t>
            </a:r>
            <a:r>
              <a:rPr lang="pt-BR" sz="3800" dirty="0"/>
              <a:t>Diante desse cenário, torna-se fundamental desenvolver tecnologias acessíveis, sustentáveis e eficientes para monitorar e mitigar os efeitos dos poluentes aquáticos. Nesse contexto, este projeto propõe a criação de um sistema híbrido que integra </a:t>
            </a:r>
            <a:r>
              <a:rPr lang="pt-BR" sz="3800" dirty="0" err="1"/>
              <a:t>Arduino</a:t>
            </a:r>
            <a:r>
              <a:rPr lang="pt-BR" sz="3800" dirty="0"/>
              <a:t>, sensores eletrônicos de baixo custo e </a:t>
            </a:r>
            <a:r>
              <a:rPr lang="pt-BR" sz="3800" dirty="0" err="1"/>
              <a:t>nanopartículas</a:t>
            </a:r>
            <a:r>
              <a:rPr lang="pt-BR" sz="3800" dirty="0"/>
              <a:t> magnéticas (NM), capaz de detectar e atuar no tratamento de contaminantes em tempo real. A proposta consiste em utilizar o </a:t>
            </a:r>
            <a:r>
              <a:rPr lang="pt-BR" sz="3800" dirty="0" err="1"/>
              <a:t>Arduino</a:t>
            </a:r>
            <a:r>
              <a:rPr lang="pt-BR" sz="3800" dirty="0"/>
              <a:t> como plataforma central de coleta, processamento e controle, permitindo a leitura contínua de parâmetros como turbidez, condutividade e </a:t>
            </a:r>
            <a:r>
              <a:rPr lang="pt-BR" sz="3800" dirty="0" smtClean="0"/>
              <a:t>cor</a:t>
            </a:r>
            <a:r>
              <a:rPr lang="pt-BR" sz="3800" baseline="30000" dirty="0" smtClean="0">
                <a:latin typeface="Arial" panose="020B0604020202020204" pitchFamily="34" charset="0"/>
                <a:ea typeface="Arial" panose="020B0604020202020204" pitchFamily="34" charset="0"/>
              </a:rPr>
              <a:t>2</a:t>
            </a:r>
            <a:r>
              <a:rPr lang="pt-BR" sz="3800" dirty="0" smtClean="0"/>
              <a:t>. </a:t>
            </a:r>
            <a:r>
              <a:rPr lang="pt-BR" sz="3800" dirty="0"/>
              <a:t>Associado a isso, o uso de </a:t>
            </a:r>
            <a:r>
              <a:rPr lang="pt-BR" sz="3800" dirty="0" err="1"/>
              <a:t>nanopartículas</a:t>
            </a:r>
            <a:r>
              <a:rPr lang="pt-BR" sz="3800" dirty="0"/>
              <a:t> magnéticas possibilita a remoção direcionada de poluentes</a:t>
            </a:r>
            <a:r>
              <a:rPr lang="pt-BR" sz="3800" dirty="0" smtClean="0"/>
              <a:t>.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/>
              <a:t>OBJETIVO GERAL: 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/>
              <a:t>Desenvolver um sistema integrado para monitoramento e tratamento de poluentes aquáticos, empregando sensores e </a:t>
            </a:r>
            <a:r>
              <a:rPr lang="pt-BR" sz="3800" dirty="0" err="1"/>
              <a:t>nanopartículas</a:t>
            </a:r>
            <a:r>
              <a:rPr lang="pt-BR" sz="3800" dirty="0"/>
              <a:t> magnéticas sintetizadas a partir de resíduos metálicos, com controle realizado por uma plataforma </a:t>
            </a:r>
            <a:r>
              <a:rPr lang="pt-BR" sz="3800" dirty="0" err="1"/>
              <a:t>Arduino</a:t>
            </a:r>
            <a:r>
              <a:rPr lang="pt-BR" sz="3800" dirty="0"/>
              <a:t>.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/>
              <a:t>OBJETIVOS ESPECÍFICOS:</a:t>
            </a:r>
          </a:p>
          <a:p>
            <a:pPr marL="65088" indent="-65088" algn="just" eaLnBrk="1" hangingPunct="1">
              <a:buFontTx/>
              <a:buNone/>
            </a:pPr>
            <a:r>
              <a:rPr lang="pt-BR" sz="3800" dirty="0" smtClean="0"/>
              <a:t>• Utilizar </a:t>
            </a:r>
            <a:r>
              <a:rPr lang="pt-BR" sz="3800" dirty="0"/>
              <a:t>o </a:t>
            </a:r>
            <a:r>
              <a:rPr lang="pt-BR" sz="3800" dirty="0" err="1"/>
              <a:t>Arduino</a:t>
            </a:r>
            <a:r>
              <a:rPr lang="pt-BR" sz="3800" dirty="0"/>
              <a:t> como unidade de controle e processamento, integrando os sensores óptico (TCRT5000), TDS e ultrassônico (HC-SR04) para o monitoramento contínuo da qualidade da água</a:t>
            </a:r>
            <a:r>
              <a:rPr lang="pt-BR" sz="3800" dirty="0" smtClean="0"/>
              <a:t>.</a:t>
            </a:r>
            <a:endParaRPr lang="pt-BR" sz="3800" dirty="0"/>
          </a:p>
          <a:p>
            <a:pPr marL="65088" indent="-65088" algn="just" eaLnBrk="1" hangingPunct="1">
              <a:buFontTx/>
              <a:buNone/>
            </a:pPr>
            <a:r>
              <a:rPr lang="pt-BR" sz="3800" dirty="0" smtClean="0"/>
              <a:t>• Avaliar </a:t>
            </a:r>
            <a:r>
              <a:rPr lang="pt-BR" sz="3800" dirty="0"/>
              <a:t>a resposta e a sensibilidade dos sensores em diferentes níveis de contaminação, estabelecendo correlações entre turbidez e condutividade elétrica</a:t>
            </a:r>
            <a:r>
              <a:rPr lang="pt-BR" sz="3800" dirty="0" smtClean="0"/>
              <a:t>.</a:t>
            </a:r>
            <a:endParaRPr lang="pt-BR" sz="3800" dirty="0"/>
          </a:p>
          <a:p>
            <a:pPr marL="65088" indent="-65088" algn="just" eaLnBrk="1" hangingPunct="1">
              <a:buFontTx/>
              <a:buNone/>
            </a:pPr>
            <a:r>
              <a:rPr lang="pt-BR" sz="3800" dirty="0" smtClean="0"/>
              <a:t>• Verificar </a:t>
            </a:r>
            <a:r>
              <a:rPr lang="pt-BR" sz="3800" dirty="0"/>
              <a:t>a eficiência do sistema na redução da turbidez e na melhoria da qualidade da água após o processo de tratamento.</a:t>
            </a:r>
          </a:p>
          <a:p>
            <a:pPr marL="65088" indent="-65088" algn="just" eaLnBrk="1" hangingPunct="1">
              <a:buFontTx/>
              <a:buNone/>
            </a:pPr>
            <a:endParaRPr lang="pt-BR" sz="4000" dirty="0"/>
          </a:p>
        </p:txBody>
      </p:sp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2668106" y="4112411"/>
            <a:ext cx="2852395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Aft>
                <a:spcPts val="0"/>
              </a:spcAft>
              <a:buNone/>
            </a:pPr>
            <a:r>
              <a:rPr lang="pt-BR" sz="4800" b="1" dirty="0">
                <a:ea typeface="Arial" panose="020B0604020202020204" pitchFamily="34" charset="0"/>
                <a:cs typeface="Helvetica Neue"/>
              </a:rPr>
              <a:t>Jefferson Bezerra dos Santos,</a:t>
            </a:r>
            <a:r>
              <a:rPr lang="pt-BR" sz="4800" b="1" baseline="30000" dirty="0">
                <a:ea typeface="Arial" panose="020B0604020202020204" pitchFamily="34" charset="0"/>
                <a:cs typeface="Helvetica Neue"/>
              </a:rPr>
              <a:t>1</a:t>
            </a:r>
            <a:r>
              <a:rPr lang="pt-BR" sz="4800" b="1" dirty="0">
                <a:ea typeface="Arial" panose="020B0604020202020204" pitchFamily="34" charset="0"/>
                <a:cs typeface="Helvetica Neue"/>
              </a:rPr>
              <a:t> Inácio Alves dos Santos </a:t>
            </a:r>
            <a:r>
              <a:rPr lang="pt-BR" sz="4800" b="1" baseline="30000" dirty="0">
                <a:ea typeface="Arial" panose="020B0604020202020204" pitchFamily="34" charset="0"/>
                <a:cs typeface="Helvetica Neue"/>
              </a:rPr>
              <a:t>2</a:t>
            </a:r>
            <a:r>
              <a:rPr lang="pt-BR" sz="4800" b="1" dirty="0">
                <a:ea typeface="Arial" panose="020B0604020202020204" pitchFamily="34" charset="0"/>
                <a:cs typeface="Helvetica Neue"/>
              </a:rPr>
              <a:t>, Maria Jamile Arcoverde da Silva,</a:t>
            </a:r>
            <a:r>
              <a:rPr lang="pt-BR" sz="4800" b="1" baseline="30000" dirty="0">
                <a:ea typeface="Arial" panose="020B0604020202020204" pitchFamily="34" charset="0"/>
                <a:cs typeface="Helvetica Neue"/>
              </a:rPr>
              <a:t>3  </a:t>
            </a:r>
            <a:r>
              <a:rPr lang="pt-BR" sz="4800" b="1" dirty="0">
                <a:ea typeface="Arial" panose="020B0604020202020204" pitchFamily="34" charset="0"/>
                <a:cs typeface="Helvetica Neue"/>
              </a:rPr>
              <a:t>Maria </a:t>
            </a:r>
            <a:r>
              <a:rPr lang="pt-BR" sz="4800" b="1" dirty="0" err="1">
                <a:ea typeface="Arial" panose="020B0604020202020204" pitchFamily="34" charset="0"/>
                <a:cs typeface="Helvetica Neue"/>
              </a:rPr>
              <a:t>Sayore</a:t>
            </a:r>
            <a:r>
              <a:rPr lang="pt-BR" sz="4800" b="1" dirty="0">
                <a:ea typeface="Arial" panose="020B0604020202020204" pitchFamily="34" charset="0"/>
                <a:cs typeface="Helvetica Neue"/>
              </a:rPr>
              <a:t> da Silva Alencar </a:t>
            </a:r>
            <a:r>
              <a:rPr lang="pt-BR" sz="4800" b="1" baseline="30000" dirty="0">
                <a:ea typeface="Arial" panose="020B0604020202020204" pitchFamily="34" charset="0"/>
                <a:cs typeface="Helvetica Neue"/>
              </a:rPr>
              <a:t>4</a:t>
            </a:r>
            <a:r>
              <a:rPr lang="pt-BR" sz="4800" b="1" baseline="-25000" dirty="0" smtClean="0">
                <a:ea typeface="Arial" panose="020B0604020202020204" pitchFamily="34" charset="0"/>
                <a:cs typeface="Helvetica Neue"/>
              </a:rPr>
              <a:t>.</a:t>
            </a:r>
            <a:endParaRPr lang="pt-BR" sz="4800" dirty="0">
              <a:effectLst/>
              <a:latin typeface="Helvetica Neue"/>
              <a:ea typeface="Helvetica Neue"/>
              <a:cs typeface="Helvetica Neue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     1,2</a:t>
            </a:r>
            <a:r>
              <a:rPr lang="pt-BR" sz="3200" b="1" i="1" dirty="0" smtClean="0"/>
              <a:t>Professor </a:t>
            </a:r>
            <a:r>
              <a:rPr lang="pt-BR" sz="3200" b="1" i="1" dirty="0"/>
              <a:t>do ensino médio, EREFEM Monsenhor José </a:t>
            </a:r>
            <a:r>
              <a:rPr lang="pt-BR" sz="3200" b="1" i="1" dirty="0" err="1"/>
              <a:t>Kerhle</a:t>
            </a:r>
            <a:r>
              <a:rPr lang="pt-BR" sz="3200" b="1" i="1" dirty="0"/>
              <a:t>, Arcoverde </a:t>
            </a:r>
            <a:r>
              <a:rPr lang="pt-BR" sz="3200" b="1" i="1" dirty="0" smtClean="0"/>
              <a:t>– Pernambuco.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 3,4</a:t>
            </a:r>
            <a:r>
              <a:rPr lang="pt-BR" sz="3200" b="1" i="1" dirty="0" smtClean="0"/>
              <a:t>Discente do ensino médio, EREFEM Monsenhor José </a:t>
            </a:r>
            <a:r>
              <a:rPr lang="pt-BR" sz="3200" b="1" i="1" dirty="0" err="1" smtClean="0"/>
              <a:t>Kerhle</a:t>
            </a:r>
            <a:r>
              <a:rPr lang="pt-BR" sz="3200" b="1" i="1" dirty="0" smtClean="0"/>
              <a:t>, Arcoverde </a:t>
            </a:r>
            <a:r>
              <a:rPr lang="pt-BR" sz="3200" b="1" i="1" smtClean="0"/>
              <a:t>– </a:t>
            </a:r>
            <a:r>
              <a:rPr lang="pt-BR" sz="3200" b="1" i="1" smtClean="0"/>
              <a:t>Pernambuco.</a:t>
            </a:r>
            <a:endParaRPr lang="pt-BR" sz="3200" b="1" i="1" dirty="0" smtClean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3200" b="1" i="1" dirty="0"/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1081088" y="6552978"/>
            <a:ext cx="1434147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3908425" eaLnBrk="1" hangingPunct="1">
              <a:defRPr/>
            </a:pPr>
            <a:r>
              <a:rPr lang="pt-BR" sz="3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Palavras-chave</a:t>
            </a:r>
            <a:r>
              <a:rPr lang="pt-BR" sz="3800" i="1" dirty="0"/>
              <a:t>:</a:t>
            </a:r>
            <a:r>
              <a:rPr lang="pt-BR" sz="3800" dirty="0"/>
              <a:t> </a:t>
            </a:r>
            <a:r>
              <a:rPr lang="pt-BR" sz="3800" dirty="0" err="1" smtClean="0"/>
              <a:t>Arduino</a:t>
            </a:r>
            <a:r>
              <a:rPr lang="pt-BR" sz="3800" dirty="0" smtClean="0"/>
              <a:t>, </a:t>
            </a:r>
            <a:r>
              <a:rPr lang="pt-BR" sz="3800" dirty="0" err="1" smtClean="0"/>
              <a:t>Nanopartículas</a:t>
            </a:r>
            <a:r>
              <a:rPr lang="pt-BR" sz="3800" dirty="0" smtClean="0"/>
              <a:t>, Sensores.</a:t>
            </a:r>
            <a:endParaRPr lang="pt-BR" sz="3800" dirty="0"/>
          </a:p>
        </p:txBody>
      </p:sp>
      <p:sp>
        <p:nvSpPr>
          <p:cNvPr id="3079" name="Text Box 508"/>
          <p:cNvSpPr txBox="1">
            <a:spLocks noChangeArrowheads="1"/>
          </p:cNvSpPr>
          <p:nvPr/>
        </p:nvSpPr>
        <p:spPr bwMode="auto">
          <a:xfrm>
            <a:off x="1852613" y="23610091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081" name="Picture 515" descr="head_cnp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9468" y="33162564"/>
            <a:ext cx="4380762" cy="206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tangle 520"/>
          <p:cNvSpPr>
            <a:spLocks noChangeArrowheads="1"/>
          </p:cNvSpPr>
          <p:nvPr/>
        </p:nvSpPr>
        <p:spPr bwMode="auto">
          <a:xfrm>
            <a:off x="17026149" y="28348970"/>
            <a:ext cx="14341475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pt-BR" sz="3400" dirty="0" smtClean="0"/>
              <a:t>.</a:t>
            </a:r>
            <a:endParaRPr lang="pt-BR" sz="3400" dirty="0"/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sz="3400" baseline="30000" dirty="0" smtClean="0"/>
              <a:t>1</a:t>
            </a:r>
            <a:r>
              <a:rPr lang="de-DE" sz="3400" dirty="0" smtClean="0"/>
              <a:t>Witczak </a:t>
            </a:r>
            <a:r>
              <a:rPr lang="de-DE" sz="3400" dirty="0"/>
              <a:t>A, Przedpełska L, Pokorska-Niewiada K, Cybulski J. Microplastics as a threat to aquatic ecosystems and human health. </a:t>
            </a:r>
            <a:r>
              <a:rPr lang="de-DE" sz="3400" dirty="0" smtClean="0"/>
              <a:t>Toxics</a:t>
            </a:r>
            <a:r>
              <a:rPr lang="de-DE" sz="3400" b="1" dirty="0" smtClean="0"/>
              <a:t>. </a:t>
            </a:r>
            <a:r>
              <a:rPr lang="de-DE" sz="3400" b="1" dirty="0"/>
              <a:t>2024</a:t>
            </a:r>
            <a:r>
              <a:rPr lang="de-DE" sz="3400" dirty="0"/>
              <a:t>;</a:t>
            </a:r>
            <a:endParaRPr lang="de-DE" sz="3400" dirty="0" smtClean="0"/>
          </a:p>
          <a:p>
            <a:pPr algn="just">
              <a:spcBef>
                <a:spcPct val="0"/>
              </a:spcBef>
              <a:buNone/>
            </a:pPr>
            <a:r>
              <a:rPr lang="en-US" sz="3400" baseline="30000" dirty="0" smtClean="0"/>
              <a:t>2</a:t>
            </a:r>
            <a:r>
              <a:rPr lang="pt-BR" sz="3400" dirty="0" err="1" smtClean="0"/>
              <a:t>McRoberts</a:t>
            </a:r>
            <a:r>
              <a:rPr lang="pt-BR" sz="3400" dirty="0" smtClean="0"/>
              <a:t> </a:t>
            </a:r>
            <a:r>
              <a:rPr lang="pt-BR" sz="3400" dirty="0"/>
              <a:t>M. </a:t>
            </a:r>
            <a:r>
              <a:rPr lang="pt-BR" sz="3400" dirty="0" err="1"/>
              <a:t>Arduino</a:t>
            </a:r>
            <a:r>
              <a:rPr lang="pt-BR" sz="3400" dirty="0"/>
              <a:t>: guia do programador. São Paulo: </a:t>
            </a:r>
            <a:r>
              <a:rPr lang="pt-BR" sz="3400" dirty="0" err="1"/>
              <a:t>Nova-tec</a:t>
            </a:r>
            <a:r>
              <a:rPr lang="pt-BR" sz="3400" b="1" dirty="0"/>
              <a:t>; 2011</a:t>
            </a:r>
            <a:r>
              <a:rPr lang="pt-BR" sz="3400" dirty="0"/>
              <a:t>.</a:t>
            </a:r>
            <a:endParaRPr lang="en-US" sz="3400" dirty="0" smtClean="0"/>
          </a:p>
          <a:p>
            <a:pPr algn="just">
              <a:spcBef>
                <a:spcPct val="0"/>
              </a:spcBef>
              <a:buNone/>
            </a:pPr>
            <a:r>
              <a:rPr lang="en-US" sz="3400" baseline="30000" dirty="0" smtClean="0"/>
              <a:t>3</a:t>
            </a:r>
            <a:r>
              <a:rPr lang="pt-BR" sz="3400" dirty="0" smtClean="0"/>
              <a:t>Silva </a:t>
            </a:r>
            <a:r>
              <a:rPr lang="pt-BR" sz="3400" dirty="0"/>
              <a:t>L, Carvalho F. Pensando a robótica na educação básica. Revista de Investigação e Divulgação em Educação Matemática. </a:t>
            </a:r>
            <a:r>
              <a:rPr lang="pt-BR" sz="3400" b="1" dirty="0"/>
              <a:t>2019.</a:t>
            </a:r>
            <a:endParaRPr lang="de-DE" sz="3400" b="1" dirty="0"/>
          </a:p>
          <a:p>
            <a:pPr algn="just">
              <a:spcBef>
                <a:spcPct val="0"/>
              </a:spcBef>
              <a:buNone/>
            </a:pPr>
            <a:endParaRPr lang="de-DE" sz="3400" dirty="0" smtClean="0"/>
          </a:p>
          <a:p>
            <a:pPr algn="just">
              <a:spcBef>
                <a:spcPct val="0"/>
              </a:spcBef>
              <a:buNone/>
            </a:pPr>
            <a:endParaRPr lang="de-DE" sz="3400" dirty="0"/>
          </a:p>
          <a:p>
            <a:pPr algn="just">
              <a:spcBef>
                <a:spcPct val="0"/>
              </a:spcBef>
              <a:buNone/>
            </a:pPr>
            <a:endParaRPr lang="en-US" sz="3400" dirty="0"/>
          </a:p>
        </p:txBody>
      </p:sp>
      <p:sp>
        <p:nvSpPr>
          <p:cNvPr id="2574" name="Text Box 526"/>
          <p:cNvSpPr txBox="1">
            <a:spLocks noChangeArrowheads="1"/>
          </p:cNvSpPr>
          <p:nvPr/>
        </p:nvSpPr>
        <p:spPr bwMode="auto">
          <a:xfrm>
            <a:off x="1230180" y="7304416"/>
            <a:ext cx="14864443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Introdução</a:t>
            </a:r>
          </a:p>
        </p:txBody>
      </p:sp>
      <p:sp>
        <p:nvSpPr>
          <p:cNvPr id="3090" name="Rectangle 75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1" name="Rectangle 77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2" name="Rectangle 79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3" name="Rectangle 81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5" name="Rectangle 89"/>
          <p:cNvSpPr>
            <a:spLocks noChangeArrowheads="1"/>
          </p:cNvSpPr>
          <p:nvPr/>
        </p:nvSpPr>
        <p:spPr bwMode="auto">
          <a:xfrm>
            <a:off x="102250875" y="9296400"/>
            <a:ext cx="177266600" cy="4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/>
          </a:p>
        </p:txBody>
      </p:sp>
      <p:sp>
        <p:nvSpPr>
          <p:cNvPr id="5" name="Text Box 527">
            <a:extLst>
              <a:ext uri="{FF2B5EF4-FFF2-40B4-BE49-F238E27FC236}">
                <a16:creationId xmlns:a16="http://schemas.microsoft.com/office/drawing/2014/main" id="{8793FD97-AB60-6B81-BFCD-A7EFB97B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992" y="14864052"/>
            <a:ext cx="14427068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Resultados e Conclusão</a:t>
            </a:r>
          </a:p>
        </p:txBody>
      </p:sp>
      <p:sp>
        <p:nvSpPr>
          <p:cNvPr id="12" name="Text Box 528">
            <a:extLst>
              <a:ext uri="{FF2B5EF4-FFF2-40B4-BE49-F238E27FC236}">
                <a16:creationId xmlns:a16="http://schemas.microsoft.com/office/drawing/2014/main" id="{F1621BEC-E48F-FB24-3C8C-097DCFFD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92" y="27518761"/>
            <a:ext cx="14341475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 smtClean="0"/>
              <a:t>A </a:t>
            </a:r>
            <a:r>
              <a:rPr lang="pt-BR" sz="4000" dirty="0"/>
              <a:t>metodologia adotada foi dividida em três etapas principais: (i) síntese e funcionalização das </a:t>
            </a:r>
            <a:r>
              <a:rPr lang="pt-BR" sz="4000" dirty="0" err="1"/>
              <a:t>nanopartículas</a:t>
            </a:r>
            <a:r>
              <a:rPr lang="pt-BR" sz="4000" dirty="0"/>
              <a:t> magnéticas (NM-LAS), (</a:t>
            </a:r>
            <a:r>
              <a:rPr lang="pt-BR" sz="4000" dirty="0" err="1"/>
              <a:t>ii</a:t>
            </a:r>
            <a:r>
              <a:rPr lang="pt-BR" sz="4000" dirty="0"/>
              <a:t>) desenvolvimento do módulo eletrônico de sensoriamento e controle, e (</a:t>
            </a:r>
            <a:r>
              <a:rPr lang="pt-BR" sz="4000" dirty="0" err="1"/>
              <a:t>iii</a:t>
            </a:r>
            <a:r>
              <a:rPr lang="pt-BR" sz="4000" dirty="0"/>
              <a:t>) integração experimental para testes em amostras aquosas contaminadas. As etapas foram desenvolvidas em parceria com o grupo de pesquisa em química. O fluxograma e os esquemas a seguir ilustram o processo de funcionamento do protótipo.</a:t>
            </a:r>
          </a:p>
        </p:txBody>
      </p:sp>
      <p:sp>
        <p:nvSpPr>
          <p:cNvPr id="13" name="Text Box 527">
            <a:extLst>
              <a:ext uri="{FF2B5EF4-FFF2-40B4-BE49-F238E27FC236}">
                <a16:creationId xmlns:a16="http://schemas.microsoft.com/office/drawing/2014/main" id="{6BCBCBF1-AD1F-CFEB-9902-0001C418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225" y="26587030"/>
            <a:ext cx="14377855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Metodologia</a:t>
            </a: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4C9BABB4-6CA3-AA39-B83D-968BDD9A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8812" y="14875601"/>
            <a:ext cx="15163800" cy="975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marL="1465263" indent="-146526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3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6588" indent="-1222375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0">
                <a:solidFill>
                  <a:schemeClr val="tx1"/>
                </a:solidFill>
                <a:latin typeface="+mn-lt"/>
              </a:defRPr>
            </a:lvl2pPr>
            <a:lvl3pPr marL="4886325" indent="-977900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300">
                <a:solidFill>
                  <a:schemeClr val="tx1"/>
                </a:solidFill>
                <a:latin typeface="+mn-lt"/>
              </a:defRPr>
            </a:lvl3pPr>
            <a:lvl4pPr marL="6840538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8600">
                <a:solidFill>
                  <a:schemeClr val="tx1"/>
                </a:solidFill>
                <a:latin typeface="+mn-lt"/>
              </a:defRPr>
            </a:lvl4pPr>
            <a:lvl5pPr marL="8794750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5pPr>
            <a:lvl6pPr marL="92519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6pPr>
            <a:lvl7pPr marL="97091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7pPr>
            <a:lvl8pPr marL="101663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8pPr>
            <a:lvl9pPr marL="106235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9pPr>
          </a:lstStyle>
          <a:p>
            <a:pPr marL="65088" indent="-65088" algn="just" eaLnBrk="1" hangingPunct="1">
              <a:buFontTx/>
              <a:buNone/>
            </a:pPr>
            <a:endParaRPr lang="pt-BR" sz="3800" kern="0" dirty="0" smtClean="0"/>
          </a:p>
          <a:p>
            <a:pPr marL="65088" indent="-65088" algn="just" eaLnBrk="1" hangingPunct="1">
              <a:buFontTx/>
              <a:buNone/>
            </a:pPr>
            <a:r>
              <a:rPr lang="pt-BR" sz="3800" kern="0" dirty="0" smtClean="0"/>
              <a:t>Os </a:t>
            </a:r>
            <a:r>
              <a:rPr lang="pt-BR" sz="3800" kern="0" dirty="0"/>
              <a:t>resultados evidenciaram a eficiência do sistema no monitoramento de variações físico-químicas em soluções simuladas de poluentes aquáticos. O sensor TDS demonstrou elevada sensibilidade à presença de sais, registrando um aumento de 70 </a:t>
            </a:r>
            <a:r>
              <a:rPr lang="pt-BR" sz="3800" kern="0" dirty="0" err="1"/>
              <a:t>ppm</a:t>
            </a:r>
            <a:r>
              <a:rPr lang="pt-BR" sz="3800" kern="0" dirty="0"/>
              <a:t> para 2395 </a:t>
            </a:r>
            <a:r>
              <a:rPr lang="pt-BR" sz="3800" kern="0" dirty="0" err="1"/>
              <a:t>ppm</a:t>
            </a:r>
            <a:r>
              <a:rPr lang="pt-BR" sz="3800" kern="0" dirty="0"/>
              <a:t> após a adição de 2 g de cloreto de sódio, o que confirma sua precisão na medição da condutividade elétrica. O sensor óptico TCRT5000 também apresentou respostas consistentes, detectando mudanças na turbidez e na intensidade de cor das amostras, especialmente na presença das NM-LAS, que contribuíram para a absorção e a remoção parcial dos contaminantes. Do ponto de vista educacional, o projeto mostrou-se uma ferramenta interdisciplinar relevante, ao integrar conteúdos de química experimental, eletrônica, programação e sustentabilidade. Essa articulação reforça o potencial das abordagens </a:t>
            </a:r>
            <a:r>
              <a:rPr lang="pt-BR" sz="3800" kern="0" dirty="0" err="1"/>
              <a:t>maker</a:t>
            </a:r>
            <a:r>
              <a:rPr lang="pt-BR" sz="3800" kern="0" dirty="0"/>
              <a:t> e STEM no ensino médio, favorecendo aprendizagens mais significativas e contextualizadas.</a:t>
            </a:r>
          </a:p>
        </p:txBody>
      </p:sp>
      <p:sp>
        <p:nvSpPr>
          <p:cNvPr id="17" name="Text Box 527">
            <a:extLst>
              <a:ext uri="{FF2B5EF4-FFF2-40B4-BE49-F238E27FC236}">
                <a16:creationId xmlns:a16="http://schemas.microsoft.com/office/drawing/2014/main" id="{C7291063-4E92-7CD5-748C-A14E409FF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2395" y="27950062"/>
            <a:ext cx="14292262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Agradecimentos</a:t>
            </a:r>
            <a:r>
              <a:rPr lang="en-US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</a:t>
            </a: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Referências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7584807" y="27335132"/>
            <a:ext cx="109017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3800" b="1" dirty="0" smtClean="0">
                <a:ea typeface="Arial" panose="020B0604020202020204" pitchFamily="34" charset="0"/>
                <a:cs typeface="Helvetica Neue"/>
              </a:rPr>
              <a:t>Figura</a:t>
            </a:r>
            <a:r>
              <a:rPr lang="pt-BR" sz="3800" b="1" dirty="0" smtClean="0">
                <a:effectLst/>
                <a:ea typeface="Arial" panose="020B0604020202020204" pitchFamily="34" charset="0"/>
                <a:cs typeface="Helvetica Neue"/>
              </a:rPr>
              <a:t> </a:t>
            </a:r>
            <a:r>
              <a:rPr lang="pt-BR" sz="3800" b="1" dirty="0">
                <a:ea typeface="Arial" panose="020B0604020202020204" pitchFamily="34" charset="0"/>
                <a:cs typeface="Helvetica Neue"/>
              </a:rPr>
              <a:t>2</a:t>
            </a:r>
            <a:r>
              <a:rPr lang="pt-BR" sz="3800" b="1" dirty="0" smtClean="0">
                <a:effectLst/>
                <a:ea typeface="Arial" panose="020B0604020202020204" pitchFamily="34" charset="0"/>
                <a:cs typeface="Helvetica Neue"/>
              </a:rPr>
              <a:t>: </a:t>
            </a:r>
            <a:r>
              <a:rPr lang="pt-BR" sz="3800" dirty="0" err="1" smtClean="0">
                <a:ea typeface="Arial" panose="020B0604020202020204" pitchFamily="34" charset="0"/>
                <a:cs typeface="Helvetica Neue"/>
              </a:rPr>
              <a:t>Images</a:t>
            </a:r>
            <a:r>
              <a:rPr lang="pt-BR" sz="3800" dirty="0" smtClean="0">
                <a:ea typeface="Arial" panose="020B0604020202020204" pitchFamily="34" charset="0"/>
                <a:cs typeface="Helvetica Neue"/>
              </a:rPr>
              <a:t> da câmara de análise</a:t>
            </a:r>
            <a:r>
              <a:rPr lang="pt-BR" sz="3800" b="1" dirty="0" smtClean="0">
                <a:effectLst/>
                <a:ea typeface="Arial" panose="020B0604020202020204" pitchFamily="34" charset="0"/>
                <a:cs typeface="Helvetica Neue"/>
              </a:rPr>
              <a:t>.</a:t>
            </a:r>
            <a:endParaRPr lang="pt-BR" sz="38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 descr="Equipe - UFPE">
            <a:extLst>
              <a:ext uri="{FF2B5EF4-FFF2-40B4-BE49-F238E27FC236}">
                <a16:creationId xmlns:a16="http://schemas.microsoft.com/office/drawing/2014/main" id="{E9D4E970-A22C-97B4-294B-2EB861965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6905" y="33106407"/>
            <a:ext cx="3395707" cy="226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D75B5B-BC3D-648E-EEE5-995481F99DD6}"/>
              </a:ext>
            </a:extLst>
          </p:cNvPr>
          <p:cNvSpPr txBox="1"/>
          <p:nvPr/>
        </p:nvSpPr>
        <p:spPr>
          <a:xfrm>
            <a:off x="26139129" y="32691882"/>
            <a:ext cx="185820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dirty="0"/>
              <a:t>Apoio:</a:t>
            </a:r>
          </a:p>
        </p:txBody>
      </p:sp>
      <p:sp>
        <p:nvSpPr>
          <p:cNvPr id="18" name="Text Box 508">
            <a:extLst>
              <a:ext uri="{FF2B5EF4-FFF2-40B4-BE49-F238E27FC236}">
                <a16:creationId xmlns:a16="http://schemas.microsoft.com/office/drawing/2014/main" id="{2A21FD36-A95C-F70F-D700-80FB23FA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22818003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65759A-56C9-47ED-73A7-1F702AEA1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149" y="33091991"/>
            <a:ext cx="9860094" cy="2488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F7BE57A-2AC7-E6B3-EF70-3E71F5353EFF}"/>
              </a:ext>
            </a:extLst>
          </p:cNvPr>
          <p:cNvCxnSpPr>
            <a:cxnSpLocks/>
          </p:cNvCxnSpPr>
          <p:nvPr/>
        </p:nvCxnSpPr>
        <p:spPr bwMode="auto">
          <a:xfrm>
            <a:off x="936329" y="32475858"/>
            <a:ext cx="3059832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image1.jpg" descr="Logotipo, nome da empresa&#10;&#10;Descrição gerada automaticamente">
            <a:extLst>
              <a:ext uri="{FF2B5EF4-FFF2-40B4-BE49-F238E27FC236}">
                <a16:creationId xmlns:a16="http://schemas.microsoft.com/office/drawing/2014/main" id="{5A6CE57B-A03B-1417-5AA1-4F7C6B6918C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3" r="53204" b="19699"/>
          <a:stretch/>
        </p:blipFill>
        <p:spPr>
          <a:xfrm>
            <a:off x="3743416" y="32878871"/>
            <a:ext cx="2888583" cy="2603161"/>
          </a:xfrm>
          <a:prstGeom prst="rect">
            <a:avLst/>
          </a:prstGeom>
          <a:ln/>
        </p:spPr>
      </p:pic>
      <p:pic>
        <p:nvPicPr>
          <p:cNvPr id="33" name="Picture 515" descr="head_cnpq">
            <a:extLst>
              <a:ext uri="{FF2B5EF4-FFF2-40B4-BE49-F238E27FC236}">
                <a16:creationId xmlns:a16="http://schemas.microsoft.com/office/drawing/2014/main" id="{E32549B6-1029-7130-0CC2-707EA37D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000" y="285513"/>
            <a:ext cx="4815822" cy="227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D8311E-DA06-F588-4312-3FDA084BC0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0" y="416283"/>
            <a:ext cx="6440367" cy="2680311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8EC6DDAA-EB86-3DB6-25A0-CEC13C3DB7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6" y="32603758"/>
            <a:ext cx="5940854" cy="3000910"/>
          </a:xfrm>
          <a:prstGeom prst="rect">
            <a:avLst/>
          </a:prstGeom>
        </p:spPr>
      </p:pic>
      <p:pic>
        <p:nvPicPr>
          <p:cNvPr id="34" name="Imagem 33"/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51"/>
          <a:stretch/>
        </p:blipFill>
        <p:spPr>
          <a:xfrm>
            <a:off x="19802425" y="6841011"/>
            <a:ext cx="8669520" cy="739249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8005760" y="14121679"/>
            <a:ext cx="16202025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3800" b="1" dirty="0"/>
              <a:t>Figura 1: </a:t>
            </a:r>
            <a:r>
              <a:rPr lang="pt-BR" sz="3800" dirty="0"/>
              <a:t>Esquema de funcionamento do sistema.</a:t>
            </a:r>
          </a:p>
        </p:txBody>
      </p:sp>
      <p:pic>
        <p:nvPicPr>
          <p:cNvPr id="37" name="Imagem 36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578288" y="25057066"/>
            <a:ext cx="3678320" cy="2232565"/>
          </a:xfrm>
          <a:prstGeom prst="rect">
            <a:avLst/>
          </a:prstGeom>
        </p:spPr>
      </p:pic>
      <p:pic>
        <p:nvPicPr>
          <p:cNvPr id="38" name="Imagem 37"/>
          <p:cNvPicPr/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6" t="-4310" r="19193" b="-459"/>
          <a:stretch/>
        </p:blipFill>
        <p:spPr>
          <a:xfrm rot="5400000">
            <a:off x="24979115" y="24128848"/>
            <a:ext cx="2255317" cy="41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1302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657</Words>
  <Application>Microsoft Office PowerPoint</Application>
  <PresentationFormat>Personalizar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 Neue</vt:lpstr>
      <vt:lpstr>Design padrão</vt:lpstr>
      <vt:lpstr>“Uso de Nanopartículas  e Sensoriamento com Arduino no Monitoramento de Poluentes Aquáticos”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Síntese de tioacetais catalisada por líquido  iônico de selênio</dc:title>
  <dc:creator>.;Elton</dc:creator>
  <cp:lastModifiedBy>Jeffrey24</cp:lastModifiedBy>
  <cp:revision>181</cp:revision>
  <dcterms:created xsi:type="dcterms:W3CDTF">2007-11-09T14:19:38Z</dcterms:created>
  <dcterms:modified xsi:type="dcterms:W3CDTF">2025-12-14T00:28:09Z</dcterms:modified>
</cp:coreProperties>
</file>