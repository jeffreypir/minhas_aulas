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32404050" cy="360045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6A5FFD"/>
    <a:srgbClr val="0033CC"/>
    <a:srgbClr val="66FFFF"/>
    <a:srgbClr val="3399FF"/>
    <a:srgbClr val="FF0000"/>
    <a:srgbClr val="000066"/>
    <a:srgbClr val="003399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1" autoAdjust="0"/>
    <p:restoredTop sz="94627" autoAdjust="0"/>
  </p:normalViewPr>
  <p:slideViewPr>
    <p:cSldViewPr>
      <p:cViewPr>
        <p:scale>
          <a:sx n="20" d="100"/>
          <a:sy n="20" d="100"/>
        </p:scale>
        <p:origin x="8" y="-700"/>
      </p:cViewPr>
      <p:guideLst>
        <p:guide orient="horz" pos="11340"/>
        <p:guide pos="1020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59846D1-E72A-4542-8848-402DCC5566B2}" type="datetimeFigureOut">
              <a:rPr lang="pt-BR"/>
              <a:pPr>
                <a:defRPr/>
              </a:pPr>
              <a:t>13/12/2025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039938" y="1143000"/>
            <a:ext cx="2778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0B01443-0FE6-4FE7-9ABD-D9369761FBA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5394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/>
          </a:p>
        </p:txBody>
      </p:sp>
      <p:sp>
        <p:nvSpPr>
          <p:cNvPr id="410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B8DAD5-71B1-4E7D-B41D-7B09E7D9D516}" type="slidenum">
              <a:rPr lang="pt-BR" sz="1200" smtClean="0"/>
              <a:pPr/>
              <a:t>1</a:t>
            </a:fld>
            <a:endParaRPr lang="pt-BR" sz="1200"/>
          </a:p>
        </p:txBody>
      </p:sp>
    </p:spTree>
    <p:extLst>
      <p:ext uri="{BB962C8B-B14F-4D97-AF65-F5344CB8AC3E}">
        <p14:creationId xmlns:p14="http://schemas.microsoft.com/office/powerpoint/2010/main" val="2548412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463" y="11185525"/>
            <a:ext cx="27543125" cy="77168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925" y="20402550"/>
            <a:ext cx="22682200" cy="92011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11FD1-8986-49A2-B0CB-42E9C3F2075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253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1DF82-D3B0-48B8-A8B2-F4CA850B5B9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98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59050" y="23136225"/>
            <a:ext cx="27544713" cy="715168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59050" y="15260638"/>
            <a:ext cx="27544713" cy="78755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B6B0B-58C0-4578-AB23-CF45FFBAC10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2533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20838" y="8401050"/>
            <a:ext cx="14504987" cy="23761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8401050"/>
            <a:ext cx="14504988" cy="23761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F115E-426E-4CB0-A86D-83FE2E7420C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314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838" y="8059738"/>
            <a:ext cx="14316075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0838" y="11418888"/>
            <a:ext cx="14316075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6460788" y="8059738"/>
            <a:ext cx="14322425" cy="33591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6460788" y="11418888"/>
            <a:ext cx="14322425" cy="207438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E68C5-823F-41C5-9C4A-4E6A6D9B331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022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C40529-B20A-47B7-AB78-647F374D75B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824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6D9E4-1D5D-488C-A01A-6635F9E4224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991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433513"/>
            <a:ext cx="10660062" cy="61007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669838" y="1433513"/>
            <a:ext cx="18113375" cy="307292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20838" y="7534275"/>
            <a:ext cx="10660062" cy="246284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2590B-A9B8-4EB1-AD9D-3DDAED39F66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42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51588" y="25203150"/>
            <a:ext cx="19442112" cy="2974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351588" y="3217863"/>
            <a:ext cx="19442112" cy="21602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51588" y="28178125"/>
            <a:ext cx="19442112" cy="4225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F9636-0A38-447E-91E0-45D9DB4EA17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231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E20B9-5C69-4F48-BDA3-470C15AE921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67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3493413" y="1441450"/>
            <a:ext cx="7289800" cy="307213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620838" y="1441450"/>
            <a:ext cx="21720175" cy="307213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FD109-41B5-410E-B76C-B00BCCA3E0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905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441450"/>
            <a:ext cx="29162375" cy="600075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620838" y="8401050"/>
            <a:ext cx="14504987" cy="237617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8401050"/>
            <a:ext cx="14504988" cy="237617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1F780-CDBF-478D-880E-C109AD4BCC0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983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20838" y="1441450"/>
            <a:ext cx="29162375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20838" y="8401050"/>
            <a:ext cx="29162375" cy="2376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20838" y="32788225"/>
            <a:ext cx="7559675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6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71225" y="32788225"/>
            <a:ext cx="10261600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0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223538" y="32788225"/>
            <a:ext cx="7559675" cy="250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000"/>
            </a:lvl1pPr>
          </a:lstStyle>
          <a:p>
            <a:pPr>
              <a:defRPr/>
            </a:pPr>
            <a:fld id="{BD0B6FA6-9E50-4FCE-B62D-4EA90CAD40C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2pPr>
      <a:lvl3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3pPr>
      <a:lvl4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4pPr>
      <a:lvl5pPr algn="ctr" defTabSz="3908425" rtl="0" eaLnBrk="0" fontAlgn="base" hangingPunct="0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5pPr>
      <a:lvl6pPr marL="4572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6pPr>
      <a:lvl7pPr marL="9144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7pPr>
      <a:lvl8pPr marL="13716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8pPr>
      <a:lvl9pPr marL="1828800" algn="ctr" defTabSz="3908425" rtl="0" fontAlgn="base">
        <a:spcBef>
          <a:spcPct val="0"/>
        </a:spcBef>
        <a:spcAft>
          <a:spcPct val="0"/>
        </a:spcAft>
        <a:defRPr sz="18800">
          <a:solidFill>
            <a:schemeClr val="tx2"/>
          </a:solidFill>
          <a:latin typeface="Arial" pitchFamily="34" charset="0"/>
        </a:defRPr>
      </a:lvl9pPr>
    </p:titleStyle>
    <p:bodyStyle>
      <a:lvl1pPr marL="1465263" indent="-1465263" algn="l" defTabSz="3908425" rtl="0" eaLnBrk="0" fontAlgn="base" hangingPunct="0">
        <a:spcBef>
          <a:spcPct val="20000"/>
        </a:spcBef>
        <a:spcAft>
          <a:spcPct val="0"/>
        </a:spcAft>
        <a:buChar char="•"/>
        <a:defRPr sz="13700">
          <a:solidFill>
            <a:schemeClr val="tx1"/>
          </a:solidFill>
          <a:latin typeface="+mn-lt"/>
          <a:ea typeface="+mn-ea"/>
          <a:cs typeface="+mn-cs"/>
        </a:defRPr>
      </a:lvl1pPr>
      <a:lvl2pPr marL="3176588" indent="-1222375" algn="l" defTabSz="3908425" rtl="0" eaLnBrk="0" fontAlgn="base" hangingPunct="0">
        <a:spcBef>
          <a:spcPct val="20000"/>
        </a:spcBef>
        <a:spcAft>
          <a:spcPct val="0"/>
        </a:spcAft>
        <a:buChar char="–"/>
        <a:defRPr sz="12000">
          <a:solidFill>
            <a:schemeClr val="tx1"/>
          </a:solidFill>
          <a:latin typeface="+mn-lt"/>
        </a:defRPr>
      </a:lvl2pPr>
      <a:lvl3pPr marL="4886325" indent="-977900" algn="l" defTabSz="3908425" rtl="0" eaLnBrk="0" fontAlgn="base" hangingPunct="0">
        <a:spcBef>
          <a:spcPct val="20000"/>
        </a:spcBef>
        <a:spcAft>
          <a:spcPct val="0"/>
        </a:spcAft>
        <a:buChar char="•"/>
        <a:defRPr sz="10300">
          <a:solidFill>
            <a:schemeClr val="tx1"/>
          </a:solidFill>
          <a:latin typeface="+mn-lt"/>
        </a:defRPr>
      </a:lvl3pPr>
      <a:lvl4pPr marL="6840538" indent="-976313" algn="l" defTabSz="3908425" rtl="0" eaLnBrk="0" fontAlgn="base" hangingPunct="0">
        <a:spcBef>
          <a:spcPct val="20000"/>
        </a:spcBef>
        <a:spcAft>
          <a:spcPct val="0"/>
        </a:spcAft>
        <a:buChar char="–"/>
        <a:defRPr sz="8600">
          <a:solidFill>
            <a:schemeClr val="tx1"/>
          </a:solidFill>
          <a:latin typeface="+mn-lt"/>
        </a:defRPr>
      </a:lvl4pPr>
      <a:lvl5pPr marL="8794750" indent="-976313" algn="l" defTabSz="3908425" rtl="0" eaLnBrk="0" fontAlgn="base" hangingPunct="0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5pPr>
      <a:lvl6pPr marL="92519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6pPr>
      <a:lvl7pPr marL="97091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7pPr>
      <a:lvl8pPr marL="101663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8pPr>
      <a:lvl9pPr marL="10623550" indent="-976313" algn="l" defTabSz="3908425" rtl="0" fontAlgn="base">
        <a:spcBef>
          <a:spcPct val="20000"/>
        </a:spcBef>
        <a:spcAft>
          <a:spcPct val="0"/>
        </a:spcAft>
        <a:buChar char="»"/>
        <a:defRPr sz="8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47FFEDE6-6075-F2A9-A5ED-B720A28EBC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6" r="19718" b="2024"/>
          <a:stretch/>
        </p:blipFill>
        <p:spPr bwMode="auto">
          <a:xfrm>
            <a:off x="1032993" y="32603758"/>
            <a:ext cx="1976104" cy="296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4"/>
          <p:cNvSpPr>
            <a:spLocks noGrp="1" noChangeArrowheads="1"/>
          </p:cNvSpPr>
          <p:nvPr>
            <p:ph type="title"/>
          </p:nvPr>
        </p:nvSpPr>
        <p:spPr>
          <a:xfrm>
            <a:off x="4613858" y="2102733"/>
            <a:ext cx="22980650" cy="2487933"/>
          </a:xfrm>
        </p:spPr>
        <p:txBody>
          <a:bodyPr/>
          <a:lstStyle/>
          <a:p>
            <a:pPr eaLnBrk="1" hangingPunct="1"/>
            <a:r>
              <a:rPr lang="pt-BR" sz="5500" b="1" i="1" dirty="0">
                <a:solidFill>
                  <a:srgbClr val="000066"/>
                </a:solidFill>
              </a:rPr>
              <a:t>“Desenvolvimento de uma Mão Robótica Sustentável com Controle via Visão Computacional”</a:t>
            </a:r>
            <a:endParaRPr lang="en-US" sz="5500" b="1" i="1" dirty="0">
              <a:solidFill>
                <a:srgbClr val="000066"/>
              </a:solidFill>
            </a:endParaRPr>
          </a:p>
        </p:txBody>
      </p:sp>
      <p:sp>
        <p:nvSpPr>
          <p:cNvPr id="3076" name="Rectangle 31"/>
          <p:cNvSpPr>
            <a:spLocks noGrp="1" noChangeArrowheads="1"/>
          </p:cNvSpPr>
          <p:nvPr>
            <p:ph type="body" sz="half" idx="1"/>
          </p:nvPr>
        </p:nvSpPr>
        <p:spPr>
          <a:xfrm>
            <a:off x="1109879" y="7977972"/>
            <a:ext cx="15163800" cy="18500803"/>
          </a:xfrm>
        </p:spPr>
        <p:txBody>
          <a:bodyPr/>
          <a:lstStyle/>
          <a:p>
            <a:pPr marL="65088" indent="-65088" algn="just" eaLnBrk="1" hangingPunct="1">
              <a:buFontTx/>
              <a:buNone/>
            </a:pPr>
            <a:r>
              <a:rPr lang="pt-BR" sz="3800" dirty="0" smtClean="0"/>
              <a:t>O </a:t>
            </a:r>
            <a:r>
              <a:rPr lang="pt-BR" sz="3800" dirty="0"/>
              <a:t>avanço das tecnologias digitais tem ampliado as possibilidades de integração entre robótica, sustentabilidade e </a:t>
            </a:r>
            <a:r>
              <a:rPr lang="pt-BR" sz="3800" dirty="0" smtClean="0"/>
              <a:t>educação</a:t>
            </a:r>
            <a:r>
              <a:rPr lang="pt-BR" sz="3800" baseline="30000" dirty="0" smtClean="0">
                <a:latin typeface="Arial" panose="020B0604020202020204" pitchFamily="34" charset="0"/>
                <a:ea typeface="Arial" panose="020B0604020202020204" pitchFamily="34" charset="0"/>
              </a:rPr>
              <a:t>2</a:t>
            </a:r>
            <a:r>
              <a:rPr lang="pt-BR" sz="3800" dirty="0" smtClean="0"/>
              <a:t>. </a:t>
            </a:r>
            <a:r>
              <a:rPr lang="pt-BR" sz="3800" dirty="0"/>
              <a:t>Nesse cenário, este projeto propõe o desenvolvimento de uma mão robótica controlada por visão </a:t>
            </a:r>
            <a:r>
              <a:rPr lang="pt-BR" sz="3800" dirty="0" smtClean="0"/>
              <a:t>computacional</a:t>
            </a:r>
            <a:r>
              <a:rPr lang="pt-BR" sz="3800" baseline="30000" dirty="0" smtClean="0">
                <a:latin typeface="Arial" panose="020B0604020202020204" pitchFamily="34" charset="0"/>
                <a:ea typeface="Arial" panose="020B0604020202020204" pitchFamily="34" charset="0"/>
              </a:rPr>
              <a:t>1</a:t>
            </a:r>
            <a:r>
              <a:rPr lang="pt-BR" sz="3800" dirty="0" smtClean="0"/>
              <a:t>, </a:t>
            </a:r>
            <a:r>
              <a:rPr lang="pt-BR" sz="3800" dirty="0"/>
              <a:t>construída com materiais recicláveis de baixo custo, como plástico reutilizado, papelão, palitos, barbante e componentes eletrônicos. A iniciativa visa demonstrar que a tecnologia pode ser acessível, sustentável e formativa, sobretudo em contextos socialmente vulneráveis, como o município de Arcoverde (PE). A robótica sustentável, aliada à visão computacional, constitui uma oportunidade para promover aprendizagem prática, inclusão tecnológica e inovação social, contribuindo tanto para a formação dos estudantes quanto para a criação de soluções </a:t>
            </a:r>
            <a:r>
              <a:rPr lang="pt-BR" sz="3800" dirty="0" err="1"/>
              <a:t>assistivas</a:t>
            </a:r>
            <a:r>
              <a:rPr lang="pt-BR" sz="3800" dirty="0"/>
              <a:t> de baixo custo</a:t>
            </a:r>
            <a:r>
              <a:rPr lang="pt-BR" sz="3800" dirty="0" smtClean="0"/>
              <a:t>.</a:t>
            </a:r>
          </a:p>
          <a:p>
            <a:pPr marL="65088" indent="-65088" algn="just" eaLnBrk="1" hangingPunct="1">
              <a:buFontTx/>
              <a:buNone/>
            </a:pPr>
            <a:endParaRPr lang="pt-BR" sz="3800" dirty="0" smtClean="0"/>
          </a:p>
          <a:p>
            <a:pPr marL="0" indent="0">
              <a:spcAft>
                <a:spcPts val="0"/>
              </a:spcAft>
              <a:buNone/>
            </a:pPr>
            <a:r>
              <a:rPr lang="en-US" sz="3800" dirty="0" smtClean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OBJETIVO 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GERAL: </a:t>
            </a:r>
            <a:endParaRPr lang="pt-BR" sz="3800" dirty="0">
              <a:latin typeface="Helvetica Neue"/>
              <a:ea typeface="Helvetica Neue"/>
              <a:cs typeface="Helvetica Neue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sz="3800" dirty="0" err="1">
                <a:latin typeface="Helvetica Neue"/>
                <a:ea typeface="Helvetica Neue"/>
                <a:cs typeface="Helvetica Neue"/>
              </a:rPr>
              <a:t>Desenvolver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uma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mão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robótica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funcional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controlada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por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visão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computacional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,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utilizando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materiais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recicláveis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e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componentes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de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baixo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3800" dirty="0" err="1">
                <a:latin typeface="Helvetica Neue"/>
                <a:ea typeface="Helvetica Neue"/>
                <a:cs typeface="Helvetica Neue"/>
              </a:rPr>
              <a:t>custo</a:t>
            </a:r>
            <a:r>
              <a:rPr lang="en-US" sz="3800" dirty="0">
                <a:latin typeface="Helvetica Neue"/>
                <a:ea typeface="Helvetica Neue"/>
                <a:cs typeface="Helvetica Neue"/>
              </a:rPr>
              <a:t>.</a:t>
            </a:r>
            <a:endParaRPr lang="pt-BR" sz="3800" dirty="0">
              <a:latin typeface="Helvetica Neue"/>
              <a:ea typeface="Helvetica Neue"/>
              <a:cs typeface="Helvetica Neue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800" dirty="0" smtClean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OBJETIVOS 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ESPECÍFICOS:</a:t>
            </a:r>
            <a:endParaRPr lang="pt-BR" sz="3800" dirty="0">
              <a:latin typeface="Helvetica Neue"/>
              <a:ea typeface="Helvetica Neue"/>
              <a:cs typeface="Helvetica Neue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Empregar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algoritmos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de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visão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computacional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para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reconhecer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,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em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tempo real,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gestos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da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mão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humana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3800" dirty="0">
              <a:latin typeface="Helvetica Neue"/>
              <a:ea typeface="Helvetica Neue"/>
              <a:cs typeface="Helvetica Neue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Integrar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Python e Arduino para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transmitir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e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executar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os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comandos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identificados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pelo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sistema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3800" dirty="0">
              <a:latin typeface="Helvetica Neue"/>
              <a:ea typeface="Helvetica Neue"/>
              <a:cs typeface="Helvetica Neue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Construir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a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estrutura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mecânica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da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mão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robótica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a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partir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de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materiais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reaproveitados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3800" dirty="0">
              <a:latin typeface="Helvetica Neue"/>
              <a:ea typeface="Helvetica Neue"/>
              <a:cs typeface="Helvetica Neue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Avaliar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a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funcionalidade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e a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precisão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dos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movimentos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reproduzidos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pelo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protótipo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3800" dirty="0">
              <a:latin typeface="Helvetica Neue"/>
              <a:ea typeface="Helvetica Neue"/>
              <a:cs typeface="Helvetica Neue"/>
            </a:endParaRPr>
          </a:p>
          <a:p>
            <a:pPr marL="342900" lvl="0" indent="-342900" algn="just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Evidenciar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o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potencial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educacional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e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assistivo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da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solução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en-US" sz="3800" dirty="0" err="1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desenvolvida</a:t>
            </a:r>
            <a:r>
              <a:rPr lang="en-US" sz="3800" dirty="0"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3800" dirty="0">
              <a:latin typeface="Helvetica Neue"/>
              <a:ea typeface="Helvetica Neue"/>
              <a:cs typeface="Helvetica Neue"/>
            </a:endParaRPr>
          </a:p>
          <a:p>
            <a:pPr marL="65088" indent="-65088" algn="just" eaLnBrk="1" hangingPunct="1">
              <a:buFontTx/>
              <a:buNone/>
            </a:pPr>
            <a:endParaRPr lang="pt-BR" sz="4000" dirty="0"/>
          </a:p>
        </p:txBody>
      </p:sp>
      <p:sp>
        <p:nvSpPr>
          <p:cNvPr id="3077" name="Text Box 13"/>
          <p:cNvSpPr txBox="1">
            <a:spLocks noChangeArrowheads="1"/>
          </p:cNvSpPr>
          <p:nvPr/>
        </p:nvSpPr>
        <p:spPr bwMode="auto">
          <a:xfrm>
            <a:off x="2757899" y="4420977"/>
            <a:ext cx="2714783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4800" b="1" dirty="0" smtClean="0">
                <a:ea typeface="Arial" panose="020B0604020202020204" pitchFamily="34" charset="0"/>
                <a:cs typeface="Helvetica Neue"/>
              </a:rPr>
              <a:t>Jefferson Bezerra dos Santos</a:t>
            </a:r>
            <a:r>
              <a:rPr lang="pt-BR" sz="48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,</a:t>
            </a:r>
            <a:r>
              <a:rPr lang="pt-BR" sz="4800" b="1" baseline="30000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1</a:t>
            </a:r>
            <a:r>
              <a:rPr lang="pt-BR" sz="48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 </a:t>
            </a:r>
            <a:r>
              <a:rPr lang="pt-BR" sz="4800" b="1" i="1" dirty="0"/>
              <a:t>Daniel Kennedy Domingos da </a:t>
            </a:r>
            <a:r>
              <a:rPr lang="pt-BR" sz="4800" b="1" i="1" dirty="0" smtClean="0"/>
              <a:t>Silva</a:t>
            </a:r>
            <a:r>
              <a:rPr lang="pt-BR" sz="48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,²</a:t>
            </a:r>
            <a:r>
              <a:rPr lang="pt-BR" sz="4800" b="1" baseline="-25000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4800" dirty="0">
              <a:effectLst/>
              <a:latin typeface="Helvetica Neue"/>
              <a:ea typeface="Helvetica Neue"/>
              <a:cs typeface="Helvetica Neue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baseline="30000" dirty="0" smtClean="0"/>
              <a:t>                   1</a:t>
            </a:r>
            <a:r>
              <a:rPr lang="pt-BR" sz="3200" b="1" i="1" dirty="0" smtClean="0"/>
              <a:t>Professor </a:t>
            </a:r>
            <a:r>
              <a:rPr lang="pt-BR" sz="3200" b="1" i="1" dirty="0"/>
              <a:t>do ensino médio, EREFEM Monsenhor José </a:t>
            </a:r>
            <a:r>
              <a:rPr lang="pt-BR" sz="3200" b="1" i="1" dirty="0" err="1"/>
              <a:t>Kerhle</a:t>
            </a:r>
            <a:r>
              <a:rPr lang="pt-BR" sz="3200" b="1" i="1" dirty="0"/>
              <a:t>, Arcoverde </a:t>
            </a:r>
            <a:r>
              <a:rPr lang="pt-BR" sz="3200" b="1" i="1" dirty="0" smtClean="0"/>
              <a:t>– Pernambuco.</a:t>
            </a:r>
            <a:endParaRPr lang="pt-BR" sz="3200" b="1" i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sz="3200" b="1" i="1" baseline="30000" dirty="0" smtClean="0"/>
              <a:t>                 2</a:t>
            </a:r>
            <a:r>
              <a:rPr lang="pt-BR" sz="3200" b="1" i="1" dirty="0" smtClean="0"/>
              <a:t>Discente </a:t>
            </a:r>
            <a:r>
              <a:rPr lang="pt-BR" sz="3200" b="1" i="1" dirty="0"/>
              <a:t>do ensino médio, EREFEM Monsenhor José </a:t>
            </a:r>
            <a:r>
              <a:rPr lang="pt-BR" sz="3200" b="1" i="1" dirty="0" err="1"/>
              <a:t>Kerhle</a:t>
            </a:r>
            <a:r>
              <a:rPr lang="pt-BR" sz="3200" b="1" i="1" dirty="0"/>
              <a:t>, Arcoverde – Pernambuco</a:t>
            </a:r>
            <a:r>
              <a:rPr lang="pt-BR" sz="3200" b="1" i="1" dirty="0" smtClean="0"/>
              <a:t>.</a:t>
            </a:r>
            <a:endParaRPr lang="pt-BR" sz="3200" b="1" i="1" dirty="0"/>
          </a:p>
        </p:txBody>
      </p:sp>
      <p:sp>
        <p:nvSpPr>
          <p:cNvPr id="2081" name="Text Box 33"/>
          <p:cNvSpPr txBox="1">
            <a:spLocks noChangeArrowheads="1"/>
          </p:cNvSpPr>
          <p:nvPr/>
        </p:nvSpPr>
        <p:spPr bwMode="auto">
          <a:xfrm>
            <a:off x="1224957" y="6558326"/>
            <a:ext cx="14341475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3908425" eaLnBrk="1" hangingPunct="1">
              <a:defRPr/>
            </a:pPr>
            <a:r>
              <a:rPr lang="pt-BR" sz="3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Palavras-chave</a:t>
            </a:r>
            <a:r>
              <a:rPr lang="pt-BR" sz="3800" i="1" dirty="0"/>
              <a:t>:</a:t>
            </a:r>
            <a:r>
              <a:rPr lang="pt-BR" sz="3800" dirty="0"/>
              <a:t> </a:t>
            </a:r>
            <a:r>
              <a:rPr lang="pt-BR" sz="3800" dirty="0" err="1" smtClean="0"/>
              <a:t>Arduino</a:t>
            </a:r>
            <a:r>
              <a:rPr lang="pt-BR" sz="3800" dirty="0" smtClean="0"/>
              <a:t>, Sustentabilidade, Visão Computacional. </a:t>
            </a:r>
            <a:endParaRPr lang="pt-BR" sz="3800" dirty="0"/>
          </a:p>
        </p:txBody>
      </p:sp>
      <p:sp>
        <p:nvSpPr>
          <p:cNvPr id="3079" name="Text Box 508"/>
          <p:cNvSpPr txBox="1">
            <a:spLocks noChangeArrowheads="1"/>
          </p:cNvSpPr>
          <p:nvPr/>
        </p:nvSpPr>
        <p:spPr bwMode="auto">
          <a:xfrm>
            <a:off x="1852613" y="23610091"/>
            <a:ext cx="18415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pic>
        <p:nvPicPr>
          <p:cNvPr id="3081" name="Picture 515" descr="head_cnpq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9468" y="33162564"/>
            <a:ext cx="4380762" cy="206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2" name="Rectangle 520"/>
          <p:cNvSpPr>
            <a:spLocks noChangeArrowheads="1"/>
          </p:cNvSpPr>
          <p:nvPr/>
        </p:nvSpPr>
        <p:spPr bwMode="auto">
          <a:xfrm>
            <a:off x="17001542" y="29260174"/>
            <a:ext cx="14341475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sz="3400" baseline="30000" dirty="0" smtClean="0"/>
              <a:t>1</a:t>
            </a:r>
            <a:r>
              <a:rPr lang="pt-BR" sz="3400" dirty="0" err="1" smtClean="0"/>
              <a:t>McRoberts</a:t>
            </a:r>
            <a:r>
              <a:rPr lang="pt-BR" sz="3400" dirty="0" smtClean="0"/>
              <a:t> </a:t>
            </a:r>
            <a:r>
              <a:rPr lang="pt-BR" sz="3400" dirty="0"/>
              <a:t>M. </a:t>
            </a:r>
            <a:r>
              <a:rPr lang="pt-BR" sz="3400" dirty="0" err="1"/>
              <a:t>Arduino</a:t>
            </a:r>
            <a:r>
              <a:rPr lang="pt-BR" sz="3400" dirty="0"/>
              <a:t>: Guia do Programador. São Paulo: </a:t>
            </a:r>
            <a:r>
              <a:rPr lang="pt-BR" sz="3400" dirty="0" err="1"/>
              <a:t>Nova-tec</a:t>
            </a:r>
            <a:r>
              <a:rPr lang="pt-BR" sz="3400" dirty="0"/>
              <a:t>; 2011</a:t>
            </a:r>
            <a:r>
              <a:rPr lang="pt-BR" sz="3400" dirty="0" smtClean="0"/>
              <a:t>.</a:t>
            </a:r>
            <a:endParaRPr lang="en-US" sz="3400" dirty="0" smtClean="0"/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sz="3400" baseline="30000" dirty="0" smtClean="0"/>
              <a:t>2</a:t>
            </a:r>
            <a:r>
              <a:rPr lang="pt-BR" sz="3400" dirty="0" smtClean="0"/>
              <a:t>Silva </a:t>
            </a:r>
            <a:r>
              <a:rPr lang="pt-BR" sz="3400" dirty="0"/>
              <a:t>L, Carvalho F. Pensando a Robótica na Educação Básica. Revista de </a:t>
            </a:r>
            <a:r>
              <a:rPr lang="pt-BR" sz="3400" dirty="0" err="1"/>
              <a:t>Investigaçãoea</a:t>
            </a:r>
            <a:r>
              <a:rPr lang="pt-BR" sz="3400" dirty="0"/>
              <a:t> Divulgação em  Educação </a:t>
            </a:r>
            <a:r>
              <a:rPr lang="pt-BR" sz="3400" dirty="0" err="1"/>
              <a:t>Matemát</a:t>
            </a:r>
            <a:r>
              <a:rPr lang="pt-BR" sz="3400" dirty="0"/>
              <a:t>. 2019</a:t>
            </a:r>
            <a:r>
              <a:rPr lang="pt-BR" sz="3400" dirty="0" smtClean="0"/>
              <a:t>.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pt-BR" sz="3400" dirty="0" smtClean="0"/>
              <a:t> </a:t>
            </a:r>
            <a:r>
              <a:rPr lang="pt-BR" sz="3600" baseline="30000" dirty="0">
                <a:ea typeface="Helvetica Neue"/>
              </a:rPr>
              <a:t>3</a:t>
            </a:r>
            <a:r>
              <a:rPr lang="pt-BR" sz="3400" dirty="0" smtClean="0"/>
              <a:t>Neto </a:t>
            </a:r>
            <a:r>
              <a:rPr lang="pt-BR" sz="3400" dirty="0"/>
              <a:t>A, Oliveira Y. Eletrônica Analógica e Digital Aplicada à </a:t>
            </a:r>
            <a:r>
              <a:rPr lang="pt-BR" sz="3400" dirty="0" err="1"/>
              <a:t>IoT</a:t>
            </a:r>
            <a:r>
              <a:rPr lang="pt-BR" sz="3400" dirty="0"/>
              <a:t>. Rio de Janeiro: Alta Books; 2019.</a:t>
            </a:r>
            <a:endParaRPr lang="en-US" sz="3400" dirty="0"/>
          </a:p>
        </p:txBody>
      </p:sp>
      <p:sp>
        <p:nvSpPr>
          <p:cNvPr id="2574" name="Text Box 526"/>
          <p:cNvSpPr txBox="1">
            <a:spLocks noChangeArrowheads="1"/>
          </p:cNvSpPr>
          <p:nvPr/>
        </p:nvSpPr>
        <p:spPr bwMode="auto">
          <a:xfrm>
            <a:off x="1224957" y="7188874"/>
            <a:ext cx="14864443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Introdução</a:t>
            </a:r>
          </a:p>
        </p:txBody>
      </p:sp>
      <p:sp>
        <p:nvSpPr>
          <p:cNvPr id="3090" name="Rectangle 75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1" name="Rectangle 77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2" name="Rectangle 79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3" name="Rectangle 81"/>
          <p:cNvSpPr>
            <a:spLocks noChangeArrowheads="1"/>
          </p:cNvSpPr>
          <p:nvPr/>
        </p:nvSpPr>
        <p:spPr bwMode="auto"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sp>
        <p:nvSpPr>
          <p:cNvPr id="3095" name="Rectangle 89"/>
          <p:cNvSpPr>
            <a:spLocks noChangeArrowheads="1"/>
          </p:cNvSpPr>
          <p:nvPr/>
        </p:nvSpPr>
        <p:spPr bwMode="auto">
          <a:xfrm>
            <a:off x="102250875" y="9296400"/>
            <a:ext cx="177266600" cy="4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1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/>
          </a:p>
        </p:txBody>
      </p:sp>
      <p:sp>
        <p:nvSpPr>
          <p:cNvPr id="5" name="Text Box 527">
            <a:extLst>
              <a:ext uri="{FF2B5EF4-FFF2-40B4-BE49-F238E27FC236}">
                <a16:creationId xmlns:a16="http://schemas.microsoft.com/office/drawing/2014/main" id="{8793FD97-AB60-6B81-BFCD-A7EFB97B7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60230" y="14539611"/>
            <a:ext cx="14427068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spcBef>
                <a:spcPts val="0"/>
              </a:spcBef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Resultados e Conclusão</a:t>
            </a:r>
          </a:p>
        </p:txBody>
      </p:sp>
      <p:sp>
        <p:nvSpPr>
          <p:cNvPr id="12" name="Text Box 528">
            <a:extLst>
              <a:ext uri="{FF2B5EF4-FFF2-40B4-BE49-F238E27FC236}">
                <a16:creationId xmlns:a16="http://schemas.microsoft.com/office/drawing/2014/main" id="{F1621BEC-E48F-FB24-3C8C-097DCFFDB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993" y="27774831"/>
            <a:ext cx="14341475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Aft>
                <a:spcPts val="0"/>
              </a:spcAft>
              <a:buNone/>
            </a:pPr>
            <a:r>
              <a:rPr lang="pt-BR" sz="3800" dirty="0">
                <a:ea typeface="Arial" panose="020B0604020202020204" pitchFamily="34" charset="0"/>
                <a:cs typeface="Helvetica Neue"/>
              </a:rPr>
              <a:t>A metodologia adotada foi organizada em três etapas principais: </a:t>
            </a:r>
            <a:r>
              <a:rPr lang="pt-BR" sz="3800" b="1" dirty="0">
                <a:ea typeface="Arial" panose="020B0604020202020204" pitchFamily="34" charset="0"/>
                <a:cs typeface="Helvetica Neue"/>
              </a:rPr>
              <a:t>(i) Visão Computacional</a:t>
            </a:r>
            <a:r>
              <a:rPr lang="pt-BR" sz="3800" dirty="0">
                <a:ea typeface="Arial" panose="020B0604020202020204" pitchFamily="34" charset="0"/>
                <a:cs typeface="Helvetica Neue"/>
              </a:rPr>
              <a:t>, (</a:t>
            </a:r>
            <a:r>
              <a:rPr lang="pt-BR" sz="3800" dirty="0" err="1">
                <a:ea typeface="Arial" panose="020B0604020202020204" pitchFamily="34" charset="0"/>
                <a:cs typeface="Helvetica Neue"/>
              </a:rPr>
              <a:t>ii</a:t>
            </a:r>
            <a:r>
              <a:rPr lang="pt-BR" sz="3800" dirty="0">
                <a:ea typeface="Arial" panose="020B0604020202020204" pitchFamily="34" charset="0"/>
                <a:cs typeface="Helvetica Neue"/>
              </a:rPr>
              <a:t>) </a:t>
            </a:r>
            <a:r>
              <a:rPr lang="pt-BR" sz="3800" b="1" dirty="0">
                <a:ea typeface="Arial" panose="020B0604020202020204" pitchFamily="34" charset="0"/>
                <a:cs typeface="Helvetica Neue"/>
              </a:rPr>
              <a:t>Integração Eletrônica e de Controle</a:t>
            </a:r>
            <a:r>
              <a:rPr lang="pt-BR" sz="3800" dirty="0">
                <a:ea typeface="Arial" panose="020B0604020202020204" pitchFamily="34" charset="0"/>
                <a:cs typeface="Helvetica Neue"/>
              </a:rPr>
              <a:t>, e (</a:t>
            </a:r>
            <a:r>
              <a:rPr lang="pt-BR" sz="3800" dirty="0" err="1">
                <a:ea typeface="Arial" panose="020B0604020202020204" pitchFamily="34" charset="0"/>
                <a:cs typeface="Helvetica Neue"/>
              </a:rPr>
              <a:t>iii</a:t>
            </a:r>
            <a:r>
              <a:rPr lang="pt-BR" sz="3800" dirty="0">
                <a:ea typeface="Arial" panose="020B0604020202020204" pitchFamily="34" charset="0"/>
                <a:cs typeface="Helvetica Neue"/>
              </a:rPr>
              <a:t>) </a:t>
            </a:r>
            <a:r>
              <a:rPr lang="pt-BR" sz="3800" b="1" dirty="0">
                <a:ea typeface="Arial" panose="020B0604020202020204" pitchFamily="34" charset="0"/>
                <a:cs typeface="Helvetica Neue"/>
              </a:rPr>
              <a:t>Construção da Estrutura Mecânica Sustentável</a:t>
            </a:r>
            <a:r>
              <a:rPr lang="pt-BR" sz="3800" dirty="0">
                <a:ea typeface="Arial" panose="020B0604020202020204" pitchFamily="34" charset="0"/>
                <a:cs typeface="Helvetica Neue"/>
              </a:rPr>
              <a:t>. Para maior clareza, cada etapa foi representada por um fluxograma de processo e por um esquema mecânico da mão robótica.</a:t>
            </a:r>
            <a:endParaRPr lang="pt-BR" sz="3800" dirty="0">
              <a:effectLst/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Box 527">
            <a:extLst>
              <a:ext uri="{FF2B5EF4-FFF2-40B4-BE49-F238E27FC236}">
                <a16:creationId xmlns:a16="http://schemas.microsoft.com/office/drawing/2014/main" id="{6BCBCBF1-AD1F-CFEB-9902-0001C4183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879" y="26657239"/>
            <a:ext cx="14377855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spcBef>
                <a:spcPts val="0"/>
              </a:spcBef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Metodologia</a:t>
            </a:r>
          </a:p>
        </p:txBody>
      </p:sp>
      <p:sp>
        <p:nvSpPr>
          <p:cNvPr id="16" name="Rectangle 31">
            <a:extLst>
              <a:ext uri="{FF2B5EF4-FFF2-40B4-BE49-F238E27FC236}">
                <a16:creationId xmlns:a16="http://schemas.microsoft.com/office/drawing/2014/main" id="{4C9BABB4-6CA3-AA39-B83D-968BDD9AC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8085" y="15463074"/>
            <a:ext cx="15163800" cy="864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90906" tIns="195453" rIns="390906" bIns="195453" numCol="1" anchor="t" anchorCtr="0" compatLnSpc="1">
            <a:prstTxWarp prst="textNoShape">
              <a:avLst/>
            </a:prstTxWarp>
          </a:bodyPr>
          <a:lstStyle>
            <a:lvl1pPr marL="1465263" indent="-146526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3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76588" indent="-1222375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0">
                <a:solidFill>
                  <a:schemeClr val="tx1"/>
                </a:solidFill>
                <a:latin typeface="+mn-lt"/>
              </a:defRPr>
            </a:lvl2pPr>
            <a:lvl3pPr marL="4886325" indent="-977900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0300">
                <a:solidFill>
                  <a:schemeClr val="tx1"/>
                </a:solidFill>
                <a:latin typeface="+mn-lt"/>
              </a:defRPr>
            </a:lvl3pPr>
            <a:lvl4pPr marL="6840538" indent="-97631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8600">
                <a:solidFill>
                  <a:schemeClr val="tx1"/>
                </a:solidFill>
                <a:latin typeface="+mn-lt"/>
              </a:defRPr>
            </a:lvl4pPr>
            <a:lvl5pPr marL="8794750" indent="-976313" algn="l" defTabSz="3908425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5pPr>
            <a:lvl6pPr marL="92519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6pPr>
            <a:lvl7pPr marL="97091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7pPr>
            <a:lvl8pPr marL="101663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8pPr>
            <a:lvl9pPr marL="10623550" indent="-976313" algn="l" defTabSz="3908425" rtl="0" fontAlgn="base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+mn-lt"/>
              </a:defRPr>
            </a:lvl9pPr>
          </a:lstStyle>
          <a:p>
            <a:pPr marL="65088" indent="-65088" algn="just" eaLnBrk="1" hangingPunct="1">
              <a:buFontTx/>
              <a:buNone/>
            </a:pPr>
            <a:r>
              <a:rPr lang="pt-BR" sz="3800" kern="0" dirty="0" smtClean="0"/>
              <a:t> Os </a:t>
            </a:r>
            <a:r>
              <a:rPr lang="pt-BR" sz="3800" kern="0" dirty="0"/>
              <a:t>testes realizados mostraram que o protótipo conseguiu reproduzir movimentos básicos — como abrir e fechar os dedos — de maneira satisfatória, apresentando boa resposta visual e tempo de execução adequado. A precisão dos gestos variou conforme a iluminação do ambiente e a velocidade de detecção da câmera, aspectos que podem ser aprimorados em versões futuras. Do ponto de vista educacional, o projeto destacou-se como uma ferramenta acessível para o ensino de robótica e visão computacional, estimulando práticas sustentáveis e criativas em contextos escolares e comunitários. Além disso, a integração entre materiais recicláveis e algoritmos de visão demonstrou potencial para aplicações em próteses robóticas de baixo custo e dispositivos </a:t>
            </a:r>
            <a:r>
              <a:rPr lang="pt-BR" sz="3800" kern="0" dirty="0" err="1"/>
              <a:t>assistivos</a:t>
            </a:r>
            <a:r>
              <a:rPr lang="pt-BR" sz="3800" kern="0" dirty="0"/>
              <a:t> personalizados.</a:t>
            </a:r>
          </a:p>
        </p:txBody>
      </p:sp>
      <p:sp>
        <p:nvSpPr>
          <p:cNvPr id="17" name="Text Box 527">
            <a:extLst>
              <a:ext uri="{FF2B5EF4-FFF2-40B4-BE49-F238E27FC236}">
                <a16:creationId xmlns:a16="http://schemas.microsoft.com/office/drawing/2014/main" id="{C7291063-4E92-7CD5-748C-A14E409FF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26149" y="28202041"/>
            <a:ext cx="14292262" cy="8617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3908425" eaLnBrk="1" hangingPunct="1">
              <a:defRPr/>
            </a:pP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Agradecimentos</a:t>
            </a:r>
            <a:r>
              <a:rPr lang="en-US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e </a:t>
            </a:r>
            <a:r>
              <a:rPr lang="pt-BR" sz="5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Referências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E60F434-331E-5462-2479-3A0663A90982}"/>
              </a:ext>
            </a:extLst>
          </p:cNvPr>
          <p:cNvSpPr txBox="1"/>
          <p:nvPr/>
        </p:nvSpPr>
        <p:spPr>
          <a:xfrm flipH="1">
            <a:off x="18954235" y="27443509"/>
            <a:ext cx="10951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" indent="367030" algn="just">
              <a:tabLst>
                <a:tab pos="2743200" algn="ctr"/>
                <a:tab pos="5486400" algn="r"/>
              </a:tabLst>
            </a:pPr>
            <a:r>
              <a:rPr lang="pt-BR" sz="4000" b="1" dirty="0" smtClean="0">
                <a:ea typeface="Arial" panose="020B0604020202020204" pitchFamily="34" charset="0"/>
                <a:cs typeface="Helvetica Neue"/>
              </a:rPr>
              <a:t>Figura </a:t>
            </a:r>
            <a:r>
              <a:rPr lang="pt-BR" sz="4000" b="1" dirty="0">
                <a:ea typeface="Arial" panose="020B0604020202020204" pitchFamily="34" charset="0"/>
                <a:cs typeface="Helvetica Neue"/>
              </a:rPr>
              <a:t>2</a:t>
            </a:r>
            <a:r>
              <a:rPr lang="pt-BR" sz="40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: </a:t>
            </a:r>
            <a:r>
              <a:rPr lang="pt-BR" sz="4000" dirty="0" smtClean="0">
                <a:ea typeface="Arial" panose="020B0604020202020204" pitchFamily="34" charset="0"/>
                <a:cs typeface="Helvetica Neue"/>
              </a:rPr>
              <a:t>Protótipo, </a:t>
            </a:r>
            <a:r>
              <a:rPr lang="pt-BR" sz="4000" dirty="0">
                <a:ea typeface="Arial" panose="020B0604020202020204" pitchFamily="34" charset="0"/>
                <a:cs typeface="Helvetica Neue"/>
              </a:rPr>
              <a:t> </a:t>
            </a:r>
            <a:r>
              <a:rPr lang="pt-BR" sz="4000" dirty="0" smtClean="0">
                <a:ea typeface="Arial" panose="020B0604020202020204" pitchFamily="34" charset="0"/>
                <a:cs typeface="Helvetica Neue"/>
              </a:rPr>
              <a:t>circuito </a:t>
            </a:r>
            <a:r>
              <a:rPr lang="pt-BR" sz="4000" dirty="0">
                <a:ea typeface="Arial" panose="020B0604020202020204" pitchFamily="34" charset="0"/>
                <a:cs typeface="Helvetica Neue"/>
              </a:rPr>
              <a:t>e design</a:t>
            </a:r>
            <a:r>
              <a:rPr lang="pt-BR" sz="40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4000" dirty="0">
              <a:effectLst/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1026" name="Picture 2" descr="Equipe - UFPE">
            <a:extLst>
              <a:ext uri="{FF2B5EF4-FFF2-40B4-BE49-F238E27FC236}">
                <a16:creationId xmlns:a16="http://schemas.microsoft.com/office/drawing/2014/main" id="{E9D4E970-A22C-97B4-294B-2EB861965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6905" y="33106407"/>
            <a:ext cx="3395707" cy="226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ED75B5B-BC3D-648E-EEE5-995481F99DD6}"/>
              </a:ext>
            </a:extLst>
          </p:cNvPr>
          <p:cNvSpPr txBox="1"/>
          <p:nvPr/>
        </p:nvSpPr>
        <p:spPr>
          <a:xfrm>
            <a:off x="26139129" y="32691882"/>
            <a:ext cx="185820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dirty="0"/>
              <a:t>Apoio:</a:t>
            </a:r>
          </a:p>
        </p:txBody>
      </p:sp>
      <p:sp>
        <p:nvSpPr>
          <p:cNvPr id="18" name="Text Box 508">
            <a:extLst>
              <a:ext uri="{FF2B5EF4-FFF2-40B4-BE49-F238E27FC236}">
                <a16:creationId xmlns:a16="http://schemas.microsoft.com/office/drawing/2014/main" id="{2A21FD36-A95C-F70F-D700-80FB23FA5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2613" y="22818003"/>
            <a:ext cx="184150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3908425">
              <a:spcBef>
                <a:spcPct val="20000"/>
              </a:spcBef>
              <a:buChar char="•"/>
              <a:defRPr sz="137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3908425">
              <a:spcBef>
                <a:spcPct val="20000"/>
              </a:spcBef>
              <a:buChar char="–"/>
              <a:defRPr sz="1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3908425">
              <a:spcBef>
                <a:spcPct val="20000"/>
              </a:spcBef>
              <a:buChar char="•"/>
              <a:defRPr sz="10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3908425">
              <a:spcBef>
                <a:spcPct val="20000"/>
              </a:spcBef>
              <a:buChar char="–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3908425">
              <a:spcBef>
                <a:spcPct val="20000"/>
              </a:spcBef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39084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sz="810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A65759A-56C9-47ED-73A7-1F702AEA14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149" y="33091991"/>
            <a:ext cx="9860094" cy="24883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BF7BE57A-2AC7-E6B3-EF70-3E71F5353EFF}"/>
              </a:ext>
            </a:extLst>
          </p:cNvPr>
          <p:cNvCxnSpPr>
            <a:cxnSpLocks/>
          </p:cNvCxnSpPr>
          <p:nvPr/>
        </p:nvCxnSpPr>
        <p:spPr bwMode="auto">
          <a:xfrm>
            <a:off x="936329" y="32475858"/>
            <a:ext cx="3059832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image1.jpg" descr="Logotipo, nome da empresa&#10;&#10;Descrição gerada automaticamente">
            <a:extLst>
              <a:ext uri="{FF2B5EF4-FFF2-40B4-BE49-F238E27FC236}">
                <a16:creationId xmlns:a16="http://schemas.microsoft.com/office/drawing/2014/main" id="{5A6CE57B-A03B-1417-5AA1-4F7C6B6918C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93" r="53204" b="19699"/>
          <a:stretch/>
        </p:blipFill>
        <p:spPr>
          <a:xfrm>
            <a:off x="3743416" y="32878871"/>
            <a:ext cx="2888583" cy="2603161"/>
          </a:xfrm>
          <a:prstGeom prst="rect">
            <a:avLst/>
          </a:prstGeom>
          <a:ln/>
        </p:spPr>
      </p:pic>
      <p:pic>
        <p:nvPicPr>
          <p:cNvPr id="33" name="Picture 515" descr="head_cnpq">
            <a:extLst>
              <a:ext uri="{FF2B5EF4-FFF2-40B4-BE49-F238E27FC236}">
                <a16:creationId xmlns:a16="http://schemas.microsoft.com/office/drawing/2014/main" id="{E32549B6-1029-7130-0CC2-707EA37D0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8000" y="285513"/>
            <a:ext cx="4815822" cy="2273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B0D8311E-DA06-F588-4312-3FDA084BC0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0" y="416283"/>
            <a:ext cx="6440367" cy="2680311"/>
          </a:xfrm>
          <a:prstGeom prst="rect">
            <a:avLst/>
          </a:prstGeom>
        </p:spPr>
      </p:pic>
      <p:pic>
        <p:nvPicPr>
          <p:cNvPr id="9" name="Imagem 8" descr="Texto&#10;&#10;O conteúdo gerado por IA pode estar incorreto.">
            <a:extLst>
              <a:ext uri="{FF2B5EF4-FFF2-40B4-BE49-F238E27FC236}">
                <a16:creationId xmlns:a16="http://schemas.microsoft.com/office/drawing/2014/main" id="{8EC6DDAA-EB86-3DB6-25A0-CEC13C3DB7F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196" y="32603758"/>
            <a:ext cx="5940854" cy="3000910"/>
          </a:xfrm>
          <a:prstGeom prst="rect">
            <a:avLst/>
          </a:prstGeom>
        </p:spPr>
      </p:pic>
      <p:pic>
        <p:nvPicPr>
          <p:cNvPr id="34" name="Imagem 33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4236" y="6636967"/>
            <a:ext cx="9627908" cy="7061959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0E60F434-331E-5462-2479-3A0663A90982}"/>
              </a:ext>
            </a:extLst>
          </p:cNvPr>
          <p:cNvSpPr txBox="1"/>
          <p:nvPr/>
        </p:nvSpPr>
        <p:spPr>
          <a:xfrm flipH="1">
            <a:off x="19561253" y="13914540"/>
            <a:ext cx="8986841" cy="735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" indent="367030" algn="just">
              <a:tabLst>
                <a:tab pos="2743200" algn="ctr"/>
                <a:tab pos="5486400" algn="r"/>
              </a:tabLst>
            </a:pPr>
            <a:r>
              <a:rPr lang="pt-BR" sz="4000" b="1" dirty="0" smtClean="0">
                <a:ea typeface="Arial" panose="020B0604020202020204" pitchFamily="34" charset="0"/>
                <a:cs typeface="Helvetica Neue"/>
              </a:rPr>
              <a:t>Figura </a:t>
            </a:r>
            <a:r>
              <a:rPr lang="pt-BR" sz="40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1</a:t>
            </a:r>
            <a:r>
              <a:rPr lang="pt-BR" sz="40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: </a:t>
            </a:r>
            <a:r>
              <a:rPr lang="pt-BR" sz="4000" dirty="0" smtClean="0">
                <a:ea typeface="Arial" panose="020B0604020202020204" pitchFamily="34" charset="0"/>
                <a:cs typeface="Helvetica Neue"/>
              </a:rPr>
              <a:t>Fluxograma do sistema</a:t>
            </a:r>
            <a:r>
              <a:rPr lang="pt-BR" sz="4000" b="1" dirty="0" smtClean="0">
                <a:effectLst/>
                <a:latin typeface="Arial" panose="020B0604020202020204" pitchFamily="34" charset="0"/>
                <a:ea typeface="Arial" panose="020B0604020202020204" pitchFamily="34" charset="0"/>
                <a:cs typeface="Helvetica Neue"/>
              </a:rPr>
              <a:t>.</a:t>
            </a:r>
            <a:endParaRPr lang="pt-BR" sz="4000" dirty="0">
              <a:effectLst/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36" name="Imagem 35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040" y="23735037"/>
            <a:ext cx="3354861" cy="3472546"/>
          </a:xfrm>
          <a:prstGeom prst="rect">
            <a:avLst/>
          </a:prstGeom>
        </p:spPr>
      </p:pic>
      <p:pic>
        <p:nvPicPr>
          <p:cNvPr id="37" name="Imagem 36"/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1371" y="23621759"/>
            <a:ext cx="3274540" cy="3480241"/>
          </a:xfrm>
          <a:prstGeom prst="rect">
            <a:avLst/>
          </a:prstGeom>
        </p:spPr>
      </p:pic>
      <p:pic>
        <p:nvPicPr>
          <p:cNvPr id="38" name="Imagem 37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799" y="23674843"/>
            <a:ext cx="2508678" cy="347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13021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084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39084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8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549</Words>
  <Application>Microsoft Office PowerPoint</Application>
  <PresentationFormat>Personalizar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 Neue</vt:lpstr>
      <vt:lpstr>Symbol</vt:lpstr>
      <vt:lpstr>Design padrão</vt:lpstr>
      <vt:lpstr>“Desenvolvimento de uma Mão Robótica Sustentável com Controle via Visão Computacional”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Síntese de tioacetais catalisada por líquido  iônico de selênio</dc:title>
  <dc:creator>.;Elton</dc:creator>
  <cp:lastModifiedBy>Jeffrey24</cp:lastModifiedBy>
  <cp:revision>182</cp:revision>
  <dcterms:created xsi:type="dcterms:W3CDTF">2007-11-09T14:19:38Z</dcterms:created>
  <dcterms:modified xsi:type="dcterms:W3CDTF">2025-12-14T00:37:19Z</dcterms:modified>
</cp:coreProperties>
</file>