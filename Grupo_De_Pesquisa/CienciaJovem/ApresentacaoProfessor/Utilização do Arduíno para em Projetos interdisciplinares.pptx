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2" r:id="rId6"/>
    <p:sldId id="263" r:id="rId7"/>
    <p:sldId id="264" r:id="rId8"/>
    <p:sldId id="261" r:id="rId9"/>
    <p:sldId id="2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5CFDA2-8255-485A-A698-96BFC33BB6B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DF496DC8-C139-48FF-A3D9-2059ACB923A6}">
      <dgm:prSet phldrT="[Texto]"/>
      <dgm:spPr/>
      <dgm:t>
        <a:bodyPr/>
        <a:lstStyle/>
        <a:p>
          <a:r>
            <a:rPr lang="pt-BR" dirty="0" smtClean="0"/>
            <a:t>Mão Robótica </a:t>
          </a:r>
          <a:endParaRPr lang="pt-BR" dirty="0"/>
        </a:p>
      </dgm:t>
    </dgm:pt>
    <dgm:pt modelId="{7B65E4C5-7555-4B4E-906D-61565E3DEF42}" type="parTrans" cxnId="{FF290AA0-5619-4F32-B7BD-E29B5C92CC98}">
      <dgm:prSet/>
      <dgm:spPr/>
      <dgm:t>
        <a:bodyPr/>
        <a:lstStyle/>
        <a:p>
          <a:endParaRPr lang="pt-BR"/>
        </a:p>
      </dgm:t>
    </dgm:pt>
    <dgm:pt modelId="{0622C0B3-A3C2-42DF-A901-136FF6D4C3D6}" type="sibTrans" cxnId="{FF290AA0-5619-4F32-B7BD-E29B5C92CC98}">
      <dgm:prSet/>
      <dgm:spPr/>
      <dgm:t>
        <a:bodyPr/>
        <a:lstStyle/>
        <a:p>
          <a:endParaRPr lang="pt-BR"/>
        </a:p>
      </dgm:t>
    </dgm:pt>
    <dgm:pt modelId="{EFC2CA17-FC97-41A3-8E68-4C07A220B6B5}">
      <dgm:prSet phldrT="[Texto]"/>
      <dgm:spPr/>
      <dgm:t>
        <a:bodyPr/>
        <a:lstStyle/>
        <a:p>
          <a:r>
            <a:rPr lang="pt-BR" dirty="0" err="1" smtClean="0"/>
            <a:t>Animatrônico</a:t>
          </a:r>
          <a:r>
            <a:rPr lang="pt-BR" dirty="0" smtClean="0"/>
            <a:t> </a:t>
          </a:r>
          <a:endParaRPr lang="pt-BR" dirty="0"/>
        </a:p>
      </dgm:t>
    </dgm:pt>
    <dgm:pt modelId="{80D4CE12-AD7A-41C9-AA82-808D707E44CF}" type="parTrans" cxnId="{97BBC2AD-31C5-49D2-B80A-D66D38E3CD8B}">
      <dgm:prSet/>
      <dgm:spPr/>
      <dgm:t>
        <a:bodyPr/>
        <a:lstStyle/>
        <a:p>
          <a:endParaRPr lang="pt-BR"/>
        </a:p>
      </dgm:t>
    </dgm:pt>
    <dgm:pt modelId="{E6C710BA-E2FB-4FBF-9B32-8EEA80D313C0}" type="sibTrans" cxnId="{97BBC2AD-31C5-49D2-B80A-D66D38E3CD8B}">
      <dgm:prSet/>
      <dgm:spPr/>
      <dgm:t>
        <a:bodyPr/>
        <a:lstStyle/>
        <a:p>
          <a:endParaRPr lang="pt-BR"/>
        </a:p>
      </dgm:t>
    </dgm:pt>
    <dgm:pt modelId="{E4927E91-21E6-43CA-A1DA-1ABDD4ED1D80}">
      <dgm:prSet phldrT="[Texto]"/>
      <dgm:spPr/>
      <dgm:t>
        <a:bodyPr/>
        <a:lstStyle/>
        <a:p>
          <a:r>
            <a:rPr lang="pt-BR" dirty="0" err="1" smtClean="0"/>
            <a:t>Analizador</a:t>
          </a:r>
          <a:r>
            <a:rPr lang="pt-BR" dirty="0" smtClean="0"/>
            <a:t> de solo </a:t>
          </a:r>
          <a:endParaRPr lang="pt-BR" dirty="0"/>
        </a:p>
      </dgm:t>
    </dgm:pt>
    <dgm:pt modelId="{F16B8170-FF06-45B3-AA78-369C22BA924C}" type="parTrans" cxnId="{9756B9DD-BA66-4B66-B094-CE1C4DB2ADE2}">
      <dgm:prSet/>
      <dgm:spPr/>
      <dgm:t>
        <a:bodyPr/>
        <a:lstStyle/>
        <a:p>
          <a:endParaRPr lang="pt-BR"/>
        </a:p>
      </dgm:t>
    </dgm:pt>
    <dgm:pt modelId="{45B066CB-22E6-4C74-8731-225EEC39A9D5}" type="sibTrans" cxnId="{9756B9DD-BA66-4B66-B094-CE1C4DB2ADE2}">
      <dgm:prSet/>
      <dgm:spPr/>
      <dgm:t>
        <a:bodyPr/>
        <a:lstStyle/>
        <a:p>
          <a:endParaRPr lang="pt-BR"/>
        </a:p>
      </dgm:t>
    </dgm:pt>
    <dgm:pt modelId="{5D4FF99E-40DD-4DA2-AF32-97D07958D56E}" type="pres">
      <dgm:prSet presAssocID="{E65CFDA2-8255-485A-A698-96BFC33BB6B2}" presName="linear" presStyleCnt="0">
        <dgm:presLayoutVars>
          <dgm:dir/>
          <dgm:animLvl val="lvl"/>
          <dgm:resizeHandles val="exact"/>
        </dgm:presLayoutVars>
      </dgm:prSet>
      <dgm:spPr/>
    </dgm:pt>
    <dgm:pt modelId="{89F2CFCF-719A-4D3E-95CC-F545629C18A1}" type="pres">
      <dgm:prSet presAssocID="{DF496DC8-C139-48FF-A3D9-2059ACB923A6}" presName="parentLin" presStyleCnt="0"/>
      <dgm:spPr/>
    </dgm:pt>
    <dgm:pt modelId="{BE28995B-FFFC-443A-98F2-10B66BB3DE5B}" type="pres">
      <dgm:prSet presAssocID="{DF496DC8-C139-48FF-A3D9-2059ACB923A6}" presName="parentLeftMargin" presStyleLbl="node1" presStyleIdx="0" presStyleCnt="3"/>
      <dgm:spPr/>
    </dgm:pt>
    <dgm:pt modelId="{86CB4890-DD07-45DB-9943-6FC450C0C7F9}" type="pres">
      <dgm:prSet presAssocID="{DF496DC8-C139-48FF-A3D9-2059ACB923A6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9EE9DF3-E12C-4945-BA37-87917292C748}" type="pres">
      <dgm:prSet presAssocID="{DF496DC8-C139-48FF-A3D9-2059ACB923A6}" presName="negativeSpace" presStyleCnt="0"/>
      <dgm:spPr/>
    </dgm:pt>
    <dgm:pt modelId="{4F0B795B-04EB-4727-9B67-3A0783CD3679}" type="pres">
      <dgm:prSet presAssocID="{DF496DC8-C139-48FF-A3D9-2059ACB923A6}" presName="childText" presStyleLbl="conFgAcc1" presStyleIdx="0" presStyleCnt="3">
        <dgm:presLayoutVars>
          <dgm:bulletEnabled val="1"/>
        </dgm:presLayoutVars>
      </dgm:prSet>
      <dgm:spPr/>
    </dgm:pt>
    <dgm:pt modelId="{3DC38C0A-33A6-4974-8147-5906384776CE}" type="pres">
      <dgm:prSet presAssocID="{0622C0B3-A3C2-42DF-A901-136FF6D4C3D6}" presName="spaceBetweenRectangles" presStyleCnt="0"/>
      <dgm:spPr/>
    </dgm:pt>
    <dgm:pt modelId="{F994CAF0-4448-43BF-9ABD-7BA3C95BEB5D}" type="pres">
      <dgm:prSet presAssocID="{EFC2CA17-FC97-41A3-8E68-4C07A220B6B5}" presName="parentLin" presStyleCnt="0"/>
      <dgm:spPr/>
    </dgm:pt>
    <dgm:pt modelId="{CFA8B746-28F0-42FB-9CAF-E12EB27F4590}" type="pres">
      <dgm:prSet presAssocID="{EFC2CA17-FC97-41A3-8E68-4C07A220B6B5}" presName="parentLeftMargin" presStyleLbl="node1" presStyleIdx="0" presStyleCnt="3"/>
      <dgm:spPr/>
    </dgm:pt>
    <dgm:pt modelId="{8D0745E5-6BA3-456B-B74C-285A66EE1D1F}" type="pres">
      <dgm:prSet presAssocID="{EFC2CA17-FC97-41A3-8E68-4C07A220B6B5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7C9B588-E03B-4046-BB21-FFEA0B1804D9}" type="pres">
      <dgm:prSet presAssocID="{EFC2CA17-FC97-41A3-8E68-4C07A220B6B5}" presName="negativeSpace" presStyleCnt="0"/>
      <dgm:spPr/>
    </dgm:pt>
    <dgm:pt modelId="{882406D5-3279-4439-8726-B639D5C93E2E}" type="pres">
      <dgm:prSet presAssocID="{EFC2CA17-FC97-41A3-8E68-4C07A220B6B5}" presName="childText" presStyleLbl="conFgAcc1" presStyleIdx="1" presStyleCnt="3">
        <dgm:presLayoutVars>
          <dgm:bulletEnabled val="1"/>
        </dgm:presLayoutVars>
      </dgm:prSet>
      <dgm:spPr/>
    </dgm:pt>
    <dgm:pt modelId="{C3737347-EEE6-4D7D-8894-E73E3546D094}" type="pres">
      <dgm:prSet presAssocID="{E6C710BA-E2FB-4FBF-9B32-8EEA80D313C0}" presName="spaceBetweenRectangles" presStyleCnt="0"/>
      <dgm:spPr/>
    </dgm:pt>
    <dgm:pt modelId="{BEA7C29A-CF3D-415E-8F70-540CD9162283}" type="pres">
      <dgm:prSet presAssocID="{E4927E91-21E6-43CA-A1DA-1ABDD4ED1D80}" presName="parentLin" presStyleCnt="0"/>
      <dgm:spPr/>
    </dgm:pt>
    <dgm:pt modelId="{A46E33A4-9A5F-4C9A-A369-EA0E3D2E2EAF}" type="pres">
      <dgm:prSet presAssocID="{E4927E91-21E6-43CA-A1DA-1ABDD4ED1D80}" presName="parentLeftMargin" presStyleLbl="node1" presStyleIdx="1" presStyleCnt="3"/>
      <dgm:spPr/>
    </dgm:pt>
    <dgm:pt modelId="{5FD0F4DC-1D05-4E06-B40C-8AD39A5C22EC}" type="pres">
      <dgm:prSet presAssocID="{E4927E91-21E6-43CA-A1DA-1ABDD4ED1D80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20B9527-B875-4CFB-BF11-2F288B5DA3E6}" type="pres">
      <dgm:prSet presAssocID="{E4927E91-21E6-43CA-A1DA-1ABDD4ED1D80}" presName="negativeSpace" presStyleCnt="0"/>
      <dgm:spPr/>
    </dgm:pt>
    <dgm:pt modelId="{06AE0DCC-F89E-440B-B0C7-0F27092C41B8}" type="pres">
      <dgm:prSet presAssocID="{E4927E91-21E6-43CA-A1DA-1ABDD4ED1D8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7BBC2AD-31C5-49D2-B80A-D66D38E3CD8B}" srcId="{E65CFDA2-8255-485A-A698-96BFC33BB6B2}" destId="{EFC2CA17-FC97-41A3-8E68-4C07A220B6B5}" srcOrd="1" destOrd="0" parTransId="{80D4CE12-AD7A-41C9-AA82-808D707E44CF}" sibTransId="{E6C710BA-E2FB-4FBF-9B32-8EEA80D313C0}"/>
    <dgm:cxn modelId="{43FBABE8-033D-467F-8D7A-9EF3342E906D}" type="presOf" srcId="{DF496DC8-C139-48FF-A3D9-2059ACB923A6}" destId="{86CB4890-DD07-45DB-9943-6FC450C0C7F9}" srcOrd="1" destOrd="0" presId="urn:microsoft.com/office/officeart/2005/8/layout/list1"/>
    <dgm:cxn modelId="{0ABA1804-502A-435F-B125-639223352650}" type="presOf" srcId="{E4927E91-21E6-43CA-A1DA-1ABDD4ED1D80}" destId="{A46E33A4-9A5F-4C9A-A369-EA0E3D2E2EAF}" srcOrd="0" destOrd="0" presId="urn:microsoft.com/office/officeart/2005/8/layout/list1"/>
    <dgm:cxn modelId="{9756B9DD-BA66-4B66-B094-CE1C4DB2ADE2}" srcId="{E65CFDA2-8255-485A-A698-96BFC33BB6B2}" destId="{E4927E91-21E6-43CA-A1DA-1ABDD4ED1D80}" srcOrd="2" destOrd="0" parTransId="{F16B8170-FF06-45B3-AA78-369C22BA924C}" sibTransId="{45B066CB-22E6-4C74-8731-225EEC39A9D5}"/>
    <dgm:cxn modelId="{C792F1B6-E0A7-4D9A-A201-B22B4316FC01}" type="presOf" srcId="{E65CFDA2-8255-485A-A698-96BFC33BB6B2}" destId="{5D4FF99E-40DD-4DA2-AF32-97D07958D56E}" srcOrd="0" destOrd="0" presId="urn:microsoft.com/office/officeart/2005/8/layout/list1"/>
    <dgm:cxn modelId="{FF290AA0-5619-4F32-B7BD-E29B5C92CC98}" srcId="{E65CFDA2-8255-485A-A698-96BFC33BB6B2}" destId="{DF496DC8-C139-48FF-A3D9-2059ACB923A6}" srcOrd="0" destOrd="0" parTransId="{7B65E4C5-7555-4B4E-906D-61565E3DEF42}" sibTransId="{0622C0B3-A3C2-42DF-A901-136FF6D4C3D6}"/>
    <dgm:cxn modelId="{7DA0EE2E-7164-46B1-80FA-44BE2F01E448}" type="presOf" srcId="{E4927E91-21E6-43CA-A1DA-1ABDD4ED1D80}" destId="{5FD0F4DC-1D05-4E06-B40C-8AD39A5C22EC}" srcOrd="1" destOrd="0" presId="urn:microsoft.com/office/officeart/2005/8/layout/list1"/>
    <dgm:cxn modelId="{224889C9-D6AB-4E4C-9E9C-AF6DE105BCAD}" type="presOf" srcId="{EFC2CA17-FC97-41A3-8E68-4C07A220B6B5}" destId="{CFA8B746-28F0-42FB-9CAF-E12EB27F4590}" srcOrd="0" destOrd="0" presId="urn:microsoft.com/office/officeart/2005/8/layout/list1"/>
    <dgm:cxn modelId="{C61E6CFF-218F-4F4C-9CDE-95E8614F805A}" type="presOf" srcId="{DF496DC8-C139-48FF-A3D9-2059ACB923A6}" destId="{BE28995B-FFFC-443A-98F2-10B66BB3DE5B}" srcOrd="0" destOrd="0" presId="urn:microsoft.com/office/officeart/2005/8/layout/list1"/>
    <dgm:cxn modelId="{7B6A76E8-2EAD-4E76-930B-0F058D896455}" type="presOf" srcId="{EFC2CA17-FC97-41A3-8E68-4C07A220B6B5}" destId="{8D0745E5-6BA3-456B-B74C-285A66EE1D1F}" srcOrd="1" destOrd="0" presId="urn:microsoft.com/office/officeart/2005/8/layout/list1"/>
    <dgm:cxn modelId="{7D3C3A54-DA10-4128-89C5-E8CDE2B8F748}" type="presParOf" srcId="{5D4FF99E-40DD-4DA2-AF32-97D07958D56E}" destId="{89F2CFCF-719A-4D3E-95CC-F545629C18A1}" srcOrd="0" destOrd="0" presId="urn:microsoft.com/office/officeart/2005/8/layout/list1"/>
    <dgm:cxn modelId="{F8FAC765-BF8F-4069-B240-568E0A02744D}" type="presParOf" srcId="{89F2CFCF-719A-4D3E-95CC-F545629C18A1}" destId="{BE28995B-FFFC-443A-98F2-10B66BB3DE5B}" srcOrd="0" destOrd="0" presId="urn:microsoft.com/office/officeart/2005/8/layout/list1"/>
    <dgm:cxn modelId="{99002124-5B00-46F1-AF2D-4B0867F55CC1}" type="presParOf" srcId="{89F2CFCF-719A-4D3E-95CC-F545629C18A1}" destId="{86CB4890-DD07-45DB-9943-6FC450C0C7F9}" srcOrd="1" destOrd="0" presId="urn:microsoft.com/office/officeart/2005/8/layout/list1"/>
    <dgm:cxn modelId="{4419A2F0-77C4-44DD-94B2-8780BB40C527}" type="presParOf" srcId="{5D4FF99E-40DD-4DA2-AF32-97D07958D56E}" destId="{69EE9DF3-E12C-4945-BA37-87917292C748}" srcOrd="1" destOrd="0" presId="urn:microsoft.com/office/officeart/2005/8/layout/list1"/>
    <dgm:cxn modelId="{AFCD6B84-D12F-439F-A084-17BA1A3FAFC4}" type="presParOf" srcId="{5D4FF99E-40DD-4DA2-AF32-97D07958D56E}" destId="{4F0B795B-04EB-4727-9B67-3A0783CD3679}" srcOrd="2" destOrd="0" presId="urn:microsoft.com/office/officeart/2005/8/layout/list1"/>
    <dgm:cxn modelId="{B46D6BFD-824A-47FA-A58C-C3F64AF5A93E}" type="presParOf" srcId="{5D4FF99E-40DD-4DA2-AF32-97D07958D56E}" destId="{3DC38C0A-33A6-4974-8147-5906384776CE}" srcOrd="3" destOrd="0" presId="urn:microsoft.com/office/officeart/2005/8/layout/list1"/>
    <dgm:cxn modelId="{A458094D-D69A-4FC8-A1E8-1BF9CC5F29F3}" type="presParOf" srcId="{5D4FF99E-40DD-4DA2-AF32-97D07958D56E}" destId="{F994CAF0-4448-43BF-9ABD-7BA3C95BEB5D}" srcOrd="4" destOrd="0" presId="urn:microsoft.com/office/officeart/2005/8/layout/list1"/>
    <dgm:cxn modelId="{A4877F9C-46F9-4AEF-99E4-B57EF4691573}" type="presParOf" srcId="{F994CAF0-4448-43BF-9ABD-7BA3C95BEB5D}" destId="{CFA8B746-28F0-42FB-9CAF-E12EB27F4590}" srcOrd="0" destOrd="0" presId="urn:microsoft.com/office/officeart/2005/8/layout/list1"/>
    <dgm:cxn modelId="{4F239B55-BE4E-4F9F-B2A7-2586DE3BD593}" type="presParOf" srcId="{F994CAF0-4448-43BF-9ABD-7BA3C95BEB5D}" destId="{8D0745E5-6BA3-456B-B74C-285A66EE1D1F}" srcOrd="1" destOrd="0" presId="urn:microsoft.com/office/officeart/2005/8/layout/list1"/>
    <dgm:cxn modelId="{AEFEBE1F-4F49-498A-84B7-49A8C4749DBE}" type="presParOf" srcId="{5D4FF99E-40DD-4DA2-AF32-97D07958D56E}" destId="{E7C9B588-E03B-4046-BB21-FFEA0B1804D9}" srcOrd="5" destOrd="0" presId="urn:microsoft.com/office/officeart/2005/8/layout/list1"/>
    <dgm:cxn modelId="{EB447E0A-A53F-46BC-81CA-DF55296FDE25}" type="presParOf" srcId="{5D4FF99E-40DD-4DA2-AF32-97D07958D56E}" destId="{882406D5-3279-4439-8726-B639D5C93E2E}" srcOrd="6" destOrd="0" presId="urn:microsoft.com/office/officeart/2005/8/layout/list1"/>
    <dgm:cxn modelId="{A7D6615A-903E-416B-9AF3-1B5F415CD75D}" type="presParOf" srcId="{5D4FF99E-40DD-4DA2-AF32-97D07958D56E}" destId="{C3737347-EEE6-4D7D-8894-E73E3546D094}" srcOrd="7" destOrd="0" presId="urn:microsoft.com/office/officeart/2005/8/layout/list1"/>
    <dgm:cxn modelId="{49F394CF-1AEC-416E-9A56-5C1E85155D95}" type="presParOf" srcId="{5D4FF99E-40DD-4DA2-AF32-97D07958D56E}" destId="{BEA7C29A-CF3D-415E-8F70-540CD9162283}" srcOrd="8" destOrd="0" presId="urn:microsoft.com/office/officeart/2005/8/layout/list1"/>
    <dgm:cxn modelId="{D81CED56-8F65-4324-9145-5127AA540DA0}" type="presParOf" srcId="{BEA7C29A-CF3D-415E-8F70-540CD9162283}" destId="{A46E33A4-9A5F-4C9A-A369-EA0E3D2E2EAF}" srcOrd="0" destOrd="0" presId="urn:microsoft.com/office/officeart/2005/8/layout/list1"/>
    <dgm:cxn modelId="{6BDDBF94-E426-4372-B34A-DED2742AE6B0}" type="presParOf" srcId="{BEA7C29A-CF3D-415E-8F70-540CD9162283}" destId="{5FD0F4DC-1D05-4E06-B40C-8AD39A5C22EC}" srcOrd="1" destOrd="0" presId="urn:microsoft.com/office/officeart/2005/8/layout/list1"/>
    <dgm:cxn modelId="{5976186D-12B6-4102-B39A-4F353B6C7244}" type="presParOf" srcId="{5D4FF99E-40DD-4DA2-AF32-97D07958D56E}" destId="{820B9527-B875-4CFB-BF11-2F288B5DA3E6}" srcOrd="9" destOrd="0" presId="urn:microsoft.com/office/officeart/2005/8/layout/list1"/>
    <dgm:cxn modelId="{BB0A8D31-5B1D-4319-BA63-D8ECFAEFEE5A}" type="presParOf" srcId="{5D4FF99E-40DD-4DA2-AF32-97D07958D56E}" destId="{06AE0DCC-F89E-440B-B0C7-0F27092C41B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0B795B-04EB-4727-9B67-3A0783CD3679}">
      <dsp:nvSpPr>
        <dsp:cNvPr id="0" name=""/>
        <dsp:cNvSpPr/>
      </dsp:nvSpPr>
      <dsp:spPr>
        <a:xfrm>
          <a:off x="0" y="472884"/>
          <a:ext cx="8915400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CB4890-DD07-45DB-9943-6FC450C0C7F9}">
      <dsp:nvSpPr>
        <dsp:cNvPr id="0" name=""/>
        <dsp:cNvSpPr/>
      </dsp:nvSpPr>
      <dsp:spPr>
        <a:xfrm>
          <a:off x="445770" y="59604"/>
          <a:ext cx="6240780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887" tIns="0" rIns="235887" bIns="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800" kern="1200" dirty="0" smtClean="0"/>
            <a:t>Mão Robótica </a:t>
          </a:r>
          <a:endParaRPr lang="pt-BR" sz="2800" kern="1200" dirty="0"/>
        </a:p>
      </dsp:txBody>
      <dsp:txXfrm>
        <a:off x="486119" y="99953"/>
        <a:ext cx="6160082" cy="745862"/>
      </dsp:txXfrm>
    </dsp:sp>
    <dsp:sp modelId="{882406D5-3279-4439-8726-B639D5C93E2E}">
      <dsp:nvSpPr>
        <dsp:cNvPr id="0" name=""/>
        <dsp:cNvSpPr/>
      </dsp:nvSpPr>
      <dsp:spPr>
        <a:xfrm>
          <a:off x="0" y="1742965"/>
          <a:ext cx="8915400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0745E5-6BA3-456B-B74C-285A66EE1D1F}">
      <dsp:nvSpPr>
        <dsp:cNvPr id="0" name=""/>
        <dsp:cNvSpPr/>
      </dsp:nvSpPr>
      <dsp:spPr>
        <a:xfrm>
          <a:off x="445770" y="1329684"/>
          <a:ext cx="6240780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887" tIns="0" rIns="235887" bIns="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800" kern="1200" dirty="0" err="1" smtClean="0"/>
            <a:t>Animatrônico</a:t>
          </a:r>
          <a:r>
            <a:rPr lang="pt-BR" sz="2800" kern="1200" dirty="0" smtClean="0"/>
            <a:t> </a:t>
          </a:r>
          <a:endParaRPr lang="pt-BR" sz="2800" kern="1200" dirty="0"/>
        </a:p>
      </dsp:txBody>
      <dsp:txXfrm>
        <a:off x="486119" y="1370033"/>
        <a:ext cx="6160082" cy="745862"/>
      </dsp:txXfrm>
    </dsp:sp>
    <dsp:sp modelId="{06AE0DCC-F89E-440B-B0C7-0F27092C41B8}">
      <dsp:nvSpPr>
        <dsp:cNvPr id="0" name=""/>
        <dsp:cNvSpPr/>
      </dsp:nvSpPr>
      <dsp:spPr>
        <a:xfrm>
          <a:off x="0" y="3013045"/>
          <a:ext cx="8915400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D0F4DC-1D05-4E06-B40C-8AD39A5C22EC}">
      <dsp:nvSpPr>
        <dsp:cNvPr id="0" name=""/>
        <dsp:cNvSpPr/>
      </dsp:nvSpPr>
      <dsp:spPr>
        <a:xfrm>
          <a:off x="445770" y="2599765"/>
          <a:ext cx="6240780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887" tIns="0" rIns="235887" bIns="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800" kern="1200" dirty="0" err="1" smtClean="0"/>
            <a:t>Analizador</a:t>
          </a:r>
          <a:r>
            <a:rPr lang="pt-BR" sz="2800" kern="1200" dirty="0" smtClean="0"/>
            <a:t> de solo </a:t>
          </a:r>
          <a:endParaRPr lang="pt-BR" sz="2800" kern="1200" dirty="0"/>
        </a:p>
      </dsp:txBody>
      <dsp:txXfrm>
        <a:off x="486119" y="2640114"/>
        <a:ext cx="6160082" cy="7458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Utilização do </a:t>
            </a:r>
            <a:r>
              <a:rPr lang="pt-BR" dirty="0" err="1" smtClean="0"/>
              <a:t>arduíno</a:t>
            </a:r>
            <a:r>
              <a:rPr lang="pt-BR" dirty="0"/>
              <a:t> </a:t>
            </a:r>
            <a:r>
              <a:rPr lang="pt-BR" dirty="0" smtClean="0"/>
              <a:t>em projetos interdisciplinares 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Jefferson Bezerra dos Santos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06368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Introdução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O avanço da tecnologia educacional e a busca por soluções sustentáveis impulsionam o uso de plataformas acessíveis como o </a:t>
            </a:r>
            <a:r>
              <a:rPr lang="pt-BR" dirty="0" err="1"/>
              <a:t>Arduino</a:t>
            </a:r>
            <a:r>
              <a:rPr lang="pt-BR" dirty="0"/>
              <a:t> em projetos interdisciplinares. Este trabalho apresenta três aplicações distintas dessa ferramenta: uma mão robótica sustentável acionada por visão computacional, um </a:t>
            </a:r>
            <a:r>
              <a:rPr lang="pt-BR" dirty="0" err="1"/>
              <a:t>animatrônico</a:t>
            </a:r>
            <a:r>
              <a:rPr lang="pt-BR" dirty="0"/>
              <a:t> interativo com temática ambiental e um sistema de monitoramento climático com sensores DHT11 e HD-38. Utilizando materiais recicláveis, </a:t>
            </a:r>
            <a:r>
              <a:rPr lang="pt-BR" dirty="0" err="1"/>
              <a:t>servomotores</a:t>
            </a:r>
            <a:r>
              <a:rPr lang="pt-BR" dirty="0"/>
              <a:t> e programação em C++, os projetos demonstram o potencial do </a:t>
            </a:r>
            <a:r>
              <a:rPr lang="pt-BR" dirty="0" err="1"/>
              <a:t>Arduino</a:t>
            </a:r>
            <a:r>
              <a:rPr lang="pt-BR" dirty="0"/>
              <a:t> no ensino de robótica, automação, </a:t>
            </a:r>
            <a:r>
              <a:rPr lang="pt-BR" dirty="0" err="1"/>
              <a:t>IoT</a:t>
            </a:r>
            <a:r>
              <a:rPr lang="pt-BR" dirty="0"/>
              <a:t> e análise de dados, aliando inovação, baixo custo e consciência socioambiental.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25722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Objetivos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Analisar como o </a:t>
            </a:r>
            <a:r>
              <a:rPr lang="pt-BR" dirty="0" err="1"/>
              <a:t>Arduino</a:t>
            </a:r>
            <a:r>
              <a:rPr lang="pt-BR" dirty="0"/>
              <a:t> pode integrar diferentes áreas do conhecimento através do desenvolvimento de projetos práticos, incluindo uma mão robótica sustentável, um </a:t>
            </a:r>
            <a:r>
              <a:rPr lang="pt-BR" dirty="0" err="1"/>
              <a:t>animatrônico</a:t>
            </a:r>
            <a:r>
              <a:rPr lang="pt-BR" dirty="0"/>
              <a:t> interativo e um sistema de monitoramento ambiental, promovendo aprendizagem ativa e interdisciplinar.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78048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Metodologia</a:t>
            </a:r>
            <a:endParaRPr lang="pt-BR" dirty="0"/>
          </a:p>
        </p:txBody>
      </p:sp>
      <p:graphicFrame>
        <p:nvGraphicFramePr>
          <p:cNvPr id="5" name="Espaço Reservado para Conteú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5480546"/>
              </p:ext>
            </p:extLst>
          </p:nvPr>
        </p:nvGraphicFramePr>
        <p:xfrm>
          <a:off x="2589213" y="2133600"/>
          <a:ext cx="8915400" cy="3778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5558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Mão Robótica </a:t>
            </a:r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45" y="1332520"/>
            <a:ext cx="7272070" cy="5193102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6450" y="1264555"/>
            <a:ext cx="4041263" cy="5329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362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Animatrônico</a:t>
            </a: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Estrutura </a:t>
            </a:r>
            <a:r>
              <a:rPr lang="pt-BR" dirty="0"/>
              <a:t>feita com papelão e MDF </a:t>
            </a:r>
            <a:r>
              <a:rPr lang="pt-BR" dirty="0" smtClean="0"/>
              <a:t>reaproveitado.</a:t>
            </a:r>
          </a:p>
          <a:p>
            <a:r>
              <a:rPr lang="pt-BR" dirty="0" smtClean="0"/>
              <a:t>Programação </a:t>
            </a:r>
            <a:r>
              <a:rPr lang="pt-BR" dirty="0"/>
              <a:t>em C++ para movimentos </a:t>
            </a:r>
            <a:r>
              <a:rPr lang="pt-BR" dirty="0" smtClean="0"/>
              <a:t>sincronizados.</a:t>
            </a:r>
          </a:p>
          <a:p>
            <a:r>
              <a:rPr lang="pt-BR" dirty="0" smtClean="0"/>
              <a:t>Foco </a:t>
            </a:r>
            <a:r>
              <a:rPr lang="pt-BR" dirty="0"/>
              <a:t>em temáticas ambientais e interação visual.</a:t>
            </a:r>
          </a:p>
        </p:txBody>
      </p:sp>
    </p:spTree>
    <p:extLst>
      <p:ext uri="{BB962C8B-B14F-4D97-AF65-F5344CB8AC3E}">
        <p14:creationId xmlns:p14="http://schemas.microsoft.com/office/powerpoint/2010/main" val="4133472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Analizador</a:t>
            </a:r>
            <a:r>
              <a:rPr lang="pt-BR" dirty="0" smtClean="0"/>
              <a:t> de solo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Uso </a:t>
            </a:r>
            <a:r>
              <a:rPr lang="pt-BR" dirty="0"/>
              <a:t>de sensores DHT11 e HD-38 com </a:t>
            </a:r>
            <a:r>
              <a:rPr lang="pt-BR" dirty="0" err="1"/>
              <a:t>Arduino</a:t>
            </a:r>
            <a:r>
              <a:rPr lang="pt-BR" dirty="0"/>
              <a:t> </a:t>
            </a:r>
            <a:r>
              <a:rPr lang="pt-BR" dirty="0" smtClean="0"/>
              <a:t>Nano.</a:t>
            </a:r>
          </a:p>
          <a:p>
            <a:r>
              <a:rPr lang="pt-BR" dirty="0" smtClean="0"/>
              <a:t>Coleta </a:t>
            </a:r>
            <a:r>
              <a:rPr lang="pt-BR" dirty="0"/>
              <a:t>de temperatura e umidade em tempo </a:t>
            </a:r>
            <a:r>
              <a:rPr lang="pt-BR" dirty="0" smtClean="0"/>
              <a:t>real.</a:t>
            </a:r>
          </a:p>
          <a:p>
            <a:r>
              <a:rPr lang="pt-BR" dirty="0" smtClean="0"/>
              <a:t>Processamento </a:t>
            </a:r>
            <a:r>
              <a:rPr lang="pt-BR" dirty="0"/>
              <a:t>em Python com técnicas estatísticas básicas.</a:t>
            </a:r>
          </a:p>
        </p:txBody>
      </p:sp>
    </p:spTree>
    <p:extLst>
      <p:ext uri="{BB962C8B-B14F-4D97-AF65-F5344CB8AC3E}">
        <p14:creationId xmlns:p14="http://schemas.microsoft.com/office/powerpoint/2010/main" val="3931227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Metodologia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pt-BR" dirty="0"/>
              <a:t>A metodologia adotada envolveu o desenvolvimento de três protótipos distintos utilizando a plataforma </a:t>
            </a:r>
            <a:r>
              <a:rPr lang="pt-BR" dirty="0" err="1"/>
              <a:t>Arduino</a:t>
            </a:r>
            <a:r>
              <a:rPr lang="pt-BR" dirty="0"/>
              <a:t>. No primeiro projeto, foi construída uma mão robótica com materiais recicláveis (papelão, canudos e elásticos, </a:t>
            </a:r>
            <a:r>
              <a:rPr lang="pt-BR" dirty="0" err="1"/>
              <a:t>pálito</a:t>
            </a:r>
            <a:r>
              <a:rPr lang="pt-BR" dirty="0"/>
              <a:t> de picolé, </a:t>
            </a:r>
            <a:r>
              <a:rPr lang="pt-BR" dirty="0" err="1"/>
              <a:t>etc</a:t>
            </a:r>
            <a:r>
              <a:rPr lang="pt-BR" dirty="0"/>
              <a:t>), controlada por </a:t>
            </a:r>
            <a:r>
              <a:rPr lang="pt-BR" dirty="0" err="1"/>
              <a:t>servomotores</a:t>
            </a:r>
            <a:r>
              <a:rPr lang="pt-BR" dirty="0"/>
              <a:t> e acionada por visão computacional, utilizando software de reconhecimento de movimentos para reproduzir gestos em tempo real. No segundo projeto, desenvolveu-se um </a:t>
            </a:r>
            <a:r>
              <a:rPr lang="pt-BR" dirty="0" err="1"/>
              <a:t>animatrônico</a:t>
            </a:r>
            <a:r>
              <a:rPr lang="pt-BR" dirty="0"/>
              <a:t> com estrutura em papelão e MDF reaproveitado, programado em C++ para executar movimentos sincronizados com temáticas ambientais. Por fim, no terceiro projeto, foi criado um sistema de monitoramento ambiental com sensores DHT11 e HD-38 conectados ao </a:t>
            </a:r>
            <a:r>
              <a:rPr lang="pt-BR" dirty="0" err="1"/>
              <a:t>Arduino</a:t>
            </a:r>
            <a:r>
              <a:rPr lang="pt-BR" dirty="0"/>
              <a:t> Nano, responsável pela coleta de dados de temperatura e umidade. As informações foram armazenadas e processadas com Python, aplicando técnicas estatísticas básicas para interpretação. Todos os projetos foram testados em ambientes reais e avaliados quanto à funcionalidade, interatividade e potencial educativo.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95961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Resultados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O projeto comprovou a viabilidade do </a:t>
            </a:r>
            <a:r>
              <a:rPr lang="pt-BR" dirty="0" err="1"/>
              <a:t>Arduino</a:t>
            </a:r>
            <a:r>
              <a:rPr lang="pt-BR" dirty="0"/>
              <a:t> em soluções de baixo custo e caráter educativo. A mão robótica demonstrou precisão nos movimentos via visão computacional. O </a:t>
            </a:r>
            <a:r>
              <a:rPr lang="pt-BR" dirty="0" err="1"/>
              <a:t>animatrônico</a:t>
            </a:r>
            <a:r>
              <a:rPr lang="pt-BR" dirty="0"/>
              <a:t> mostrou eficácia no uso de materiais recicláveis com programação realista. O sistema ambiental permitiu coleta e análise de dados climáticos em tempo real. Os três protótipos promoveram habilidades em programação, automação e sustentabilidade, integrando tecnologia acessível e aprendizagem interdisciplinar.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66641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acho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35</TotalTime>
  <Words>448</Words>
  <Application>Microsoft Office PowerPoint</Application>
  <PresentationFormat>Widescreen</PresentationFormat>
  <Paragraphs>23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Cacho</vt:lpstr>
      <vt:lpstr>Utilização do arduíno em projetos interdisciplinares </vt:lpstr>
      <vt:lpstr>Introdução </vt:lpstr>
      <vt:lpstr>Objetivos</vt:lpstr>
      <vt:lpstr>Metodologia</vt:lpstr>
      <vt:lpstr>Mão Robótica </vt:lpstr>
      <vt:lpstr>Animatrônico </vt:lpstr>
      <vt:lpstr>Analizador de solo</vt:lpstr>
      <vt:lpstr>Metodologia</vt:lpstr>
      <vt:lpstr>Resultados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Utilização do Arduíno para em Projetos interdisciplinares </dc:title>
  <dc:creator>Jeffrey24</dc:creator>
  <cp:lastModifiedBy>Jeffrey24</cp:lastModifiedBy>
  <cp:revision>5</cp:revision>
  <dcterms:created xsi:type="dcterms:W3CDTF">2025-11-26T18:51:24Z</dcterms:created>
  <dcterms:modified xsi:type="dcterms:W3CDTF">2025-11-26T19:27:19Z</dcterms:modified>
</cp:coreProperties>
</file>