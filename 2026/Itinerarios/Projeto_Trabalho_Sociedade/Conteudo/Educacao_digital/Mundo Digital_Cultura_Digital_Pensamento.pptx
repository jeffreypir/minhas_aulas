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comments/comment1.xml" ContentType="application/vnd.openxmlformats-officedocument.presentationml.comment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Jeffrey24" initials="J" lastIdx="1" clrIdx="0">
    <p:extLst>
      <p:ext uri="{19B8F6BF-5375-455C-9EA6-DF929625EA0E}">
        <p15:presenceInfo xmlns:p15="http://schemas.microsoft.com/office/powerpoint/2012/main" userId="Jeffrey24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10" autoAdjust="0"/>
    <p:restoredTop sz="94660"/>
  </p:normalViewPr>
  <p:slideViewPr>
    <p:cSldViewPr snapToGrid="0">
      <p:cViewPr varScale="1">
        <p:scale>
          <a:sx n="74" d="100"/>
          <a:sy n="74" d="100"/>
        </p:scale>
        <p:origin x="372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commentAuthors" Target="commentAuthors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6-02-10T16:06:01.343" idx="1">
    <p:pos x="10" y="10"/>
    <p:text/>
    <p:extLst>
      <p:ext uri="{C676402C-5697-4E1C-873F-D02D1690AC5C}">
        <p15:threadingInfo xmlns:p15="http://schemas.microsoft.com/office/powerpoint/2012/main" timeZoneBias="180"/>
      </p:ext>
    </p:extLst>
  </p:cm>
</p:cmLst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 smtClean="0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2/10/2026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2/10/2026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2/10/2026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2/10/2026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2/10/2026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 smtClean="0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2/10/2026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e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çã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pt-BR" smtClean="0"/>
              <a:t>Editar estilos de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2/10/2026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o 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pt-BR" smtClean="0"/>
              <a:t>Editar estilos de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2/10/2026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iro ou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pt-BR" smtClean="0"/>
              <a:t>Editar estilos de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2/10/2026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2/10/2026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32"/>
            <a:ext cx="2356674" cy="6853285"/>
            <a:chOff x="6627813" y="195454"/>
            <a:chExt cx="1952625" cy="5678297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5454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2/10/2026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58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omments" Target="../comments/comment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pt-BR" dirty="0" smtClean="0"/>
              <a:t>Mundo Digital, Cultura Digital Pensamento e </a:t>
            </a:r>
            <a:br>
              <a:rPr lang="pt-BR" dirty="0" smtClean="0"/>
            </a:br>
            <a:r>
              <a:rPr lang="pt-BR" dirty="0" smtClean="0"/>
              <a:t>Computacional</a:t>
            </a:r>
            <a:endParaRPr lang="pt-BR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BR" dirty="0" smtClean="0"/>
              <a:t>Professor: Jefferson 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0406773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Mundo digital 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2373552" y="1710906"/>
            <a:ext cx="8915400" cy="3777622"/>
          </a:xfrm>
        </p:spPr>
        <p:txBody>
          <a:bodyPr/>
          <a:lstStyle/>
          <a:p>
            <a:pPr algn="just"/>
            <a:r>
              <a:rPr lang="pt-BR" sz="2200" dirty="0"/>
              <a:t>O </a:t>
            </a:r>
            <a:r>
              <a:rPr lang="pt-BR" sz="2200" b="1" dirty="0"/>
              <a:t>Mundo Digital</a:t>
            </a:r>
            <a:r>
              <a:rPr lang="pt-BR" sz="2200" dirty="0"/>
              <a:t> é o eixo que compreende os artefatos digitais físicos (</a:t>
            </a:r>
            <a:r>
              <a:rPr lang="pt-BR" sz="2200" i="1" dirty="0"/>
              <a:t>hardware</a:t>
            </a:r>
            <a:r>
              <a:rPr lang="pt-BR" sz="2200" dirty="0"/>
              <a:t>: computadores, celulares, </a:t>
            </a:r>
            <a:r>
              <a:rPr lang="pt-BR" sz="2200" i="1" dirty="0" err="1"/>
              <a:t>tablets</a:t>
            </a:r>
            <a:r>
              <a:rPr lang="pt-BR" sz="2200" dirty="0"/>
              <a:t> etc.) e os artefatos digitais virtuais (</a:t>
            </a:r>
            <a:r>
              <a:rPr lang="pt-BR" sz="2200" i="1" dirty="0"/>
              <a:t>software</a:t>
            </a:r>
            <a:r>
              <a:rPr lang="pt-BR" sz="2200" dirty="0"/>
              <a:t>: internet, aplicativos, jogos, redes sociais, nuvem de dados etc.).</a:t>
            </a:r>
          </a:p>
          <a:p>
            <a:pPr algn="just"/>
            <a:r>
              <a:rPr lang="pt-BR" sz="2200" dirty="0"/>
              <a:t>De acordo com a Sociedade Brasileira de Computação (SBC), os pilares do eixo Mundo Digital são: </a:t>
            </a:r>
            <a:r>
              <a:rPr lang="pt-BR" sz="2200" b="1" dirty="0"/>
              <a:t>codificação</a:t>
            </a:r>
            <a:r>
              <a:rPr lang="pt-BR" sz="2200" dirty="0"/>
              <a:t>, </a:t>
            </a:r>
            <a:r>
              <a:rPr lang="pt-BR" sz="2200" b="1" dirty="0"/>
              <a:t>processamento dos dados</a:t>
            </a:r>
            <a:r>
              <a:rPr lang="pt-BR" sz="2200" dirty="0"/>
              <a:t> e </a:t>
            </a:r>
            <a:r>
              <a:rPr lang="pt-BR" sz="2200" b="1" dirty="0"/>
              <a:t>distribuição</a:t>
            </a:r>
            <a:r>
              <a:rPr lang="pt-BR" sz="2200" dirty="0"/>
              <a:t>.</a:t>
            </a:r>
          </a:p>
          <a:p>
            <a:pPr marL="0" indent="0">
              <a:buNone/>
            </a:pPr>
            <a:r>
              <a:rPr lang="pt-BR" dirty="0"/>
              <a:t/>
            </a:r>
            <a:br>
              <a:rPr lang="pt-BR" dirty="0"/>
            </a:b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1664932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907102" y="589604"/>
            <a:ext cx="8911687" cy="1280890"/>
          </a:xfrm>
        </p:spPr>
        <p:txBody>
          <a:bodyPr/>
          <a:lstStyle/>
          <a:p>
            <a:r>
              <a:rPr lang="pt-BR" dirty="0" smtClean="0"/>
              <a:t>Exemplo:</a:t>
            </a:r>
            <a:br>
              <a:rPr lang="pt-BR" dirty="0" smtClean="0"/>
            </a:br>
            <a:r>
              <a:rPr lang="pt-BR" dirty="0" smtClean="0"/>
              <a:t>Robótica com sucat</a:t>
            </a:r>
            <a:r>
              <a:rPr lang="pt-BR" dirty="0"/>
              <a:t>a</a:t>
            </a:r>
          </a:p>
        </p:txBody>
      </p:sp>
      <p:pic>
        <p:nvPicPr>
          <p:cNvPr id="2050" name="Picture 2" descr="Fotografia. Crianças interagem com um robô feito de materiais recicláveis, como caixas e tubos. O robô é amarelo, tem olhos grandes e rodas nas laterais de sua estrutura. Ao fundo, ambiente de sala de aula, com um quadro verde e armário.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07102" y="1870494"/>
            <a:ext cx="6960649" cy="45327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337414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/>
              <a:t>Os três pilares do Mundo Digital</a:t>
            </a:r>
            <a:endParaRPr lang="pt-BR" dirty="0"/>
          </a:p>
        </p:txBody>
      </p:sp>
      <p:pic>
        <p:nvPicPr>
          <p:cNvPr id="3074" name="Picture 2" descr="Esquema. Diagrama com linhas conectadas. À esquerda, círculo azul com texto &quot;Mundo digital&quot;. Três linhas partem dele. A primeira, em azul, tem ícone composto de pequenos números entre 1 e 0; a linha chega ao texto: Codificação; Representação de diferentes tipos de informação no Mundo Digital. A segunda linha, em rosa, tem ícone de esquema de linhas e pontos; a linha chega ao texto: Processamento; Processos de armazenamento, análise e organização de dados para transformá-los em informações. A terceira linha, em verde, tem ícone de diagrama em rede; a linha chega ao texto: Distribuição; Transmissão e compartilhamento de dados por meio de sistemas digitais (internet, nuvens etc.).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99815" y="1905000"/>
            <a:ext cx="8818539" cy="38899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34659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549793" y="192789"/>
            <a:ext cx="8911687" cy="1280890"/>
          </a:xfrm>
        </p:spPr>
        <p:txBody>
          <a:bodyPr/>
          <a:lstStyle/>
          <a:p>
            <a:r>
              <a:rPr lang="pt-BR" dirty="0" smtClean="0"/>
              <a:t>Como funcionar o computador?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2389518" y="905773"/>
            <a:ext cx="9529163" cy="5477773"/>
          </a:xfrm>
        </p:spPr>
        <p:txBody>
          <a:bodyPr>
            <a:normAutofit lnSpcReduction="10000"/>
          </a:bodyPr>
          <a:lstStyle/>
          <a:p>
            <a:r>
              <a:rPr lang="pt-BR" sz="2200" dirty="0"/>
              <a:t>Toda tecnologia digital </a:t>
            </a:r>
            <a:r>
              <a:rPr lang="pt-BR" sz="2200" b="1" dirty="0"/>
              <a:t>codifica, processa e transmite informação</a:t>
            </a:r>
            <a:r>
              <a:rPr lang="pt-BR" sz="2200" dirty="0" smtClean="0"/>
              <a:t>.</a:t>
            </a:r>
          </a:p>
          <a:p>
            <a:r>
              <a:rPr lang="pt-BR" sz="2200" dirty="0"/>
              <a:t>A codificação normalmente usa o </a:t>
            </a:r>
            <a:r>
              <a:rPr lang="pt-BR" sz="2200" b="1" dirty="0"/>
              <a:t>sistema binário</a:t>
            </a:r>
            <a:r>
              <a:rPr lang="pt-BR" sz="2200" dirty="0"/>
              <a:t>, com </a:t>
            </a:r>
            <a:r>
              <a:rPr lang="pt-BR" sz="2200" b="1" dirty="0"/>
              <a:t>0 (zero)</a:t>
            </a:r>
            <a:r>
              <a:rPr lang="pt-BR" sz="2200" dirty="0"/>
              <a:t> e </a:t>
            </a:r>
            <a:r>
              <a:rPr lang="pt-BR" sz="2200" b="1" dirty="0"/>
              <a:t>1 (um</a:t>
            </a:r>
            <a:r>
              <a:rPr lang="pt-BR" sz="2200" b="1" dirty="0" smtClean="0"/>
              <a:t>)</a:t>
            </a:r>
            <a:r>
              <a:rPr lang="pt-BR" sz="2200" dirty="0" smtClean="0"/>
              <a:t>.</a:t>
            </a:r>
          </a:p>
          <a:p>
            <a:r>
              <a:rPr lang="pt-BR" sz="2200" dirty="0"/>
              <a:t>Outros conjuntos numéricos contáveis podem ser usados, mas o binário é o padrão</a:t>
            </a:r>
            <a:r>
              <a:rPr lang="pt-BR" sz="2200" dirty="0" smtClean="0"/>
              <a:t>.</a:t>
            </a:r>
          </a:p>
          <a:p>
            <a:r>
              <a:rPr lang="pt-BR" sz="2200" dirty="0"/>
              <a:t>A </a:t>
            </a:r>
            <a:r>
              <a:rPr lang="pt-BR" sz="2200" b="1" dirty="0"/>
              <a:t>combinação de 0 e 1</a:t>
            </a:r>
            <a:r>
              <a:rPr lang="pt-BR" sz="2200" dirty="0"/>
              <a:t> permite representar </a:t>
            </a:r>
            <a:r>
              <a:rPr lang="pt-BR" sz="2200" b="1" dirty="0"/>
              <a:t>letras, números e símbolos</a:t>
            </a:r>
            <a:r>
              <a:rPr lang="pt-BR" sz="2200" dirty="0" smtClean="0"/>
              <a:t>.</a:t>
            </a:r>
          </a:p>
          <a:p>
            <a:r>
              <a:rPr lang="pt-BR" sz="2200" dirty="0"/>
              <a:t>A menor unidade de dados é o </a:t>
            </a:r>
            <a:r>
              <a:rPr lang="pt-BR" sz="2200" b="1" dirty="0"/>
              <a:t>bit (b)</a:t>
            </a:r>
            <a:r>
              <a:rPr lang="pt-BR" sz="2200" dirty="0"/>
              <a:t> (</a:t>
            </a:r>
            <a:r>
              <a:rPr lang="pt-BR" sz="2200" i="1" dirty="0" err="1"/>
              <a:t>binary</a:t>
            </a:r>
            <a:r>
              <a:rPr lang="pt-BR" sz="2200" i="1" dirty="0"/>
              <a:t> </a:t>
            </a:r>
            <a:r>
              <a:rPr lang="pt-BR" sz="2200" i="1" dirty="0" err="1"/>
              <a:t>digit</a:t>
            </a:r>
            <a:r>
              <a:rPr lang="pt-BR" sz="2200" dirty="0" smtClean="0"/>
              <a:t>).</a:t>
            </a:r>
          </a:p>
          <a:p>
            <a:r>
              <a:rPr lang="pt-BR" sz="2200" dirty="0"/>
              <a:t>Pode assumir o valor </a:t>
            </a:r>
            <a:r>
              <a:rPr lang="pt-BR" sz="2200" b="1" dirty="0"/>
              <a:t>0 ou 1</a:t>
            </a:r>
            <a:r>
              <a:rPr lang="pt-BR" sz="2200" dirty="0" smtClean="0"/>
              <a:t>.</a:t>
            </a:r>
          </a:p>
          <a:p>
            <a:r>
              <a:rPr lang="pt-BR" sz="2200" dirty="0"/>
              <a:t>O </a:t>
            </a:r>
            <a:r>
              <a:rPr lang="pt-BR" sz="2200" b="1" dirty="0"/>
              <a:t>byte (B)</a:t>
            </a:r>
            <a:r>
              <a:rPr lang="pt-BR" sz="2200" dirty="0"/>
              <a:t> é composto por </a:t>
            </a:r>
            <a:r>
              <a:rPr lang="pt-BR" sz="2200" b="1" dirty="0"/>
              <a:t>8 bits</a:t>
            </a:r>
            <a:r>
              <a:rPr lang="pt-BR" sz="2200" dirty="0" smtClean="0"/>
              <a:t>.</a:t>
            </a:r>
          </a:p>
          <a:p>
            <a:r>
              <a:rPr lang="pt-BR" sz="2200" dirty="0"/>
              <a:t>O byte é a </a:t>
            </a:r>
            <a:r>
              <a:rPr lang="pt-BR" sz="2200" b="1" dirty="0"/>
              <a:t>unidade básica para representar caracteres</a:t>
            </a:r>
            <a:r>
              <a:rPr lang="pt-BR" sz="2200" dirty="0" smtClean="0"/>
              <a:t>.</a:t>
            </a:r>
          </a:p>
          <a:p>
            <a:r>
              <a:rPr lang="pt-BR" sz="2200" dirty="0"/>
              <a:t>Com 8 bits, existem </a:t>
            </a:r>
            <a:r>
              <a:rPr lang="pt-BR" sz="2200" b="1" dirty="0"/>
              <a:t>2⁸ = 256 combinações possíveis</a:t>
            </a:r>
            <a:r>
              <a:rPr lang="pt-BR" sz="2200" dirty="0" smtClean="0"/>
              <a:t>.</a:t>
            </a:r>
          </a:p>
          <a:p>
            <a:r>
              <a:rPr lang="pt-BR" sz="2200" dirty="0"/>
              <a:t>Assim, </a:t>
            </a:r>
            <a:r>
              <a:rPr lang="pt-BR" sz="2200" b="1" dirty="0"/>
              <a:t>um byte pode representar até 256 símbolos diferentes</a:t>
            </a:r>
            <a:r>
              <a:rPr lang="pt-BR" sz="2200" dirty="0"/>
              <a:t>.</a:t>
            </a:r>
            <a:endParaRPr lang="pt-BR" sz="2200" dirty="0" smtClean="0"/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644968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791333" y="0"/>
            <a:ext cx="8911687" cy="712984"/>
          </a:xfrm>
        </p:spPr>
        <p:txBody>
          <a:bodyPr/>
          <a:lstStyle/>
          <a:p>
            <a:r>
              <a:rPr lang="pt-BR" dirty="0" smtClean="0"/>
              <a:t>História da Computação </a:t>
            </a:r>
            <a:endParaRPr lang="pt-BR" dirty="0"/>
          </a:p>
        </p:txBody>
      </p:sp>
      <p:pic>
        <p:nvPicPr>
          <p:cNvPr id="5122" name="Picture 2" descr="Infográfico. Título: &quot;História da computação&quot;. O infográfico apresenta uma linha do tempo com dispositivos da computação e descrições. O fundo é branco, com círculos coloridos que diferenciam cada ano ou período. Partes do infográfico:&#10;- 2.700 antes de Cristo: Surgiu o ábaco, um dos primeiros instrumentos mecânicos para fazer cálculos. Fotografia de objeto retangular de madeira, com grades na parte interna; em cada uma das grades, há pequenas estruturas circulares que podem ser movidas de um lado para o outro.&#10;- 1642: O matemático francês Blaise Pascal (1623-1662) desenvolveu uma calculadora mecânica que somava e subtraía. Fotografia de um objeto retangular de madeira, composto de engrenagens em sua parte interna.&#10;- 1673: O filósofo e matemático alemão Gottfried Leibniz (1646-1716) desenvolveu o primeiro sistema de numeração binária e aperfeiçoou a máquina de Pascal, que, além de somar e subtrair, passou a também multiplicar e dividir. Fotografia de um objeto retangular de madeira com uma manivela dourada na lateral.&#10;- 1801: Joseph Marie Jacquard (1752-1834), mecânico francês, desenvolveu um tear automatizado, que era programado por uma série de cartões perfurados. Fotografia de um tear de madeira, com linhas que atravessam a estrutura do tear. &#10;- 1837: O matemático inglês Charles Babbage (1791-1871) projetou a máquina analítica, considerada o primeiro conceito de um computador programável. Fotografia de uma estrutura em madeira com cilindros metálicos verticais e cilindros de madeira móveis na horizontal. &#10;- 1843: A matemática e escritora inglesa Ada Augusta (1815-1852), conhecida como Ada Lovelace, em parceria com Charles Babbage, escreveu o primeiro algoritmo – sequência de instruções – para a máquina analítica. Pintura de uma mulher branca, de perfil, com os cabelos presos em coque e uma tiara.&#10;- 1936: O matemático inglês Alan Turing (1912-1954) propôs um projeto teórico para a criação do computador eletrônico, demonstrando matematicamente o processamento computacional. Fotografia de um homem branco, de cabelos escuros e penteados. Ele veste um terno, com gravata e camisa branca por baixo.&#10;- 1946: É concluído o Eniac (sigla do inglês Electronic Numerical Integrator and Computer, que em português quer dizer computador e integrador numérico eletrônico), considerado a última grande máquina calculadora. Fotografia de duas mulheres operando uma máquina acoplada a uma parede, composta de circuitos elétricos e fios.&#10;- 1959: As válvulas eletrônicas foram substituídas por transistores, o que diminuiu o tamanho dos computadores e aumentou a capacidade de processamento deles. Fotografia de um objeto retangular preto, com um conector quadrado de um lado e três pequenos fios metálicos rígidos do outro lado.&#10;- Década de 1960 em diante: Criação do circuito integrado; Popularização de microprocessadores e computadores pessoais; Sistemas de inteligência artificial e pesquisa em computação quântica.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41297" y="586596"/>
            <a:ext cx="4711635" cy="62714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224114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2044460" y="1591726"/>
            <a:ext cx="9089216" cy="4765942"/>
          </a:xfrm>
        </p:spPr>
        <p:txBody>
          <a:bodyPr>
            <a:normAutofit lnSpcReduction="10000"/>
          </a:bodyPr>
          <a:lstStyle/>
          <a:p>
            <a:pPr marL="0" indent="0" algn="just">
              <a:buNone/>
            </a:pPr>
            <a:r>
              <a:rPr lang="pt-BR" sz="2200" dirty="0" smtClean="0"/>
              <a:t>1. Como </a:t>
            </a:r>
            <a:r>
              <a:rPr lang="pt-BR" sz="2200" dirty="0"/>
              <a:t>as tecnologias digitais impactam a vida das pessoas </a:t>
            </a:r>
            <a:r>
              <a:rPr lang="pt-BR" sz="2200" dirty="0" smtClean="0"/>
              <a:t> </a:t>
            </a:r>
            <a:r>
              <a:rPr lang="pt-BR" sz="2200" dirty="0"/>
              <a:t>em termos de </a:t>
            </a:r>
            <a:r>
              <a:rPr lang="pt-BR" sz="2200" dirty="0" smtClean="0"/>
              <a:t>trabalho</a:t>
            </a:r>
            <a:r>
              <a:rPr lang="pt-BR" sz="2200" dirty="0"/>
              <a:t>, lazer e interação social</a:t>
            </a:r>
            <a:r>
              <a:rPr lang="pt-BR" sz="2200" dirty="0" smtClean="0"/>
              <a:t>?</a:t>
            </a:r>
          </a:p>
          <a:p>
            <a:pPr marL="0" indent="0" algn="just">
              <a:buNone/>
            </a:pPr>
            <a:endParaRPr lang="pt-BR" sz="2200" dirty="0" smtClean="0"/>
          </a:p>
          <a:p>
            <a:pPr marL="0" indent="0" algn="just">
              <a:buNone/>
            </a:pPr>
            <a:r>
              <a:rPr lang="pt-BR" sz="2200" dirty="0" smtClean="0"/>
              <a:t>2. Quais são os artefatos digitais?</a:t>
            </a:r>
          </a:p>
          <a:p>
            <a:pPr marL="0" indent="0" algn="just">
              <a:buNone/>
            </a:pPr>
            <a:endParaRPr lang="pt-BR" sz="2200" dirty="0"/>
          </a:p>
          <a:p>
            <a:pPr marL="0" indent="0" algn="just">
              <a:buNone/>
            </a:pPr>
            <a:r>
              <a:rPr lang="pt-BR" sz="2200" dirty="0" smtClean="0"/>
              <a:t>3. Quais são os três pilares?</a:t>
            </a:r>
          </a:p>
          <a:p>
            <a:pPr marL="0" indent="0" algn="just">
              <a:buNone/>
            </a:pPr>
            <a:endParaRPr lang="pt-BR" sz="2200" dirty="0"/>
          </a:p>
          <a:p>
            <a:pPr marL="0" indent="0" algn="just">
              <a:buNone/>
            </a:pPr>
            <a:r>
              <a:rPr lang="pt-BR" sz="2200" dirty="0" smtClean="0"/>
              <a:t>4. Liste pelo três pesquisadores importantes para a computação ?</a:t>
            </a:r>
          </a:p>
          <a:p>
            <a:pPr marL="0" indent="0">
              <a:buNone/>
            </a:pPr>
            <a:endParaRPr lang="pt-BR" sz="2200" dirty="0" smtClean="0"/>
          </a:p>
          <a:p>
            <a:pPr marL="0" indent="0">
              <a:buNone/>
            </a:pPr>
            <a:r>
              <a:rPr lang="pt-BR" sz="2200" dirty="0" smtClean="0"/>
              <a:t> </a:t>
            </a:r>
          </a:p>
          <a:p>
            <a:pPr marL="0" indent="0">
              <a:buNone/>
            </a:pPr>
            <a:endParaRPr lang="pt-BR" sz="2200" dirty="0" smtClean="0"/>
          </a:p>
        </p:txBody>
      </p:sp>
      <p:sp>
        <p:nvSpPr>
          <p:cNvPr id="4" name="CaixaDeTexto 3"/>
          <p:cNvSpPr txBox="1"/>
          <p:nvPr/>
        </p:nvSpPr>
        <p:spPr>
          <a:xfrm>
            <a:off x="3174521" y="724619"/>
            <a:ext cx="654744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b="1" dirty="0" smtClean="0"/>
              <a:t>Questões</a:t>
            </a:r>
            <a:endParaRPr lang="pt-BR" sz="2400" b="1" dirty="0"/>
          </a:p>
        </p:txBody>
      </p:sp>
    </p:spTree>
    <p:extLst>
      <p:ext uri="{BB962C8B-B14F-4D97-AF65-F5344CB8AC3E}">
        <p14:creationId xmlns:p14="http://schemas.microsoft.com/office/powerpoint/2010/main" val="3546618982"/>
      </p:ext>
    </p:extLst>
  </p:cSld>
  <p:clrMapOvr>
    <a:masterClrMapping/>
  </p:clrMapOvr>
</p:sld>
</file>

<file path=ppt/theme/theme1.xml><?xml version="1.0" encoding="utf-8"?>
<a:theme xmlns:a="http://schemas.openxmlformats.org/drawingml/2006/main" name="Cacho">
  <a:themeElements>
    <a:clrScheme name="Wisp">
      <a:dk1>
        <a:sysClr val="windowText" lastClr="000000"/>
      </a:dk1>
      <a:lt1>
        <a:sysClr val="window" lastClr="FFFFFF"/>
      </a:lt1>
      <a:dk2>
        <a:srgbClr val="647252"/>
      </a:dk2>
      <a:lt2>
        <a:srgbClr val="EAE8CF"/>
      </a:lt2>
      <a:accent1>
        <a:srgbClr val="E78712"/>
      </a:accent1>
      <a:accent2>
        <a:srgbClr val="B73C26"/>
      </a:accent2>
      <a:accent3>
        <a:srgbClr val="865331"/>
      </a:accent3>
      <a:accent4>
        <a:srgbClr val="B38648"/>
      </a:accent4>
      <a:accent5>
        <a:srgbClr val="BBB473"/>
      </a:accent5>
      <a:accent6>
        <a:srgbClr val="849276"/>
      </a:accent6>
      <a:hlink>
        <a:srgbClr val="FDAB2A"/>
      </a:hlink>
      <a:folHlink>
        <a:srgbClr val="CCB182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54F6613E-5ED7-40ED-90A8-F639BE712C0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40</TotalTime>
  <Words>289</Words>
  <Application>Microsoft Office PowerPoint</Application>
  <PresentationFormat>Widescreen</PresentationFormat>
  <Paragraphs>30</Paragraphs>
  <Slides>7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7</vt:i4>
      </vt:variant>
    </vt:vector>
  </HeadingPairs>
  <TitlesOfParts>
    <vt:vector size="11" baseType="lpstr">
      <vt:lpstr>Arial</vt:lpstr>
      <vt:lpstr>Century Gothic</vt:lpstr>
      <vt:lpstr>Wingdings 3</vt:lpstr>
      <vt:lpstr>Cacho</vt:lpstr>
      <vt:lpstr>Mundo Digital, Cultura Digital Pensamento e  Computacional</vt:lpstr>
      <vt:lpstr>Mundo digital </vt:lpstr>
      <vt:lpstr>Exemplo: Robótica com sucata</vt:lpstr>
      <vt:lpstr>Os três pilares do Mundo Digital</vt:lpstr>
      <vt:lpstr>Como funcionar o computador?</vt:lpstr>
      <vt:lpstr>História da Computação 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Mundo Digital, Cultura Digital Pensamento e  Computacional</dc:title>
  <dc:creator>Jeffrey24</dc:creator>
  <cp:lastModifiedBy>Jeffrey24</cp:lastModifiedBy>
  <cp:revision>5</cp:revision>
  <dcterms:created xsi:type="dcterms:W3CDTF">2026-02-10T18:28:34Z</dcterms:created>
  <dcterms:modified xsi:type="dcterms:W3CDTF">2026-02-10T19:09:16Z</dcterms:modified>
</cp:coreProperties>
</file>