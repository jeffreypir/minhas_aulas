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Educação Digital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Professor: Jefferson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533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20396" y="80645"/>
            <a:ext cx="8911687" cy="1280890"/>
          </a:xfrm>
        </p:spPr>
        <p:txBody>
          <a:bodyPr/>
          <a:lstStyle/>
          <a:p>
            <a:r>
              <a:rPr lang="pt-BR" dirty="0"/>
              <a:t>Mapa da conectividade significativa no Brasil</a:t>
            </a:r>
          </a:p>
        </p:txBody>
      </p:sp>
      <p:pic>
        <p:nvPicPr>
          <p:cNvPr id="1026" name="Picture 2" descr="Mapa colorido. Título: Mapa da conectividade significativa no Brasil. O mapa apresenta a divisão política por estado do Brasil. As unidades federativas estão distribuídas, por cor, em diferentes níveis de conectividade significativa. As cores são vermelho-escuro, vermelho-médio, laranja-escuro, laranja-médio, laranja-claro, amarelo-escuro e amarelo-claro: vermelho escuro representa mais população com conectividade significativa e amarelo-claro representa menos gente com conectividade significativa. Na Região Sul, Rio Grande do Sul: vermelho-médio, Paraná e Santa Catarina: laranja-escuro. Na Região Sudeste, São Paulo: vermelho-escuro, Minas Gerais: vermelho-médio, Espírito Santo e Rio de Janeiro: laranja-médio. Na Região Centro-Oeste, Distrito Federal: vermelho-médio, Goiás: laranja-médio, Mato Grosso do Sul, laranja-claro, Mato Grosso: amarelo-médio. Na Região Nordeste, Rio Grande do Norte e Alagoas: laranja-claro, Maranhão, Piauí, Ceará, Paraíba, Pernambuco e Bahia: amarelo-escuro, Sergipe: amarelo-claro. Na Região Norte, Rondônia e Tocantins: laranja-médio, Roraima, Amapá, Amazonas e Acre: laranja-claro, Pará: amarelo-claro. No canto inferior direito, direção norte e escala gráfica indicando 430 quilômetros. Fim da imagem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705" y="1259455"/>
            <a:ext cx="6723159" cy="549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19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Desigualdade Digital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80891" y="1975449"/>
            <a:ext cx="9123721" cy="3935773"/>
          </a:xfrm>
        </p:spPr>
        <p:txBody>
          <a:bodyPr>
            <a:normAutofit/>
          </a:bodyPr>
          <a:lstStyle/>
          <a:p>
            <a:r>
              <a:rPr lang="pt-BR" sz="2400" dirty="0" smtClean="0"/>
              <a:t>Escolaridade</a:t>
            </a:r>
          </a:p>
          <a:p>
            <a:r>
              <a:rPr lang="pt-BR" sz="2400" dirty="0" smtClean="0"/>
              <a:t>Renda</a:t>
            </a:r>
          </a:p>
          <a:p>
            <a:r>
              <a:rPr lang="pt-BR" sz="2400" dirty="0"/>
              <a:t>S</a:t>
            </a:r>
            <a:r>
              <a:rPr lang="pt-BR" sz="2400" dirty="0" smtClean="0"/>
              <a:t>egmentação espacial </a:t>
            </a:r>
          </a:p>
          <a:p>
            <a:r>
              <a:rPr lang="pt-BR" sz="2400" dirty="0" smtClean="0"/>
              <a:t>Raça</a:t>
            </a:r>
          </a:p>
          <a:p>
            <a:r>
              <a:rPr lang="pt-BR" sz="2400" dirty="0" smtClean="0"/>
              <a:t>Gênero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1538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Desigualdade social e digital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b="1" dirty="0" smtClean="0"/>
              <a:t>1.</a:t>
            </a:r>
            <a:r>
              <a:rPr lang="pt-BR" sz="2400" dirty="0" smtClean="0"/>
              <a:t>Qual </a:t>
            </a:r>
            <a:r>
              <a:rPr lang="pt-BR" sz="2400" dirty="0"/>
              <a:t>é a origem da desigualdade no Brasil</a:t>
            </a:r>
            <a:r>
              <a:rPr lang="pt-BR" sz="2400" dirty="0" smtClean="0"/>
              <a:t>?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 smtClean="0"/>
              <a:t>2.</a:t>
            </a:r>
            <a:r>
              <a:rPr lang="pt-BR" sz="2400" dirty="0" smtClean="0"/>
              <a:t>Como </a:t>
            </a:r>
            <a:r>
              <a:rPr lang="pt-BR" sz="2400" dirty="0"/>
              <a:t>a desigualdade digital está relacionada à desigualdade social</a:t>
            </a:r>
            <a:r>
              <a:rPr lang="pt-BR" sz="2400" dirty="0" smtClean="0"/>
              <a:t>?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 smtClean="0"/>
              <a:t>3.</a:t>
            </a:r>
            <a:r>
              <a:rPr lang="pt-BR" sz="2400" dirty="0" smtClean="0"/>
              <a:t>Como </a:t>
            </a:r>
            <a:r>
              <a:rPr lang="pt-BR" sz="2400" dirty="0"/>
              <a:t>as tecnologias digitais podem intensificar a desigualdade social no Brasil?</a:t>
            </a:r>
          </a:p>
        </p:txBody>
      </p:sp>
    </p:spTree>
    <p:extLst>
      <p:ext uri="{BB962C8B-B14F-4D97-AF65-F5344CB8AC3E}">
        <p14:creationId xmlns:p14="http://schemas.microsoft.com/office/powerpoint/2010/main" val="249389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408450"/>
            <a:ext cx="8911687" cy="1280890"/>
          </a:xfrm>
        </p:spPr>
        <p:txBody>
          <a:bodyPr/>
          <a:lstStyle/>
          <a:p>
            <a:r>
              <a:rPr lang="pt-BR" dirty="0" smtClean="0"/>
              <a:t>Pilares da educação digital </a:t>
            </a:r>
            <a:endParaRPr lang="pt-BR" dirty="0"/>
          </a:p>
        </p:txBody>
      </p:sp>
      <p:pic>
        <p:nvPicPr>
          <p:cNvPr id="2050" name="Picture 2" descr="Infográfico. À esquerda, modelo circular com cinco seções coloridas. No centro, &quot;Educação digital&quot;. De cada seção parte um fio que leva a um texto explicativo. Em sentido horário: Em azul, &quot;Pensamento computacional&quot;; 1. Compreender, analisar, definir, modelar, resolver, comparar e automatizar problemas e suas soluções de maneira metódica e sistemática. Isso deve ser feito por meio da criação e adaptação de algoritmos e da aplicação de fundamentos da computação; ícone de fluxograma. Em rosa, &quot;Mundo digital&quot;; 2. Aprender sobre artefatos digitais físicos (computadores, celulares, tablets) e artefatos digitais virtuais (internet, aplicativos, jogos, redes sociais, nuvem de dados); ícones de nuvem com engrenagem, tablet e grupo de pessoas. Em verde, &quot;Cultura digital&quot;; 3. Educar para a participação consciente e democrática por meio das tecnologias digitais, construindo uma atitude crítica, ética e responsável em relação ao digital e aos seus possíveis usos; ícone de criança e adulto ao lado de mesa com computador. Em laranja, &quot;Direitos digitais&quot;; 4. Conscientizar a respeito dos direitos sobre o uso e o tratamento de dados pessoais, a promoção da conectividade segura e a proteção dos dados da população mais vulnerável; ícones de caixas de texto e cadeado. Em roxo, &quot;Tecnologia assistiva&quot;; 5. Promover a funcionalidade e a aprendizagem, como foco na inclusão de pessoas com deficiência ou mobilidade reduzida, englobando produtos, recursos e serviços; ícone de círculo com símbolo de acessibilidade dentro; do círculo saem diversos fios que levam a círculos menores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26" y="802257"/>
            <a:ext cx="6866796" cy="602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43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da educação digital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A Educação Digital irá preparar você para o uso adequado e eficiente das ferramentas digitais, levá-lo a práticas digitais responsáveis e desenvolver seu olhar crítico sobre as informações que circulam no ambiente digital.</a:t>
            </a:r>
          </a:p>
        </p:txBody>
      </p:sp>
    </p:spTree>
    <p:extLst>
      <p:ext uri="{BB962C8B-B14F-4D97-AF65-F5344CB8AC3E}">
        <p14:creationId xmlns:p14="http://schemas.microsoft.com/office/powerpoint/2010/main" val="186092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91109" y="718868"/>
            <a:ext cx="9166854" cy="6018362"/>
          </a:xfrm>
        </p:spPr>
        <p:txBody>
          <a:bodyPr>
            <a:noAutofit/>
          </a:bodyPr>
          <a:lstStyle/>
          <a:p>
            <a:pPr algn="just"/>
            <a:r>
              <a:rPr lang="pt-BR" sz="2200" b="1" dirty="0" smtClean="0"/>
              <a:t>5.</a:t>
            </a:r>
            <a:r>
              <a:rPr lang="pt-BR" sz="2200" dirty="0" smtClean="0"/>
              <a:t>Sobre </a:t>
            </a:r>
            <a:r>
              <a:rPr lang="pt-BR" sz="2200" dirty="0"/>
              <a:t>a presença dos recursos digitais em nosso cotidiano, identifique a afirmação correta.</a:t>
            </a:r>
          </a:p>
          <a:p>
            <a:pPr marL="0" indent="0" algn="just">
              <a:buNone/>
            </a:pPr>
            <a:r>
              <a:rPr lang="pt-BR" sz="2200" dirty="0" smtClean="0"/>
              <a:t>a) Há </a:t>
            </a:r>
            <a:r>
              <a:rPr lang="pt-BR" sz="2200" dirty="0"/>
              <a:t>nos recursos digitais uma grande barreira a ser vencida para vir a ser aceito na sociedade, motivo pelo qual ainda não está presente no cotidiano dos </a:t>
            </a:r>
            <a:r>
              <a:rPr lang="pt-BR" sz="2200" dirty="0" smtClean="0"/>
              <a:t>brasileiros.</a:t>
            </a:r>
          </a:p>
          <a:p>
            <a:pPr marL="0" indent="0" algn="just">
              <a:buNone/>
            </a:pPr>
            <a:r>
              <a:rPr lang="pt-BR" sz="2200" dirty="0" smtClean="0"/>
              <a:t>b) Ao pensarmos na nossa realidade contemporânea, identificamos que os brasileiros têm acesso igualitário a ferramentas digitais. Só falta aprender a usá-las bem.</a:t>
            </a:r>
          </a:p>
          <a:p>
            <a:pPr marL="0" indent="0" algn="just">
              <a:buNone/>
            </a:pPr>
            <a:r>
              <a:rPr lang="pt-BR" sz="2200" dirty="0" smtClean="0"/>
              <a:t>c) Ferramentas </a:t>
            </a:r>
            <a:r>
              <a:rPr lang="pt-BR" sz="2200" dirty="0"/>
              <a:t>e práticas digitais estão presentes nas mais diversas áreas no nosso dia a dia, ainda que o acesso ao digital não seja socialmente </a:t>
            </a:r>
            <a:r>
              <a:rPr lang="pt-BR" sz="2200" dirty="0" smtClean="0"/>
              <a:t>igualitário.</a:t>
            </a:r>
          </a:p>
          <a:p>
            <a:pPr marL="0" indent="0" algn="just">
              <a:buNone/>
            </a:pPr>
            <a:r>
              <a:rPr lang="pt-BR" sz="2200" dirty="0" smtClean="0"/>
              <a:t>d) Diariamente </a:t>
            </a:r>
            <a:r>
              <a:rPr lang="pt-BR" sz="2200" dirty="0"/>
              <a:t>podemos identificar a presença dos recursos digitais de forma isolada das nossas ações cotidianas, tanto que é facilmente possível pensar em uma vida sem ferramentas ou práticas digitais.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0818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23691" y="994912"/>
            <a:ext cx="9192732" cy="5474899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400" b="1" dirty="0" smtClean="0"/>
              <a:t>6. </a:t>
            </a:r>
            <a:r>
              <a:rPr lang="pt-BR" sz="2400" dirty="0" smtClean="0"/>
              <a:t>Identifique </a:t>
            </a:r>
            <a:r>
              <a:rPr lang="pt-BR" sz="2400" dirty="0"/>
              <a:t>como verdadeiras ou falsas as afirmações a seguir, sobre a Educação Digital.</a:t>
            </a:r>
          </a:p>
          <a:p>
            <a:pPr algn="just">
              <a:buAutoNum type="alphaLcParenR"/>
            </a:pPr>
            <a:r>
              <a:rPr lang="pt-BR" sz="2400" dirty="0" smtClean="0"/>
              <a:t>Entre </a:t>
            </a:r>
            <a:r>
              <a:rPr lang="pt-BR" sz="2400" dirty="0"/>
              <a:t>as propostas de estudo da Educação Digital está a análise das redes sociais e do comportamento dos usuários dessas redes</a:t>
            </a:r>
            <a:r>
              <a:rPr lang="pt-BR" sz="2400" dirty="0" smtClean="0"/>
              <a:t>.</a:t>
            </a:r>
          </a:p>
          <a:p>
            <a:pPr marL="0" indent="0" algn="just">
              <a:buNone/>
            </a:pPr>
            <a:r>
              <a:rPr lang="pt-BR" sz="2400" dirty="0" smtClean="0"/>
              <a:t>b) O </a:t>
            </a:r>
            <a:r>
              <a:rPr lang="pt-BR" sz="2400" dirty="0"/>
              <a:t>objetivo central da Educação Digital no Ensino Médio é formar profissionais capazes de desenvolver programas de computação complexos.</a:t>
            </a:r>
          </a:p>
          <a:p>
            <a:pPr marL="0" indent="0" algn="just">
              <a:buNone/>
            </a:pPr>
            <a:r>
              <a:rPr lang="pt-BR" sz="2400" dirty="0" smtClean="0"/>
              <a:t>c) Na </a:t>
            </a:r>
            <a:r>
              <a:rPr lang="pt-BR" sz="2400" dirty="0"/>
              <a:t>Educação Digital podem ser abordados os artefatos digitais, sejam eles físicos, sejam virtuais.</a:t>
            </a:r>
          </a:p>
          <a:p>
            <a:pPr marL="0" indent="0" algn="just">
              <a:buNone/>
            </a:pPr>
            <a:r>
              <a:rPr lang="pt-BR" sz="2400" dirty="0" smtClean="0"/>
              <a:t>d) A </a:t>
            </a:r>
            <a:r>
              <a:rPr lang="pt-BR" sz="2400" dirty="0"/>
              <a:t>Educação Digital dialoga com a realidade atual, na qual ferramentas e práticas digitais fazem parte de nosso cotidiano.</a:t>
            </a:r>
          </a:p>
          <a:p>
            <a:pPr marL="0" indent="0" algn="just">
              <a:buNone/>
            </a:pPr>
            <a:r>
              <a:rPr lang="pt-BR" sz="2400" dirty="0" smtClean="0"/>
              <a:t>e) A </a:t>
            </a:r>
            <a:r>
              <a:rPr lang="pt-BR" sz="2400" dirty="0"/>
              <a:t>Educação Digital não propõe a análise crítica de práticas digitais ou de comportamentos relacionados à segurança digital.</a:t>
            </a:r>
          </a:p>
          <a:p>
            <a:pPr>
              <a:buAutoNum type="alphaLcParenR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052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98034" y="227295"/>
            <a:ext cx="8911687" cy="1280890"/>
          </a:xfrm>
        </p:spPr>
        <p:txBody>
          <a:bodyPr/>
          <a:lstStyle/>
          <a:p>
            <a:r>
              <a:rPr lang="pt-BR" dirty="0" smtClean="0"/>
              <a:t>Competências Digitais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7978" y="793386"/>
            <a:ext cx="6780362" cy="606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545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68414" y="750497"/>
            <a:ext cx="9540815" cy="5676182"/>
          </a:xfrm>
        </p:spPr>
        <p:txBody>
          <a:bodyPr/>
          <a:lstStyle/>
          <a:p>
            <a:pPr algn="just"/>
            <a:r>
              <a:rPr lang="pt-BR" sz="2200" b="1" dirty="0"/>
              <a:t>7</a:t>
            </a:r>
            <a:r>
              <a:rPr lang="pt-BR" sz="2200" b="1" dirty="0" smtClean="0"/>
              <a:t>. </a:t>
            </a:r>
            <a:r>
              <a:rPr lang="pt-BR" sz="2200" dirty="0" smtClean="0"/>
              <a:t>Qual </a:t>
            </a:r>
            <a:r>
              <a:rPr lang="pt-BR" sz="2200" dirty="0"/>
              <a:t>é a alternativa que melhor descreve as competências digitais?</a:t>
            </a:r>
          </a:p>
          <a:p>
            <a:pPr marL="0" indent="0" algn="just">
              <a:buNone/>
            </a:pPr>
            <a:r>
              <a:rPr lang="pt-BR" sz="2200" dirty="0" smtClean="0"/>
              <a:t>a) Competências </a:t>
            </a:r>
            <a:r>
              <a:rPr lang="pt-BR" sz="2200" dirty="0"/>
              <a:t>digitais é a capacidade que uma pessoa tem de usar as ferramentas digitais com eficiência.</a:t>
            </a:r>
          </a:p>
          <a:p>
            <a:pPr marL="0" indent="0" algn="just">
              <a:buNone/>
            </a:pPr>
            <a:r>
              <a:rPr lang="pt-BR" sz="2200" dirty="0" smtClean="0"/>
              <a:t>b) Competências </a:t>
            </a:r>
            <a:r>
              <a:rPr lang="pt-BR" sz="2200" dirty="0"/>
              <a:t>digitais é o conjunto de habilidades, conhecimentos e atitudes que nos possibilita usar criticamente, criar e analisar ferramentas e práticas digitais, além de refletir sobre </a:t>
            </a:r>
            <a:r>
              <a:rPr lang="pt-BR" sz="2200" dirty="0" smtClean="0"/>
              <a:t>elas.</a:t>
            </a:r>
          </a:p>
          <a:p>
            <a:pPr marL="0" indent="0" algn="just">
              <a:buNone/>
            </a:pPr>
            <a:r>
              <a:rPr lang="pt-BR" sz="2200" dirty="0" smtClean="0"/>
              <a:t>c) Competências </a:t>
            </a:r>
            <a:r>
              <a:rPr lang="pt-BR" sz="2200" dirty="0"/>
              <a:t>digitais são saberes e valores relacionados ao que fazemos no tempo em que passamos </a:t>
            </a:r>
            <a:r>
              <a:rPr lang="pt-BR" sz="2200" dirty="0" smtClean="0"/>
              <a:t>conectados.</a:t>
            </a:r>
          </a:p>
          <a:p>
            <a:pPr marL="0" indent="0" algn="just">
              <a:buNone/>
            </a:pPr>
            <a:r>
              <a:rPr lang="pt-BR" sz="2200" dirty="0" smtClean="0"/>
              <a:t>d) Competências </a:t>
            </a:r>
            <a:r>
              <a:rPr lang="pt-BR" sz="2200" dirty="0"/>
              <a:t>digitais é um conjunto de habilidades técnicas e comportamentais para uso eficiente dos recursos digitais.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830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23691" y="848264"/>
            <a:ext cx="9322128" cy="529374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 smtClean="0"/>
              <a:t>8 .</a:t>
            </a:r>
            <a:r>
              <a:rPr lang="pt-BR" sz="2200" dirty="0" smtClean="0"/>
              <a:t>Identifique </a:t>
            </a:r>
            <a:r>
              <a:rPr lang="pt-BR" sz="2200" dirty="0"/>
              <a:t>a alternativa que apresenta habilidades que não são necessariamente digitais.</a:t>
            </a:r>
          </a:p>
          <a:p>
            <a:pPr algn="just">
              <a:buAutoNum type="alphaLcParenR"/>
            </a:pPr>
            <a:r>
              <a:rPr lang="pt-BR" sz="2200" dirty="0" smtClean="0"/>
              <a:t>Proteger </a:t>
            </a:r>
            <a:r>
              <a:rPr lang="pt-BR" sz="2200" dirty="0"/>
              <a:t>dispositivos, navegar pela internet, desenvolver pesquisas</a:t>
            </a:r>
            <a:r>
              <a:rPr lang="pt-BR" sz="2200" i="1" dirty="0"/>
              <a:t> on-line</a:t>
            </a:r>
            <a:r>
              <a:rPr lang="pt-BR" sz="2200" dirty="0"/>
              <a:t>, exercer sua cidadania </a:t>
            </a:r>
            <a:r>
              <a:rPr lang="pt-BR" sz="2200" dirty="0" smtClean="0"/>
              <a:t>digital.</a:t>
            </a:r>
          </a:p>
          <a:p>
            <a:pPr algn="just">
              <a:buAutoNum type="alphaLcParenR"/>
            </a:pPr>
            <a:r>
              <a:rPr lang="pt-BR" sz="2200" dirty="0" smtClean="0"/>
              <a:t>Solucionar </a:t>
            </a:r>
            <a:r>
              <a:rPr lang="pt-BR" sz="2200" dirty="0"/>
              <a:t>problemas técnicos, programar, criar vídeo para uma rede social, mandar mensagens por aplicativo de conversa.</a:t>
            </a:r>
          </a:p>
          <a:p>
            <a:pPr marL="0" indent="0" algn="just">
              <a:buNone/>
            </a:pPr>
            <a:r>
              <a:rPr lang="pt-BR" sz="2200" dirty="0" smtClean="0"/>
              <a:t>c) Analisar </a:t>
            </a:r>
            <a:r>
              <a:rPr lang="pt-BR" sz="2200" dirty="0"/>
              <a:t>dados, avaliar a confiabilidade de informações digitais, agir de maneira ética </a:t>
            </a:r>
            <a:r>
              <a:rPr lang="pt-BR" sz="2200" i="1" dirty="0"/>
              <a:t>on-line</a:t>
            </a:r>
            <a:r>
              <a:rPr lang="pt-BR" sz="2200" dirty="0"/>
              <a:t>.</a:t>
            </a:r>
          </a:p>
          <a:p>
            <a:pPr marL="0" indent="0" algn="just">
              <a:buNone/>
            </a:pPr>
            <a:r>
              <a:rPr lang="pt-BR" sz="2200" dirty="0" smtClean="0"/>
              <a:t>d) Respeitar </a:t>
            </a:r>
            <a:r>
              <a:rPr lang="pt-BR" sz="2200" dirty="0"/>
              <a:t>os direitos autorais, exercitar a leitura e a escrita, criar textos em diferentes formatos.</a:t>
            </a:r>
          </a:p>
        </p:txBody>
      </p:sp>
    </p:spTree>
    <p:extLst>
      <p:ext uri="{BB962C8B-B14F-4D97-AF65-F5344CB8AC3E}">
        <p14:creationId xmlns:p14="http://schemas.microsoft.com/office/powerpoint/2010/main" val="1730289198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245</TotalTime>
  <Words>556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Cacho</vt:lpstr>
      <vt:lpstr>Educação Digital </vt:lpstr>
      <vt:lpstr>Mapa da conectividade significativa no Brasil</vt:lpstr>
      <vt:lpstr>Desigualdade Digital </vt:lpstr>
      <vt:lpstr>Desigualdade social e digital</vt:lpstr>
      <vt:lpstr>Pilares da educação digital </vt:lpstr>
      <vt:lpstr>Objetivo da educação digital</vt:lpstr>
      <vt:lpstr>Apresentação do PowerPoint</vt:lpstr>
      <vt:lpstr>Apresentação do PowerPoint</vt:lpstr>
      <vt:lpstr>Competências Digitais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Educação Digital</dc:title>
  <dc:creator>Jeffrey24</dc:creator>
  <cp:lastModifiedBy>Jeffrey24</cp:lastModifiedBy>
  <cp:revision>7</cp:revision>
  <dcterms:created xsi:type="dcterms:W3CDTF">2026-02-08T17:14:24Z</dcterms:created>
  <dcterms:modified xsi:type="dcterms:W3CDTF">2026-02-10T18:26:27Z</dcterms:modified>
</cp:coreProperties>
</file>